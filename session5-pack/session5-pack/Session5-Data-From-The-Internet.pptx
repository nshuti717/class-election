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12800" y="1460500"/>
            <a:ext cx="4445000" cy="406400"/>
          </a:xfrm>
          <a:prstGeom prst="roundRect">
            <a:avLst>
              <a:gd name="adj" fmla="val 49500"/>
            </a:avLst>
          </a:prstGeom>
          <a:solidFill>
            <a:srgbClr val="54C5F8">
              <a:alpha val="12000"/>
            </a:srgbClr>
          </a:solidFill>
          <a:ln w="19050">
            <a:solidFill>
              <a:srgbClr val="54C5F8">
                <a:alpha val="50000"/>
              </a:srgbClr>
            </a:solidFill>
            <a:prstDash val="solid"/>
          </a:ln>
        </p:spPr>
      </p:sp>
      <p:sp>
        <p:nvSpPr>
          <p:cNvPr id="3" name="Text 1"/>
          <p:cNvSpPr txBox="1"/>
          <p:nvPr/>
        </p:nvSpPr>
        <p:spPr>
          <a:xfrm>
            <a:off x="812800" y="1460500"/>
            <a:ext cx="4445000" cy="406400"/>
          </a:xfrm>
          <a:prstGeom prst="rect">
            <a:avLst/>
          </a:prstGeom>
          <a:noFill/>
          <a:ln/>
        </p:spPr>
        <p:txBody>
          <a:bodyPr wrap="square" lIns="0" tIns="0" rIns="0" bIns="0" rtlCol="0" anchor="ctr"/>
          <a:lstStyle/>
          <a:p>
            <a:pPr algn="ctr" indent="0" marL="0">
              <a:buNone/>
            </a:pPr>
            <a:r>
              <a:rPr lang="en-US" sz="1200" b="1" spc="400" kern="0" dirty="0">
                <a:solidFill>
                  <a:srgbClr val="54C5F8"/>
                </a:solidFill>
                <a:latin typeface="Arial" pitchFamily="34" charset="0"/>
                <a:ea typeface="Arial" pitchFamily="34" charset="-122"/>
                <a:cs typeface="Arial" pitchFamily="34" charset="-120"/>
              </a:rPr>
              <a:t>INNOVATION CENTER · SESSION 5</a:t>
            </a:r>
            <a:endParaRPr lang="en-US" sz="1200" dirty="0"/>
          </a:p>
        </p:txBody>
      </p:sp>
      <p:sp>
        <p:nvSpPr>
          <p:cNvPr id="4" name="Text 2"/>
          <p:cNvSpPr txBox="1"/>
          <p:nvPr/>
        </p:nvSpPr>
        <p:spPr>
          <a:xfrm>
            <a:off x="812800" y="2095500"/>
            <a:ext cx="6667500" cy="952500"/>
          </a:xfrm>
          <a:prstGeom prst="rect">
            <a:avLst/>
          </a:prstGeom>
          <a:noFill/>
          <a:ln/>
        </p:spPr>
        <p:txBody>
          <a:bodyPr wrap="square" lIns="0" tIns="0" rIns="0" bIns="0" rtlCol="0" anchor="t"/>
          <a:lstStyle/>
          <a:p>
            <a:pPr indent="0" marL="0">
              <a:buNone/>
            </a:pPr>
            <a:r>
              <a:rPr lang="en-US" sz="6000" b="1" dirty="0">
                <a:solidFill>
                  <a:srgbClr val="F4F7FB"/>
                </a:solidFill>
                <a:latin typeface="Arial" pitchFamily="34" charset="0"/>
                <a:ea typeface="Arial" pitchFamily="34" charset="-122"/>
                <a:cs typeface="Arial" pitchFamily="34" charset="-120"/>
              </a:rPr>
              <a:t>Apps that talk</a:t>
            </a:r>
            <a:endParaRPr lang="en-US" sz="6000" dirty="0"/>
          </a:p>
        </p:txBody>
      </p:sp>
      <p:sp>
        <p:nvSpPr>
          <p:cNvPr id="5" name="Text 3"/>
          <p:cNvSpPr txBox="1"/>
          <p:nvPr/>
        </p:nvSpPr>
        <p:spPr>
          <a:xfrm>
            <a:off x="812800" y="3060700"/>
            <a:ext cx="6667500" cy="571500"/>
          </a:xfrm>
          <a:prstGeom prst="rect">
            <a:avLst/>
          </a:prstGeom>
          <a:noFill/>
          <a:ln/>
        </p:spPr>
        <p:txBody>
          <a:bodyPr wrap="square" lIns="0" tIns="0" rIns="0" bIns="0" rtlCol="0" anchor="t"/>
          <a:lstStyle/>
          <a:p>
            <a:pPr indent="0" marL="0">
              <a:buNone/>
            </a:pPr>
            <a:r>
              <a:rPr lang="en-US" sz="3200" b="1" dirty="0">
                <a:solidFill>
                  <a:srgbClr val="54C5F8"/>
                </a:solidFill>
                <a:latin typeface="Arial" pitchFamily="34" charset="0"/>
                <a:ea typeface="Arial" pitchFamily="34" charset="-122"/>
                <a:cs typeface="Arial" pitchFamily="34" charset="-120"/>
              </a:rPr>
              <a:t>Data from the internet</a:t>
            </a:r>
            <a:endParaRPr lang="en-US" sz="3200" dirty="0"/>
          </a:p>
        </p:txBody>
      </p:sp>
      <p:sp>
        <p:nvSpPr>
          <p:cNvPr id="6" name="Text 4"/>
          <p:cNvSpPr txBox="1"/>
          <p:nvPr/>
        </p:nvSpPr>
        <p:spPr>
          <a:xfrm>
            <a:off x="812800" y="3873500"/>
            <a:ext cx="6096000" cy="1016000"/>
          </a:xfrm>
          <a:prstGeom prst="rect">
            <a:avLst/>
          </a:prstGeom>
          <a:noFill/>
          <a:ln/>
        </p:spPr>
        <p:txBody>
          <a:bodyPr wrap="square" lIns="0" tIns="0" rIns="0" bIns="0" rtlCol="0" anchor="t"/>
          <a:lstStyle/>
          <a:p>
            <a:pPr indent="0" marL="0">
              <a:lnSpc>
                <a:spcPct val="120000"/>
              </a:lnSpc>
              <a:buNone/>
            </a:pPr>
            <a:r>
              <a:rPr lang="en-US" sz="1700" dirty="0">
                <a:solidFill>
                  <a:srgbClr val="B8C4D9"/>
                </a:solidFill>
                <a:latin typeface="Arial" pitchFamily="34" charset="0"/>
                <a:ea typeface="Arial" pitchFamily="34" charset="-122"/>
                <a:cs typeface="Arial" pitchFamily="34" charset="-120"/>
              </a:rPr>
              <a:t>Your apps only knew what you typed into the code. Tonight one asks a real server, waits without freezing, survives having no internet, and remembers.</a:t>
            </a:r>
            <a:endParaRPr lang="en-US" sz="1700" dirty="0"/>
          </a:p>
        </p:txBody>
      </p:sp>
      <p:sp>
        <p:nvSpPr>
          <p:cNvPr id="7" name="Shape 5"/>
          <p:cNvSpPr/>
          <p:nvPr/>
        </p:nvSpPr>
        <p:spPr>
          <a:xfrm>
            <a:off x="812800" y="5397500"/>
            <a:ext cx="1460500" cy="381000"/>
          </a:xfrm>
          <a:prstGeom prst="roundRect">
            <a:avLst>
              <a:gd name="adj" fmla="val 50400"/>
            </a:avLst>
          </a:prstGeom>
          <a:solidFill>
            <a:srgbClr val="0468D7"/>
          </a:solidFill>
          <a:ln w="12700">
            <a:solidFill>
              <a:srgbClr val="0468D7"/>
            </a:solidFill>
            <a:prstDash val="solid"/>
          </a:ln>
        </p:spPr>
      </p:sp>
      <p:sp>
        <p:nvSpPr>
          <p:cNvPr id="8" name="Text 6"/>
          <p:cNvSpPr txBox="1"/>
          <p:nvPr/>
        </p:nvSpPr>
        <p:spPr>
          <a:xfrm>
            <a:off x="812800" y="5397500"/>
            <a:ext cx="1460500" cy="381000"/>
          </a:xfrm>
          <a:prstGeom prst="rect">
            <a:avLst/>
          </a:prstGeom>
          <a:noFill/>
          <a:ln/>
        </p:spPr>
        <p:txBody>
          <a:bodyPr wrap="square" lIns="0" tIns="0" rIns="0" bIns="0" rtlCol="0" anchor="ctr"/>
          <a:lstStyle/>
          <a:p>
            <a:pPr algn="ctr" indent="0" marL="0">
              <a:buNone/>
            </a:pPr>
            <a:r>
              <a:rPr lang="en-US" sz="1300" b="1" dirty="0">
                <a:solidFill>
                  <a:srgbClr val="F4F7FB"/>
                </a:solidFill>
                <a:latin typeface="Arial" pitchFamily="34" charset="0"/>
                <a:ea typeface="Arial" pitchFamily="34" charset="-122"/>
                <a:cs typeface="Arial" pitchFamily="34" charset="-120"/>
              </a:rPr>
              <a:t>async · await</a:t>
            </a:r>
            <a:endParaRPr lang="en-US" sz="1300" dirty="0"/>
          </a:p>
        </p:txBody>
      </p:sp>
      <p:sp>
        <p:nvSpPr>
          <p:cNvPr id="9" name="Shape 7"/>
          <p:cNvSpPr/>
          <p:nvPr/>
        </p:nvSpPr>
        <p:spPr>
          <a:xfrm>
            <a:off x="2400300" y="5397500"/>
            <a:ext cx="1460500" cy="381000"/>
          </a:xfrm>
          <a:prstGeom prst="roundRect">
            <a:avLst>
              <a:gd name="adj" fmla="val 50400"/>
            </a:avLst>
          </a:prstGeom>
          <a:solidFill>
            <a:srgbClr val="1B2340"/>
          </a:solidFill>
          <a:ln w="12700">
            <a:solidFill>
              <a:srgbClr val="2E3A5C"/>
            </a:solidFill>
            <a:prstDash val="solid"/>
          </a:ln>
        </p:spPr>
      </p:sp>
      <p:sp>
        <p:nvSpPr>
          <p:cNvPr id="10" name="Text 8"/>
          <p:cNvSpPr txBox="1"/>
          <p:nvPr/>
        </p:nvSpPr>
        <p:spPr>
          <a:xfrm>
            <a:off x="2400300" y="5397500"/>
            <a:ext cx="1460500" cy="381000"/>
          </a:xfrm>
          <a:prstGeom prst="rect">
            <a:avLst/>
          </a:prstGeom>
          <a:noFill/>
          <a:ln/>
        </p:spPr>
        <p:txBody>
          <a:bodyPr wrap="square" lIns="0" tIns="0" rIns="0" bIns="0" rtlCol="0" anchor="ctr"/>
          <a:lstStyle/>
          <a:p>
            <a:pPr algn="ctr" indent="0" marL="0">
              <a:buNone/>
            </a:pPr>
            <a:r>
              <a:rPr lang="en-US" sz="1300" b="1" dirty="0">
                <a:solidFill>
                  <a:srgbClr val="F4F7FB"/>
                </a:solidFill>
                <a:latin typeface="Arial" pitchFamily="34" charset="0"/>
                <a:ea typeface="Arial" pitchFamily="34" charset="-122"/>
                <a:cs typeface="Arial" pitchFamily="34" charset="-120"/>
              </a:rPr>
              <a:t>APIs · JSON</a:t>
            </a:r>
            <a:endParaRPr lang="en-US" sz="1300" dirty="0"/>
          </a:p>
        </p:txBody>
      </p:sp>
      <p:sp>
        <p:nvSpPr>
          <p:cNvPr id="11" name="Shape 9"/>
          <p:cNvSpPr/>
          <p:nvPr/>
        </p:nvSpPr>
        <p:spPr>
          <a:xfrm>
            <a:off x="3987800" y="5397500"/>
            <a:ext cx="1143000" cy="381000"/>
          </a:xfrm>
          <a:prstGeom prst="roundRect">
            <a:avLst>
              <a:gd name="adj" fmla="val 50400"/>
            </a:avLst>
          </a:prstGeom>
          <a:solidFill>
            <a:srgbClr val="1B2340"/>
          </a:solidFill>
          <a:ln w="12700">
            <a:solidFill>
              <a:srgbClr val="2E3A5C"/>
            </a:solidFill>
            <a:prstDash val="solid"/>
          </a:ln>
        </p:spPr>
      </p:sp>
      <p:sp>
        <p:nvSpPr>
          <p:cNvPr id="12" name="Text 10"/>
          <p:cNvSpPr txBox="1"/>
          <p:nvPr/>
        </p:nvSpPr>
        <p:spPr>
          <a:xfrm>
            <a:off x="3987800" y="5397500"/>
            <a:ext cx="1143000" cy="381000"/>
          </a:xfrm>
          <a:prstGeom prst="rect">
            <a:avLst/>
          </a:prstGeom>
          <a:noFill/>
          <a:ln/>
        </p:spPr>
        <p:txBody>
          <a:bodyPr wrap="square" lIns="0" tIns="0" rIns="0" bIns="0" rtlCol="0" anchor="ctr"/>
          <a:lstStyle/>
          <a:p>
            <a:pPr algn="ctr" indent="0" marL="0">
              <a:buNone/>
            </a:pPr>
            <a:r>
              <a:rPr lang="en-US" sz="1300" b="1" dirty="0">
                <a:solidFill>
                  <a:srgbClr val="F4F7FB"/>
                </a:solidFill>
                <a:latin typeface="Arial" pitchFamily="34" charset="0"/>
                <a:ea typeface="Arial" pitchFamily="34" charset="-122"/>
                <a:cs typeface="Arial" pitchFamily="34" charset="-120"/>
              </a:rPr>
              <a:t>Saving</a:t>
            </a:r>
            <a:endParaRPr lang="en-US" sz="1300" dirty="0"/>
          </a:p>
        </p:txBody>
      </p:sp>
      <p:sp>
        <p:nvSpPr>
          <p:cNvPr id="13" name="Shape 11"/>
          <p:cNvSpPr/>
          <p:nvPr/>
        </p:nvSpPr>
        <p:spPr>
          <a:xfrm>
            <a:off x="8382000" y="1016000"/>
            <a:ext cx="2667000" cy="4826000"/>
          </a:xfrm>
          <a:prstGeom prst="roundRect">
            <a:avLst>
              <a:gd name="adj" fmla="val 14400"/>
            </a:avLst>
          </a:prstGeom>
          <a:solidFill>
            <a:srgbClr val="141A2E"/>
          </a:solidFill>
          <a:ln w="38100">
            <a:solidFill>
              <a:srgbClr val="3A4770"/>
            </a:solidFill>
            <a:prstDash val="solid"/>
          </a:ln>
          <a:effectLst>
            <a:outerShdw sx="100000" sy="100000" kx="0" ky="0" algn="bl" rotWithShape="0" blurRad="279400" dist="101600" dir="5400000">
              <a:srgbClr val="0E1220">
                <a:alpha val="25000"/>
              </a:srgbClr>
            </a:outerShdw>
          </a:effectLst>
        </p:spPr>
      </p:sp>
      <p:sp>
        <p:nvSpPr>
          <p:cNvPr id="14" name="Shape 12"/>
          <p:cNvSpPr/>
          <p:nvPr/>
        </p:nvSpPr>
        <p:spPr>
          <a:xfrm>
            <a:off x="8483600" y="1117600"/>
            <a:ext cx="2463800" cy="4622800"/>
          </a:xfrm>
          <a:prstGeom prst="roundRect">
            <a:avLst>
              <a:gd name="adj" fmla="val 12619"/>
            </a:avLst>
          </a:prstGeom>
          <a:solidFill>
            <a:srgbClr val="F4F6FB"/>
          </a:solidFill>
          <a:ln w="12700">
            <a:solidFill>
              <a:srgbClr val="F4F6FB"/>
            </a:solidFill>
            <a:prstDash val="solid"/>
          </a:ln>
        </p:spPr>
      </p:sp>
      <p:sp>
        <p:nvSpPr>
          <p:cNvPr id="15" name="Shape 13"/>
          <p:cNvSpPr/>
          <p:nvPr/>
        </p:nvSpPr>
        <p:spPr>
          <a:xfrm>
            <a:off x="9366250" y="1181100"/>
            <a:ext cx="698500" cy="114300"/>
          </a:xfrm>
          <a:prstGeom prst="roundRect">
            <a:avLst>
              <a:gd name="adj" fmla="val 64000"/>
            </a:avLst>
          </a:prstGeom>
          <a:solidFill>
            <a:srgbClr val="05070D"/>
          </a:solidFill>
          <a:ln w="12700">
            <a:solidFill>
              <a:srgbClr val="05070D"/>
            </a:solidFill>
            <a:prstDash val="solid"/>
          </a:ln>
        </p:spPr>
      </p:sp>
      <p:sp>
        <p:nvSpPr>
          <p:cNvPr id="16" name="Text 14"/>
          <p:cNvSpPr txBox="1"/>
          <p:nvPr/>
        </p:nvSpPr>
        <p:spPr>
          <a:xfrm>
            <a:off x="8648700" y="1498600"/>
            <a:ext cx="2133600" cy="254000"/>
          </a:xfrm>
          <a:prstGeom prst="rect">
            <a:avLst/>
          </a:prstGeom>
          <a:noFill/>
          <a:ln/>
        </p:spPr>
        <p:txBody>
          <a:bodyPr wrap="square" lIns="0" tIns="0" rIns="0" bIns="0" rtlCol="0" anchor="t"/>
          <a:lstStyle/>
          <a:p>
            <a:pPr indent="0" marL="0">
              <a:buNone/>
            </a:pPr>
            <a:r>
              <a:rPr lang="en-US" sz="1200" b="1" dirty="0">
                <a:solidFill>
                  <a:srgbClr val="1D2330"/>
                </a:solidFill>
                <a:latin typeface="Arial" pitchFamily="34" charset="0"/>
                <a:ea typeface="Arial" pitchFamily="34" charset="-122"/>
                <a:cs typeface="Arial" pitchFamily="34" charset="-120"/>
              </a:rPr>
              <a:t>Huye Weather</a:t>
            </a:r>
            <a:endParaRPr lang="en-US" sz="1200" dirty="0"/>
          </a:p>
        </p:txBody>
      </p:sp>
      <p:sp>
        <p:nvSpPr>
          <p:cNvPr id="17" name="Shape 15"/>
          <p:cNvSpPr/>
          <p:nvPr/>
        </p:nvSpPr>
        <p:spPr>
          <a:xfrm>
            <a:off x="8623300" y="1943100"/>
            <a:ext cx="2184400" cy="2095500"/>
          </a:xfrm>
          <a:prstGeom prst="roundRect">
            <a:avLst>
              <a:gd name="adj" fmla="val 7855"/>
            </a:avLst>
          </a:prstGeom>
          <a:solidFill>
            <a:srgbClr val="ECEFF7"/>
          </a:solidFill>
          <a:ln w="12700">
            <a:solidFill>
              <a:srgbClr val="ECEFF7"/>
            </a:solidFill>
            <a:prstDash val="solid"/>
          </a:ln>
        </p:spPr>
      </p:sp>
      <p:pic>
        <p:nvPicPr>
          <p:cNvPr id="18" name="Image 0" descr="preencoded.png">    </p:cNvPr>
          <p:cNvPicPr>
            <a:picLocks noChangeAspect="1"/>
          </p:cNvPicPr>
          <p:nvPr/>
        </p:nvPicPr>
        <p:blipFill>
          <a:blip r:embed="rId2"/>
          <a:stretch>
            <a:fillRect/>
          </a:stretch>
        </p:blipFill>
        <p:spPr>
          <a:xfrm>
            <a:off x="9309100" y="2133600"/>
            <a:ext cx="812800" cy="508000"/>
          </a:xfrm>
          <a:prstGeom prst="rect">
            <a:avLst/>
          </a:prstGeom>
        </p:spPr>
      </p:pic>
      <p:sp>
        <p:nvSpPr>
          <p:cNvPr id="19" name="Text 16"/>
          <p:cNvSpPr txBox="1"/>
          <p:nvPr/>
        </p:nvSpPr>
        <p:spPr>
          <a:xfrm>
            <a:off x="8623300" y="2705100"/>
            <a:ext cx="2184400" cy="571500"/>
          </a:xfrm>
          <a:prstGeom prst="rect">
            <a:avLst/>
          </a:prstGeom>
          <a:noFill/>
          <a:ln/>
        </p:spPr>
        <p:txBody>
          <a:bodyPr wrap="square" lIns="0" tIns="0" rIns="0" bIns="0" rtlCol="0" anchor="t"/>
          <a:lstStyle/>
          <a:p>
            <a:pPr algn="ctr" indent="0" marL="0">
              <a:buNone/>
            </a:pPr>
            <a:r>
              <a:rPr lang="en-US" sz="3000" b="1" dirty="0">
                <a:solidFill>
                  <a:srgbClr val="1D2330"/>
                </a:solidFill>
                <a:latin typeface="Arial" pitchFamily="34" charset="0"/>
                <a:ea typeface="Arial" pitchFamily="34" charset="-122"/>
                <a:cs typeface="Arial" pitchFamily="34" charset="-120"/>
              </a:rPr>
              <a:t>25°C</a:t>
            </a:r>
            <a:endParaRPr lang="en-US" sz="3000" dirty="0"/>
          </a:p>
        </p:txBody>
      </p:sp>
      <p:sp>
        <p:nvSpPr>
          <p:cNvPr id="20" name="Text 17"/>
          <p:cNvSpPr txBox="1"/>
          <p:nvPr/>
        </p:nvSpPr>
        <p:spPr>
          <a:xfrm>
            <a:off x="8623300" y="3276600"/>
            <a:ext cx="2184400" cy="254000"/>
          </a:xfrm>
          <a:prstGeom prst="rect">
            <a:avLst/>
          </a:prstGeom>
          <a:noFill/>
          <a:ln/>
        </p:spPr>
        <p:txBody>
          <a:bodyPr wrap="square" lIns="0" tIns="0" rIns="0" bIns="0" rtlCol="0" anchor="t"/>
          <a:lstStyle/>
          <a:p>
            <a:pPr algn="ctr" indent="0" marL="0">
              <a:buNone/>
            </a:pPr>
            <a:r>
              <a:rPr lang="en-US" sz="1200" dirty="0">
                <a:solidFill>
                  <a:srgbClr val="1D2330"/>
                </a:solidFill>
                <a:latin typeface="Arial" pitchFamily="34" charset="0"/>
                <a:ea typeface="Arial" pitchFamily="34" charset="-122"/>
                <a:cs typeface="Arial" pitchFamily="34" charset="-120"/>
              </a:rPr>
              <a:t>Cloudy</a:t>
            </a:r>
            <a:endParaRPr lang="en-US" sz="1200" dirty="0"/>
          </a:p>
        </p:txBody>
      </p:sp>
      <p:sp>
        <p:nvSpPr>
          <p:cNvPr id="21" name="Text 18"/>
          <p:cNvSpPr txBox="1"/>
          <p:nvPr/>
        </p:nvSpPr>
        <p:spPr>
          <a:xfrm>
            <a:off x="8623300" y="3606800"/>
            <a:ext cx="2184400" cy="190500"/>
          </a:xfrm>
          <a:prstGeom prst="rect">
            <a:avLst/>
          </a:prstGeom>
          <a:noFill/>
          <a:ln/>
        </p:spPr>
        <p:txBody>
          <a:bodyPr wrap="square" lIns="0" tIns="0" rIns="0" bIns="0" rtlCol="0" anchor="t"/>
          <a:lstStyle/>
          <a:p>
            <a:pPr algn="ctr" indent="0" marL="0">
              <a:buNone/>
            </a:pPr>
            <a:r>
              <a:rPr lang="en-US" sz="800" dirty="0">
                <a:solidFill>
                  <a:srgbClr val="4A5568"/>
                </a:solidFill>
                <a:latin typeface="Arial" pitchFamily="34" charset="0"/>
                <a:ea typeface="Arial" pitchFamily="34" charset="-122"/>
                <a:cs typeface="Arial" pitchFamily="34" charset="-120"/>
              </a:rPr>
              <a:t>Humidity 51%   ·   Wind 11 km/h</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0468D7"/>
                </a:solidFill>
                <a:latin typeface="Arial" pitchFamily="34" charset="0"/>
                <a:ea typeface="Arial" pitchFamily="34" charset="-122"/>
                <a:cs typeface="Arial" pitchFamily="34" charset="-120"/>
              </a:rPr>
              <a:t>HOW REAL APPS WORK</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600" b="1" dirty="0">
                <a:solidFill>
                  <a:srgbClr val="0E1220"/>
                </a:solidFill>
                <a:latin typeface="Arial" pitchFamily="34" charset="0"/>
                <a:ea typeface="Arial" pitchFamily="34" charset="-122"/>
                <a:cs typeface="Arial" pitchFamily="34" charset="-120"/>
              </a:rPr>
              <a:t>Every app you love asks a server</a:t>
            </a:r>
            <a:endParaRPr lang="en-US" sz="3600" dirty="0"/>
          </a:p>
        </p:txBody>
      </p:sp>
      <p:sp>
        <p:nvSpPr>
          <p:cNvPr id="4" name="Shape 2"/>
          <p:cNvSpPr/>
          <p:nvPr/>
        </p:nvSpPr>
        <p:spPr>
          <a:xfrm>
            <a:off x="812800" y="1905000"/>
            <a:ext cx="2508250" cy="1905000"/>
          </a:xfrm>
          <a:prstGeom prst="roundRect">
            <a:avLst>
              <a:gd name="adj" fmla="val 8640"/>
            </a:avLst>
          </a:prstGeom>
          <a:solidFill>
            <a:srgbClr val="FFFFFF"/>
          </a:solidFill>
          <a:ln w="12700">
            <a:solidFill>
              <a:srgbClr val="E1E7F0"/>
            </a:solidFill>
            <a:prstDash val="solid"/>
          </a:ln>
        </p:spPr>
      </p:sp>
      <p:pic>
        <p:nvPicPr>
          <p:cNvPr id="5" name="Image 0" descr="preencoded.png">    </p:cNvPr>
          <p:cNvPicPr>
            <a:picLocks noChangeAspect="1"/>
          </p:cNvPicPr>
          <p:nvPr/>
        </p:nvPicPr>
        <p:blipFill>
          <a:blip r:embed="rId1"/>
          <a:stretch>
            <a:fillRect/>
          </a:stretch>
        </p:blipFill>
        <p:spPr>
          <a:xfrm>
            <a:off x="1016000" y="2108200"/>
            <a:ext cx="533400" cy="533400"/>
          </a:xfrm>
          <a:prstGeom prst="rect">
            <a:avLst/>
          </a:prstGeom>
        </p:spPr>
      </p:pic>
      <p:sp>
        <p:nvSpPr>
          <p:cNvPr id="6" name="Text 3"/>
          <p:cNvSpPr txBox="1"/>
          <p:nvPr/>
        </p:nvSpPr>
        <p:spPr>
          <a:xfrm>
            <a:off x="1016000" y="2794000"/>
            <a:ext cx="2095500" cy="292100"/>
          </a:xfrm>
          <a:prstGeom prst="rect">
            <a:avLst/>
          </a:prstGeom>
          <a:noFill/>
          <a:ln/>
        </p:spPr>
        <p:txBody>
          <a:bodyPr wrap="square" lIns="0" tIns="0" rIns="0" bIns="0" rtlCol="0" anchor="t"/>
          <a:lstStyle/>
          <a:p>
            <a:pPr indent="0" marL="0">
              <a:buNone/>
            </a:pPr>
            <a:r>
              <a:rPr lang="en-US" sz="1600" b="1" dirty="0">
                <a:solidFill>
                  <a:srgbClr val="0E1220"/>
                </a:solidFill>
                <a:latin typeface="Arial" pitchFamily="34" charset="0"/>
                <a:ea typeface="Arial" pitchFamily="34" charset="-122"/>
                <a:cs typeface="Arial" pitchFamily="34" charset="-120"/>
              </a:rPr>
              <a:t>WhatsApp</a:t>
            </a:r>
            <a:endParaRPr lang="en-US" sz="1600" dirty="0"/>
          </a:p>
        </p:txBody>
      </p:sp>
      <p:sp>
        <p:nvSpPr>
          <p:cNvPr id="7" name="Text 4"/>
          <p:cNvSpPr txBox="1"/>
          <p:nvPr/>
        </p:nvSpPr>
        <p:spPr>
          <a:xfrm>
            <a:off x="1016000" y="3124200"/>
            <a:ext cx="2095500" cy="508000"/>
          </a:xfrm>
          <a:prstGeom prst="rect">
            <a:avLst/>
          </a:prstGeom>
          <a:noFill/>
          <a:ln/>
        </p:spPr>
        <p:txBody>
          <a:bodyPr wrap="square" lIns="0" tIns="0" rIns="0" bIns="0" rtlCol="0" anchor="t"/>
          <a:lstStyle/>
          <a:p>
            <a:pPr indent="0" marL="0">
              <a:buNone/>
            </a:pPr>
            <a:r>
              <a:rPr lang="en-US" sz="1250" dirty="0">
                <a:solidFill>
                  <a:srgbClr val="4A5568"/>
                </a:solidFill>
                <a:latin typeface="Arial" pitchFamily="34" charset="0"/>
                <a:ea typeface="Arial" pitchFamily="34" charset="-122"/>
                <a:cs typeface="Arial" pitchFamily="34" charset="-120"/>
              </a:rPr>
              <a:t>New messages come from a server</a:t>
            </a:r>
            <a:endParaRPr lang="en-US" sz="1250" dirty="0"/>
          </a:p>
        </p:txBody>
      </p:sp>
      <p:sp>
        <p:nvSpPr>
          <p:cNvPr id="8" name="Shape 5"/>
          <p:cNvSpPr/>
          <p:nvPr/>
        </p:nvSpPr>
        <p:spPr>
          <a:xfrm>
            <a:off x="3498850" y="1905000"/>
            <a:ext cx="2508250" cy="1905000"/>
          </a:xfrm>
          <a:prstGeom prst="roundRect">
            <a:avLst>
              <a:gd name="adj" fmla="val 8640"/>
            </a:avLst>
          </a:prstGeom>
          <a:solidFill>
            <a:srgbClr val="FFFFFF"/>
          </a:solidFill>
          <a:ln w="12700">
            <a:solidFill>
              <a:srgbClr val="E1E7F0"/>
            </a:solidFill>
            <a:prstDash val="solid"/>
          </a:ln>
        </p:spPr>
      </p:sp>
      <p:pic>
        <p:nvPicPr>
          <p:cNvPr id="9" name="Image 1" descr="preencoded.png">    </p:cNvPr>
          <p:cNvPicPr>
            <a:picLocks noChangeAspect="1"/>
          </p:cNvPicPr>
          <p:nvPr/>
        </p:nvPicPr>
        <p:blipFill>
          <a:blip r:embed="rId2"/>
          <a:stretch>
            <a:fillRect/>
          </a:stretch>
        </p:blipFill>
        <p:spPr>
          <a:xfrm>
            <a:off x="3702050" y="2108200"/>
            <a:ext cx="533400" cy="533400"/>
          </a:xfrm>
          <a:prstGeom prst="rect">
            <a:avLst/>
          </a:prstGeom>
        </p:spPr>
      </p:pic>
      <p:sp>
        <p:nvSpPr>
          <p:cNvPr id="10" name="Text 6"/>
          <p:cNvSpPr txBox="1"/>
          <p:nvPr/>
        </p:nvSpPr>
        <p:spPr>
          <a:xfrm>
            <a:off x="3702050" y="2794000"/>
            <a:ext cx="2095500" cy="292100"/>
          </a:xfrm>
          <a:prstGeom prst="rect">
            <a:avLst/>
          </a:prstGeom>
          <a:noFill/>
          <a:ln/>
        </p:spPr>
        <p:txBody>
          <a:bodyPr wrap="square" lIns="0" tIns="0" rIns="0" bIns="0" rtlCol="0" anchor="t"/>
          <a:lstStyle/>
          <a:p>
            <a:pPr indent="0" marL="0">
              <a:buNone/>
            </a:pPr>
            <a:r>
              <a:rPr lang="en-US" sz="1600" b="1" dirty="0">
                <a:solidFill>
                  <a:srgbClr val="0E1220"/>
                </a:solidFill>
                <a:latin typeface="Arial" pitchFamily="34" charset="0"/>
                <a:ea typeface="Arial" pitchFamily="34" charset="-122"/>
                <a:cs typeface="Arial" pitchFamily="34" charset="-120"/>
              </a:rPr>
              <a:t>MoMo</a:t>
            </a:r>
            <a:endParaRPr lang="en-US" sz="1600" dirty="0"/>
          </a:p>
        </p:txBody>
      </p:sp>
      <p:sp>
        <p:nvSpPr>
          <p:cNvPr id="11" name="Text 7"/>
          <p:cNvSpPr txBox="1"/>
          <p:nvPr/>
        </p:nvSpPr>
        <p:spPr>
          <a:xfrm>
            <a:off x="3702050" y="3124200"/>
            <a:ext cx="2095500" cy="508000"/>
          </a:xfrm>
          <a:prstGeom prst="rect">
            <a:avLst/>
          </a:prstGeom>
          <a:noFill/>
          <a:ln/>
        </p:spPr>
        <p:txBody>
          <a:bodyPr wrap="square" lIns="0" tIns="0" rIns="0" bIns="0" rtlCol="0" anchor="t"/>
          <a:lstStyle/>
          <a:p>
            <a:pPr indent="0" marL="0">
              <a:buNone/>
            </a:pPr>
            <a:r>
              <a:rPr lang="en-US" sz="1250" dirty="0">
                <a:solidFill>
                  <a:srgbClr val="4A5568"/>
                </a:solidFill>
                <a:latin typeface="Arial" pitchFamily="34" charset="0"/>
                <a:ea typeface="Arial" pitchFamily="34" charset="-122"/>
                <a:cs typeface="Arial" pitchFamily="34" charset="-120"/>
              </a:rPr>
              <a:t>Your balance lives on a server</a:t>
            </a:r>
            <a:endParaRPr lang="en-US" sz="1250" dirty="0"/>
          </a:p>
        </p:txBody>
      </p:sp>
      <p:sp>
        <p:nvSpPr>
          <p:cNvPr id="12" name="Shape 8"/>
          <p:cNvSpPr/>
          <p:nvPr/>
        </p:nvSpPr>
        <p:spPr>
          <a:xfrm>
            <a:off x="6184900" y="1905000"/>
            <a:ext cx="2508250" cy="1905000"/>
          </a:xfrm>
          <a:prstGeom prst="roundRect">
            <a:avLst>
              <a:gd name="adj" fmla="val 8640"/>
            </a:avLst>
          </a:prstGeom>
          <a:solidFill>
            <a:srgbClr val="FFFFFF"/>
          </a:solidFill>
          <a:ln w="12700">
            <a:solidFill>
              <a:srgbClr val="E1E7F0"/>
            </a:solidFill>
            <a:prstDash val="solid"/>
          </a:ln>
        </p:spPr>
      </p:sp>
      <p:pic>
        <p:nvPicPr>
          <p:cNvPr id="13" name="Image 2" descr="preencoded.png">    </p:cNvPr>
          <p:cNvPicPr>
            <a:picLocks noChangeAspect="1"/>
          </p:cNvPicPr>
          <p:nvPr/>
        </p:nvPicPr>
        <p:blipFill>
          <a:blip r:embed="rId3"/>
          <a:stretch>
            <a:fillRect/>
          </a:stretch>
        </p:blipFill>
        <p:spPr>
          <a:xfrm>
            <a:off x="6388100" y="2108200"/>
            <a:ext cx="533400" cy="533400"/>
          </a:xfrm>
          <a:prstGeom prst="rect">
            <a:avLst/>
          </a:prstGeom>
        </p:spPr>
      </p:pic>
      <p:sp>
        <p:nvSpPr>
          <p:cNvPr id="14" name="Text 9"/>
          <p:cNvSpPr txBox="1"/>
          <p:nvPr/>
        </p:nvSpPr>
        <p:spPr>
          <a:xfrm>
            <a:off x="6388100" y="2794000"/>
            <a:ext cx="2095500" cy="292100"/>
          </a:xfrm>
          <a:prstGeom prst="rect">
            <a:avLst/>
          </a:prstGeom>
          <a:noFill/>
          <a:ln/>
        </p:spPr>
        <p:txBody>
          <a:bodyPr wrap="square" lIns="0" tIns="0" rIns="0" bIns="0" rtlCol="0" anchor="t"/>
          <a:lstStyle/>
          <a:p>
            <a:pPr indent="0" marL="0">
              <a:buNone/>
            </a:pPr>
            <a:r>
              <a:rPr lang="en-US" sz="1600" b="1" dirty="0">
                <a:solidFill>
                  <a:srgbClr val="0E1220"/>
                </a:solidFill>
                <a:latin typeface="Arial" pitchFamily="34" charset="0"/>
                <a:ea typeface="Arial" pitchFamily="34" charset="-122"/>
                <a:cs typeface="Arial" pitchFamily="34" charset="-120"/>
              </a:rPr>
              <a:t>Maps</a:t>
            </a:r>
            <a:endParaRPr lang="en-US" sz="1600" dirty="0"/>
          </a:p>
        </p:txBody>
      </p:sp>
      <p:sp>
        <p:nvSpPr>
          <p:cNvPr id="15" name="Text 10"/>
          <p:cNvSpPr txBox="1"/>
          <p:nvPr/>
        </p:nvSpPr>
        <p:spPr>
          <a:xfrm>
            <a:off x="6388100" y="3124200"/>
            <a:ext cx="2095500" cy="508000"/>
          </a:xfrm>
          <a:prstGeom prst="rect">
            <a:avLst/>
          </a:prstGeom>
          <a:noFill/>
          <a:ln/>
        </p:spPr>
        <p:txBody>
          <a:bodyPr wrap="square" lIns="0" tIns="0" rIns="0" bIns="0" rtlCol="0" anchor="t"/>
          <a:lstStyle/>
          <a:p>
            <a:pPr indent="0" marL="0">
              <a:buNone/>
            </a:pPr>
            <a:r>
              <a:rPr lang="en-US" sz="1250" dirty="0">
                <a:solidFill>
                  <a:srgbClr val="4A5568"/>
                </a:solidFill>
                <a:latin typeface="Arial" pitchFamily="34" charset="0"/>
                <a:ea typeface="Arial" pitchFamily="34" charset="-122"/>
                <a:cs typeface="Arial" pitchFamily="34" charset="-120"/>
              </a:rPr>
              <a:t>Traffic comes from a server</a:t>
            </a:r>
            <a:endParaRPr lang="en-US" sz="1250" dirty="0"/>
          </a:p>
        </p:txBody>
      </p:sp>
      <p:sp>
        <p:nvSpPr>
          <p:cNvPr id="16" name="Shape 11"/>
          <p:cNvSpPr/>
          <p:nvPr/>
        </p:nvSpPr>
        <p:spPr>
          <a:xfrm>
            <a:off x="8870950" y="1905000"/>
            <a:ext cx="2508250" cy="1905000"/>
          </a:xfrm>
          <a:prstGeom prst="roundRect">
            <a:avLst>
              <a:gd name="adj" fmla="val 8640"/>
            </a:avLst>
          </a:prstGeom>
          <a:solidFill>
            <a:srgbClr val="FFFFFF"/>
          </a:solidFill>
          <a:ln w="12700">
            <a:solidFill>
              <a:srgbClr val="E1E7F0"/>
            </a:solidFill>
            <a:prstDash val="solid"/>
          </a:ln>
        </p:spPr>
      </p:sp>
      <p:pic>
        <p:nvPicPr>
          <p:cNvPr id="17" name="Image 3" descr="preencoded.png">    </p:cNvPr>
          <p:cNvPicPr>
            <a:picLocks noChangeAspect="1"/>
          </p:cNvPicPr>
          <p:nvPr/>
        </p:nvPicPr>
        <p:blipFill>
          <a:blip r:embed="rId4"/>
          <a:stretch>
            <a:fillRect/>
          </a:stretch>
        </p:blipFill>
        <p:spPr>
          <a:xfrm>
            <a:off x="9074150" y="2108200"/>
            <a:ext cx="533400" cy="533400"/>
          </a:xfrm>
          <a:prstGeom prst="rect">
            <a:avLst/>
          </a:prstGeom>
        </p:spPr>
      </p:pic>
      <p:sp>
        <p:nvSpPr>
          <p:cNvPr id="18" name="Text 12"/>
          <p:cNvSpPr txBox="1"/>
          <p:nvPr/>
        </p:nvSpPr>
        <p:spPr>
          <a:xfrm>
            <a:off x="9074150" y="2794000"/>
            <a:ext cx="2095500" cy="292100"/>
          </a:xfrm>
          <a:prstGeom prst="rect">
            <a:avLst/>
          </a:prstGeom>
          <a:noFill/>
          <a:ln/>
        </p:spPr>
        <p:txBody>
          <a:bodyPr wrap="square" lIns="0" tIns="0" rIns="0" bIns="0" rtlCol="0" anchor="t"/>
          <a:lstStyle/>
          <a:p>
            <a:pPr indent="0" marL="0">
              <a:buNone/>
            </a:pPr>
            <a:r>
              <a:rPr lang="en-US" sz="1600" b="1" dirty="0">
                <a:solidFill>
                  <a:srgbClr val="0E1220"/>
                </a:solidFill>
                <a:latin typeface="Arial" pitchFamily="34" charset="0"/>
                <a:ea typeface="Arial" pitchFamily="34" charset="-122"/>
                <a:cs typeface="Arial" pitchFamily="34" charset="-120"/>
              </a:rPr>
              <a:t>Instagram</a:t>
            </a:r>
            <a:endParaRPr lang="en-US" sz="1600" dirty="0"/>
          </a:p>
        </p:txBody>
      </p:sp>
      <p:sp>
        <p:nvSpPr>
          <p:cNvPr id="19" name="Text 13"/>
          <p:cNvSpPr txBox="1"/>
          <p:nvPr/>
        </p:nvSpPr>
        <p:spPr>
          <a:xfrm>
            <a:off x="9074150" y="3124200"/>
            <a:ext cx="2095500" cy="508000"/>
          </a:xfrm>
          <a:prstGeom prst="rect">
            <a:avLst/>
          </a:prstGeom>
          <a:noFill/>
          <a:ln/>
        </p:spPr>
        <p:txBody>
          <a:bodyPr wrap="square" lIns="0" tIns="0" rIns="0" bIns="0" rtlCol="0" anchor="t"/>
          <a:lstStyle/>
          <a:p>
            <a:pPr indent="0" marL="0">
              <a:buNone/>
            </a:pPr>
            <a:r>
              <a:rPr lang="en-US" sz="1250" dirty="0">
                <a:solidFill>
                  <a:srgbClr val="4A5568"/>
                </a:solidFill>
                <a:latin typeface="Arial" pitchFamily="34" charset="0"/>
                <a:ea typeface="Arial" pitchFamily="34" charset="-122"/>
                <a:cs typeface="Arial" pitchFamily="34" charset="-120"/>
              </a:rPr>
              <a:t>Your feed comes from a server</a:t>
            </a:r>
            <a:endParaRPr lang="en-US" sz="1250" dirty="0"/>
          </a:p>
        </p:txBody>
      </p:sp>
      <p:sp>
        <p:nvSpPr>
          <p:cNvPr id="20" name="Shape 14"/>
          <p:cNvSpPr/>
          <p:nvPr/>
        </p:nvSpPr>
        <p:spPr>
          <a:xfrm>
            <a:off x="812800" y="4127500"/>
            <a:ext cx="10566400" cy="1397000"/>
          </a:xfrm>
          <a:prstGeom prst="roundRect">
            <a:avLst>
              <a:gd name="adj" fmla="val 11782"/>
            </a:avLst>
          </a:prstGeom>
          <a:solidFill>
            <a:srgbClr val="0E1220"/>
          </a:solidFill>
          <a:ln w="12700">
            <a:solidFill>
              <a:srgbClr val="0E1220"/>
            </a:solidFill>
            <a:prstDash val="solid"/>
          </a:ln>
          <a:effectLst>
            <a:outerShdw sx="100000" sy="100000" kx="0" ky="0" algn="bl" rotWithShape="0" blurRad="279400" dist="101600" dir="5400000">
              <a:srgbClr val="0E1220">
                <a:alpha val="25000"/>
              </a:srgbClr>
            </a:outerShdw>
          </a:effectLst>
        </p:spPr>
      </p:sp>
      <p:sp>
        <p:nvSpPr>
          <p:cNvPr id="21" name="Text 15"/>
          <p:cNvSpPr txBox="1"/>
          <p:nvPr/>
        </p:nvSpPr>
        <p:spPr>
          <a:xfrm>
            <a:off x="1206500" y="4381500"/>
            <a:ext cx="2794000" cy="215900"/>
          </a:xfrm>
          <a:prstGeom prst="rect">
            <a:avLst/>
          </a:prstGeom>
          <a:noFill/>
          <a:ln/>
        </p:spPr>
        <p:txBody>
          <a:bodyPr wrap="square" lIns="0" tIns="0" rIns="0" bIns="0" rtlCol="0" anchor="t"/>
          <a:lstStyle/>
          <a:p>
            <a:pPr indent="0" marL="0">
              <a:buNone/>
            </a:pPr>
            <a:r>
              <a:rPr lang="en-US" sz="1100" b="1" spc="300" kern="0" dirty="0">
                <a:solidFill>
                  <a:srgbClr val="54C5F8"/>
                </a:solidFill>
                <a:latin typeface="Arial" pitchFamily="34" charset="0"/>
                <a:ea typeface="Arial" pitchFamily="34" charset="-122"/>
                <a:cs typeface="Arial" pitchFamily="34" charset="-120"/>
              </a:rPr>
              <a:t>YOUR PHONE</a:t>
            </a:r>
            <a:endParaRPr lang="en-US" sz="1100" dirty="0"/>
          </a:p>
        </p:txBody>
      </p:sp>
      <p:sp>
        <p:nvSpPr>
          <p:cNvPr id="22" name="Text 16"/>
          <p:cNvSpPr txBox="1"/>
          <p:nvPr/>
        </p:nvSpPr>
        <p:spPr>
          <a:xfrm>
            <a:off x="1206500" y="4648200"/>
            <a:ext cx="2794000" cy="635000"/>
          </a:xfrm>
          <a:prstGeom prst="rect">
            <a:avLst/>
          </a:prstGeom>
          <a:noFill/>
          <a:ln/>
        </p:spPr>
        <p:txBody>
          <a:bodyPr wrap="square" lIns="0" tIns="0" rIns="0" bIns="0" rtlCol="0" anchor="t"/>
          <a:lstStyle/>
          <a:p>
            <a:pPr indent="0" marL="0">
              <a:buNone/>
            </a:pPr>
            <a:r>
              <a:rPr lang="en-US" sz="1500" b="1" dirty="0">
                <a:solidFill>
                  <a:srgbClr val="F4F7FB"/>
                </a:solidFill>
                <a:latin typeface="Arial" pitchFamily="34" charset="0"/>
                <a:ea typeface="Arial" pitchFamily="34" charset="-122"/>
                <a:cs typeface="Arial" pitchFamily="34" charset="-120"/>
              </a:rPr>
              <a:t>"What is the weather in Kigali?"</a:t>
            </a:r>
            <a:endParaRPr lang="en-US" sz="1500" dirty="0"/>
          </a:p>
        </p:txBody>
      </p:sp>
      <p:sp>
        <p:nvSpPr>
          <p:cNvPr id="23" name="Shape 17"/>
          <p:cNvSpPr/>
          <p:nvPr/>
        </p:nvSpPr>
        <p:spPr>
          <a:xfrm>
            <a:off x="4000500" y="4826000"/>
            <a:ext cx="635000" cy="0"/>
          </a:xfrm>
          <a:prstGeom prst="line">
            <a:avLst/>
          </a:prstGeom>
          <a:noFill/>
          <a:ln w="31750">
            <a:solidFill>
              <a:srgbClr val="54C5F8"/>
            </a:solidFill>
            <a:prstDash val="solid"/>
            <a:tailEnd type="triangle"/>
          </a:ln>
        </p:spPr>
      </p:sp>
      <p:sp>
        <p:nvSpPr>
          <p:cNvPr id="24" name="Text 18"/>
          <p:cNvSpPr txBox="1"/>
          <p:nvPr/>
        </p:nvSpPr>
        <p:spPr>
          <a:xfrm>
            <a:off x="4762500" y="4381500"/>
            <a:ext cx="2794000" cy="215900"/>
          </a:xfrm>
          <a:prstGeom prst="rect">
            <a:avLst/>
          </a:prstGeom>
          <a:noFill/>
          <a:ln/>
        </p:spPr>
        <p:txBody>
          <a:bodyPr wrap="square" lIns="0" tIns="0" rIns="0" bIns="0" rtlCol="0" anchor="t"/>
          <a:lstStyle/>
          <a:p>
            <a:pPr indent="0" marL="0">
              <a:buNone/>
            </a:pPr>
            <a:r>
              <a:rPr lang="en-US" sz="1100" b="1" spc="300" kern="0" dirty="0">
                <a:solidFill>
                  <a:srgbClr val="54C5F8"/>
                </a:solidFill>
                <a:latin typeface="Arial" pitchFamily="34" charset="0"/>
                <a:ea typeface="Arial" pitchFamily="34" charset="-122"/>
                <a:cs typeface="Arial" pitchFamily="34" charset="-120"/>
              </a:rPr>
              <a:t>THE SERVER</a:t>
            </a:r>
            <a:endParaRPr lang="en-US" sz="1100" dirty="0"/>
          </a:p>
        </p:txBody>
      </p:sp>
      <p:sp>
        <p:nvSpPr>
          <p:cNvPr id="25" name="Text 19"/>
          <p:cNvSpPr txBox="1"/>
          <p:nvPr/>
        </p:nvSpPr>
        <p:spPr>
          <a:xfrm>
            <a:off x="4762500" y="4648200"/>
            <a:ext cx="2794000" cy="635000"/>
          </a:xfrm>
          <a:prstGeom prst="rect">
            <a:avLst/>
          </a:prstGeom>
          <a:noFill/>
          <a:ln/>
        </p:spPr>
        <p:txBody>
          <a:bodyPr wrap="square" lIns="0" tIns="0" rIns="0" bIns="0" rtlCol="0" anchor="t"/>
          <a:lstStyle/>
          <a:p>
            <a:pPr indent="0" marL="0">
              <a:buNone/>
            </a:pPr>
            <a:r>
              <a:rPr lang="en-US" sz="1500" b="1" dirty="0">
                <a:solidFill>
                  <a:srgbClr val="F4F7FB"/>
                </a:solidFill>
                <a:latin typeface="Arial" pitchFamily="34" charset="0"/>
                <a:ea typeface="Arial" pitchFamily="34" charset="-122"/>
                <a:cs typeface="Arial" pitchFamily="34" charset="-120"/>
              </a:rPr>
              <a:t>looks it up</a:t>
            </a:r>
            <a:endParaRPr lang="en-US" sz="1500" dirty="0"/>
          </a:p>
        </p:txBody>
      </p:sp>
      <p:sp>
        <p:nvSpPr>
          <p:cNvPr id="26" name="Shape 20"/>
          <p:cNvSpPr/>
          <p:nvPr/>
        </p:nvSpPr>
        <p:spPr>
          <a:xfrm>
            <a:off x="7556500" y="4826000"/>
            <a:ext cx="635000" cy="0"/>
          </a:xfrm>
          <a:prstGeom prst="line">
            <a:avLst/>
          </a:prstGeom>
          <a:noFill/>
          <a:ln w="31750">
            <a:solidFill>
              <a:srgbClr val="54C5F8"/>
            </a:solidFill>
            <a:prstDash val="solid"/>
            <a:tailEnd type="triangle"/>
          </a:ln>
        </p:spPr>
      </p:sp>
      <p:sp>
        <p:nvSpPr>
          <p:cNvPr id="27" name="Text 21"/>
          <p:cNvSpPr txBox="1"/>
          <p:nvPr/>
        </p:nvSpPr>
        <p:spPr>
          <a:xfrm>
            <a:off x="8318500" y="4381500"/>
            <a:ext cx="2794000" cy="215900"/>
          </a:xfrm>
          <a:prstGeom prst="rect">
            <a:avLst/>
          </a:prstGeom>
          <a:noFill/>
          <a:ln/>
        </p:spPr>
        <p:txBody>
          <a:bodyPr wrap="square" lIns="0" tIns="0" rIns="0" bIns="0" rtlCol="0" anchor="t"/>
          <a:lstStyle/>
          <a:p>
            <a:pPr indent="0" marL="0">
              <a:buNone/>
            </a:pPr>
            <a:r>
              <a:rPr lang="en-US" sz="1100" b="1" spc="300" kern="0" dirty="0">
                <a:solidFill>
                  <a:srgbClr val="54C5F8"/>
                </a:solidFill>
                <a:latin typeface="Arial" pitchFamily="34" charset="0"/>
                <a:ea typeface="Arial" pitchFamily="34" charset="-122"/>
                <a:cs typeface="Arial" pitchFamily="34" charset="-120"/>
              </a:rPr>
              <a:t>YOUR PHONE</a:t>
            </a:r>
            <a:endParaRPr lang="en-US" sz="1100" dirty="0"/>
          </a:p>
        </p:txBody>
      </p:sp>
      <p:sp>
        <p:nvSpPr>
          <p:cNvPr id="28" name="Text 22"/>
          <p:cNvSpPr txBox="1"/>
          <p:nvPr/>
        </p:nvSpPr>
        <p:spPr>
          <a:xfrm>
            <a:off x="8318500" y="4648200"/>
            <a:ext cx="2794000" cy="635000"/>
          </a:xfrm>
          <a:prstGeom prst="rect">
            <a:avLst/>
          </a:prstGeom>
          <a:noFill/>
          <a:ln/>
        </p:spPr>
        <p:txBody>
          <a:bodyPr wrap="square" lIns="0" tIns="0" rIns="0" bIns="0" rtlCol="0" anchor="t"/>
          <a:lstStyle/>
          <a:p>
            <a:pPr indent="0" marL="0">
              <a:buNone/>
            </a:pPr>
            <a:r>
              <a:rPr lang="en-US" sz="1500" b="1" dirty="0">
                <a:solidFill>
                  <a:srgbClr val="F4F7FB"/>
                </a:solidFill>
                <a:latin typeface="Arial" pitchFamily="34" charset="0"/>
                <a:ea typeface="Arial" pitchFamily="34" charset="-122"/>
                <a:cs typeface="Arial" pitchFamily="34" charset="-120"/>
              </a:rPr>
              <a:t>"25°C, cloudy"</a:t>
            </a:r>
            <a:endParaRPr lang="en-US" sz="1500" dirty="0"/>
          </a:p>
        </p:txBody>
      </p:sp>
      <p:sp>
        <p:nvSpPr>
          <p:cNvPr id="29" name="Text 23"/>
          <p:cNvSpPr txBox="1"/>
          <p:nvPr/>
        </p:nvSpPr>
        <p:spPr>
          <a:xfrm>
            <a:off x="812800" y="5715000"/>
            <a:ext cx="10566400" cy="317500"/>
          </a:xfrm>
          <a:prstGeom prst="rect">
            <a:avLst/>
          </a:prstGeom>
          <a:noFill/>
          <a:ln/>
        </p:spPr>
        <p:txBody>
          <a:bodyPr wrap="square" lIns="0" tIns="0" rIns="0" bIns="0" rtlCol="0" anchor="t"/>
          <a:lstStyle/>
          <a:p>
            <a:pPr indent="0" marL="0">
              <a:buNone/>
            </a:pPr>
            <a:r>
              <a:rPr lang="en-US" sz="1300" i="1" dirty="0">
                <a:solidFill>
                  <a:srgbClr val="4A5568"/>
                </a:solidFill>
                <a:latin typeface="Arial" pitchFamily="34" charset="0"/>
                <a:ea typeface="Arial" pitchFamily="34" charset="-122"/>
                <a:cs typeface="Arial" pitchFamily="34" charset="-120"/>
              </a:rPr>
              <a:t>The question and the answer travel over the internet. That takes time, and sometimes fails.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54C5F8"/>
                </a:solidFill>
                <a:latin typeface="Arial" pitchFamily="34" charset="0"/>
                <a:ea typeface="Arial" pitchFamily="34" charset="-122"/>
                <a:cs typeface="Arial" pitchFamily="34" charset="-120"/>
              </a:rPr>
              <a:t>WAITING WITHOUT FREEZING</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300" b="1" dirty="0">
                <a:solidFill>
                  <a:srgbClr val="F4F7FB"/>
                </a:solidFill>
                <a:latin typeface="Arial" pitchFamily="34" charset="0"/>
                <a:ea typeface="Arial" pitchFamily="34" charset="-122"/>
                <a:cs typeface="Arial" pitchFamily="34" charset="-120"/>
              </a:rPr>
              <a:t>Future, async and await in four ideas</a:t>
            </a:r>
            <a:endParaRPr lang="en-US" sz="3300" dirty="0"/>
          </a:p>
        </p:txBody>
      </p:sp>
      <p:sp>
        <p:nvSpPr>
          <p:cNvPr id="4" name="Shape 2"/>
          <p:cNvSpPr/>
          <p:nvPr/>
        </p:nvSpPr>
        <p:spPr>
          <a:xfrm>
            <a:off x="812800" y="1905000"/>
            <a:ext cx="5207000" cy="1905000"/>
          </a:xfrm>
          <a:prstGeom prst="roundRect">
            <a:avLst>
              <a:gd name="adj" fmla="val 8640"/>
            </a:avLst>
          </a:prstGeom>
          <a:solidFill>
            <a:srgbClr val="FFFFFF">
              <a:alpha val="6000"/>
            </a:srgbClr>
          </a:solidFill>
          <a:ln w="12700">
            <a:solidFill>
              <a:srgbClr val="FFFFFF">
                <a:alpha val="15000"/>
              </a:srgbClr>
            </a:solidFill>
            <a:prstDash val="solid"/>
          </a:ln>
        </p:spPr>
      </p:sp>
      <p:pic>
        <p:nvPicPr>
          <p:cNvPr id="5" name="Image 0" descr="preencoded.png">    </p:cNvPr>
          <p:cNvPicPr>
            <a:picLocks noChangeAspect="1"/>
          </p:cNvPicPr>
          <p:nvPr/>
        </p:nvPicPr>
        <p:blipFill>
          <a:blip r:embed="rId2"/>
          <a:stretch>
            <a:fillRect/>
          </a:stretch>
        </p:blipFill>
        <p:spPr>
          <a:xfrm>
            <a:off x="1066800" y="2159000"/>
            <a:ext cx="609600" cy="609600"/>
          </a:xfrm>
          <a:prstGeom prst="rect">
            <a:avLst/>
          </a:prstGeom>
        </p:spPr>
      </p:pic>
      <p:sp>
        <p:nvSpPr>
          <p:cNvPr id="6" name="Text 3"/>
          <p:cNvSpPr txBox="1"/>
          <p:nvPr/>
        </p:nvSpPr>
        <p:spPr>
          <a:xfrm>
            <a:off x="1879600" y="2159000"/>
            <a:ext cx="3937000" cy="609600"/>
          </a:xfrm>
          <a:prstGeom prst="rect">
            <a:avLst/>
          </a:prstGeom>
          <a:noFill/>
          <a:ln/>
        </p:spPr>
        <p:txBody>
          <a:bodyPr wrap="square" lIns="0" tIns="0" rIns="0" bIns="0" rtlCol="0" anchor="ctr"/>
          <a:lstStyle/>
          <a:p>
            <a:pPr indent="0" marL="0">
              <a:buNone/>
            </a:pPr>
            <a:r>
              <a:rPr lang="en-US" sz="2300" b="1" dirty="0">
                <a:solidFill>
                  <a:srgbClr val="F4F7FB"/>
                </a:solidFill>
                <a:latin typeface="Courier New" pitchFamily="34" charset="0"/>
                <a:ea typeface="Courier New" pitchFamily="34" charset="-122"/>
                <a:cs typeface="Courier New" pitchFamily="34" charset="-120"/>
              </a:rPr>
              <a:t>Future</a:t>
            </a:r>
            <a:endParaRPr lang="en-US" sz="2300" dirty="0"/>
          </a:p>
        </p:txBody>
      </p:sp>
      <p:sp>
        <p:nvSpPr>
          <p:cNvPr id="7" name="Text 4"/>
          <p:cNvSpPr txBox="1"/>
          <p:nvPr/>
        </p:nvSpPr>
        <p:spPr>
          <a:xfrm>
            <a:off x="1066800" y="2921000"/>
            <a:ext cx="4699000" cy="762000"/>
          </a:xfrm>
          <a:prstGeom prst="rect">
            <a:avLst/>
          </a:prstGeom>
          <a:noFill/>
          <a:ln/>
        </p:spPr>
        <p:txBody>
          <a:bodyPr wrap="square" lIns="0" tIns="0" rIns="0" bIns="0" rtlCol="0" anchor="t"/>
          <a:lstStyle/>
          <a:p>
            <a:pPr indent="0" marL="0">
              <a:lnSpc>
                <a:spcPct val="120000"/>
              </a:lnSpc>
              <a:buNone/>
            </a:pPr>
            <a:r>
              <a:rPr lang="en-US" sz="1500" dirty="0">
                <a:solidFill>
                  <a:srgbClr val="B8C4D9"/>
                </a:solidFill>
                <a:latin typeface="Arial" pitchFamily="34" charset="0"/>
                <a:ea typeface="Arial" pitchFamily="34" charset="-122"/>
                <a:cs typeface="Arial" pitchFamily="34" charset="-120"/>
              </a:rPr>
              <a:t>A value that comes later: the ticket you get when you order a brochette.</a:t>
            </a:r>
            <a:endParaRPr lang="en-US" sz="1500" dirty="0"/>
          </a:p>
        </p:txBody>
      </p:sp>
      <p:sp>
        <p:nvSpPr>
          <p:cNvPr id="8" name="Shape 5"/>
          <p:cNvSpPr/>
          <p:nvPr/>
        </p:nvSpPr>
        <p:spPr>
          <a:xfrm>
            <a:off x="6172200" y="1905000"/>
            <a:ext cx="5207000" cy="1905000"/>
          </a:xfrm>
          <a:prstGeom prst="roundRect">
            <a:avLst>
              <a:gd name="adj" fmla="val 8640"/>
            </a:avLst>
          </a:prstGeom>
          <a:solidFill>
            <a:srgbClr val="FFFFFF">
              <a:alpha val="6000"/>
            </a:srgbClr>
          </a:solidFill>
          <a:ln w="12700">
            <a:solidFill>
              <a:srgbClr val="FFFFFF">
                <a:alpha val="15000"/>
              </a:srgbClr>
            </a:solidFill>
            <a:prstDash val="solid"/>
          </a:ln>
        </p:spPr>
      </p:sp>
      <p:pic>
        <p:nvPicPr>
          <p:cNvPr id="9" name="Image 1" descr="preencoded.png">    </p:cNvPr>
          <p:cNvPicPr>
            <a:picLocks noChangeAspect="1"/>
          </p:cNvPicPr>
          <p:nvPr/>
        </p:nvPicPr>
        <p:blipFill>
          <a:blip r:embed="rId3"/>
          <a:stretch>
            <a:fillRect/>
          </a:stretch>
        </p:blipFill>
        <p:spPr>
          <a:xfrm>
            <a:off x="6426200" y="2159000"/>
            <a:ext cx="609600" cy="609600"/>
          </a:xfrm>
          <a:prstGeom prst="rect">
            <a:avLst/>
          </a:prstGeom>
        </p:spPr>
      </p:pic>
      <p:sp>
        <p:nvSpPr>
          <p:cNvPr id="10" name="Text 6"/>
          <p:cNvSpPr txBox="1"/>
          <p:nvPr/>
        </p:nvSpPr>
        <p:spPr>
          <a:xfrm>
            <a:off x="7239000" y="2159000"/>
            <a:ext cx="3937000" cy="609600"/>
          </a:xfrm>
          <a:prstGeom prst="rect">
            <a:avLst/>
          </a:prstGeom>
          <a:noFill/>
          <a:ln/>
        </p:spPr>
        <p:txBody>
          <a:bodyPr wrap="square" lIns="0" tIns="0" rIns="0" bIns="0" rtlCol="0" anchor="ctr"/>
          <a:lstStyle/>
          <a:p>
            <a:pPr indent="0" marL="0">
              <a:buNone/>
            </a:pPr>
            <a:r>
              <a:rPr lang="en-US" sz="2300" b="1" dirty="0">
                <a:solidFill>
                  <a:srgbClr val="F4F7FB"/>
                </a:solidFill>
                <a:latin typeface="Courier New" pitchFamily="34" charset="0"/>
                <a:ea typeface="Courier New" pitchFamily="34" charset="-122"/>
                <a:cs typeface="Courier New" pitchFamily="34" charset="-120"/>
              </a:rPr>
              <a:t>async</a:t>
            </a:r>
            <a:endParaRPr lang="en-US" sz="2300" dirty="0"/>
          </a:p>
        </p:txBody>
      </p:sp>
      <p:sp>
        <p:nvSpPr>
          <p:cNvPr id="11" name="Text 7"/>
          <p:cNvSpPr txBox="1"/>
          <p:nvPr/>
        </p:nvSpPr>
        <p:spPr>
          <a:xfrm>
            <a:off x="6426200" y="2921000"/>
            <a:ext cx="4699000" cy="762000"/>
          </a:xfrm>
          <a:prstGeom prst="rect">
            <a:avLst/>
          </a:prstGeom>
          <a:noFill/>
          <a:ln/>
        </p:spPr>
        <p:txBody>
          <a:bodyPr wrap="square" lIns="0" tIns="0" rIns="0" bIns="0" rtlCol="0" anchor="t"/>
          <a:lstStyle/>
          <a:p>
            <a:pPr indent="0" marL="0">
              <a:lnSpc>
                <a:spcPct val="120000"/>
              </a:lnSpc>
              <a:buNone/>
            </a:pPr>
            <a:r>
              <a:rPr lang="en-US" sz="1500" dirty="0">
                <a:solidFill>
                  <a:srgbClr val="B8C4D9"/>
                </a:solidFill>
                <a:latin typeface="Arial" pitchFamily="34" charset="0"/>
                <a:ea typeface="Arial" pitchFamily="34" charset="-122"/>
                <a:cs typeface="Arial" pitchFamily="34" charset="-120"/>
              </a:rPr>
              <a:t>Marks a function that is allowed to wait.</a:t>
            </a:r>
            <a:endParaRPr lang="en-US" sz="1500" dirty="0"/>
          </a:p>
        </p:txBody>
      </p:sp>
      <p:sp>
        <p:nvSpPr>
          <p:cNvPr id="12" name="Shape 8"/>
          <p:cNvSpPr/>
          <p:nvPr/>
        </p:nvSpPr>
        <p:spPr>
          <a:xfrm>
            <a:off x="812800" y="4000500"/>
            <a:ext cx="5207000" cy="1905000"/>
          </a:xfrm>
          <a:prstGeom prst="roundRect">
            <a:avLst>
              <a:gd name="adj" fmla="val 8640"/>
            </a:avLst>
          </a:prstGeom>
          <a:solidFill>
            <a:srgbClr val="FFFFFF">
              <a:alpha val="6000"/>
            </a:srgbClr>
          </a:solidFill>
          <a:ln w="12700">
            <a:solidFill>
              <a:srgbClr val="FFFFFF">
                <a:alpha val="15000"/>
              </a:srgbClr>
            </a:solidFill>
            <a:prstDash val="solid"/>
          </a:ln>
        </p:spPr>
      </p:sp>
      <p:pic>
        <p:nvPicPr>
          <p:cNvPr id="13" name="Image 2" descr="preencoded.png">    </p:cNvPr>
          <p:cNvPicPr>
            <a:picLocks noChangeAspect="1"/>
          </p:cNvPicPr>
          <p:nvPr/>
        </p:nvPicPr>
        <p:blipFill>
          <a:blip r:embed="rId4"/>
          <a:stretch>
            <a:fillRect/>
          </a:stretch>
        </p:blipFill>
        <p:spPr>
          <a:xfrm>
            <a:off x="1066800" y="4254500"/>
            <a:ext cx="609600" cy="609600"/>
          </a:xfrm>
          <a:prstGeom prst="rect">
            <a:avLst/>
          </a:prstGeom>
        </p:spPr>
      </p:pic>
      <p:sp>
        <p:nvSpPr>
          <p:cNvPr id="14" name="Text 9"/>
          <p:cNvSpPr txBox="1"/>
          <p:nvPr/>
        </p:nvSpPr>
        <p:spPr>
          <a:xfrm>
            <a:off x="1879600" y="4254500"/>
            <a:ext cx="3937000" cy="609600"/>
          </a:xfrm>
          <a:prstGeom prst="rect">
            <a:avLst/>
          </a:prstGeom>
          <a:noFill/>
          <a:ln/>
        </p:spPr>
        <p:txBody>
          <a:bodyPr wrap="square" lIns="0" tIns="0" rIns="0" bIns="0" rtlCol="0" anchor="ctr"/>
          <a:lstStyle/>
          <a:p>
            <a:pPr indent="0" marL="0">
              <a:buNone/>
            </a:pPr>
            <a:r>
              <a:rPr lang="en-US" sz="2300" b="1" dirty="0">
                <a:solidFill>
                  <a:srgbClr val="F4F7FB"/>
                </a:solidFill>
                <a:latin typeface="Courier New" pitchFamily="34" charset="0"/>
                <a:ea typeface="Courier New" pitchFamily="34" charset="-122"/>
                <a:cs typeface="Courier New" pitchFamily="34" charset="-120"/>
              </a:rPr>
              <a:t>await</a:t>
            </a:r>
            <a:endParaRPr lang="en-US" sz="2300" dirty="0"/>
          </a:p>
        </p:txBody>
      </p:sp>
      <p:sp>
        <p:nvSpPr>
          <p:cNvPr id="15" name="Text 10"/>
          <p:cNvSpPr txBox="1"/>
          <p:nvPr/>
        </p:nvSpPr>
        <p:spPr>
          <a:xfrm>
            <a:off x="1066800" y="5016500"/>
            <a:ext cx="4699000" cy="762000"/>
          </a:xfrm>
          <a:prstGeom prst="rect">
            <a:avLst/>
          </a:prstGeom>
          <a:noFill/>
          <a:ln/>
        </p:spPr>
        <p:txBody>
          <a:bodyPr wrap="square" lIns="0" tIns="0" rIns="0" bIns="0" rtlCol="0" anchor="t"/>
          <a:lstStyle/>
          <a:p>
            <a:pPr indent="0" marL="0">
              <a:lnSpc>
                <a:spcPct val="120000"/>
              </a:lnSpc>
              <a:buNone/>
            </a:pPr>
            <a:r>
              <a:rPr lang="en-US" sz="1500" dirty="0">
                <a:solidFill>
                  <a:srgbClr val="B8C4D9"/>
                </a:solidFill>
                <a:latin typeface="Arial" pitchFamily="34" charset="0"/>
                <a:ea typeface="Arial" pitchFamily="34" charset="-122"/>
                <a:cs typeface="Arial" pitchFamily="34" charset="-120"/>
              </a:rPr>
              <a:t>Means "wait here until it is ready". Only that function waits; the screen keeps working.</a:t>
            </a:r>
            <a:endParaRPr lang="en-US" sz="1500" dirty="0"/>
          </a:p>
        </p:txBody>
      </p:sp>
      <p:sp>
        <p:nvSpPr>
          <p:cNvPr id="16" name="Shape 11"/>
          <p:cNvSpPr/>
          <p:nvPr/>
        </p:nvSpPr>
        <p:spPr>
          <a:xfrm>
            <a:off x="6172200" y="4000500"/>
            <a:ext cx="5207000" cy="1905000"/>
          </a:xfrm>
          <a:prstGeom prst="roundRect">
            <a:avLst>
              <a:gd name="adj" fmla="val 8640"/>
            </a:avLst>
          </a:prstGeom>
          <a:solidFill>
            <a:srgbClr val="FFFFFF">
              <a:alpha val="6000"/>
            </a:srgbClr>
          </a:solidFill>
          <a:ln w="12700">
            <a:solidFill>
              <a:srgbClr val="FFFFFF">
                <a:alpha val="15000"/>
              </a:srgbClr>
            </a:solidFill>
            <a:prstDash val="solid"/>
          </a:ln>
        </p:spPr>
      </p:sp>
      <p:pic>
        <p:nvPicPr>
          <p:cNvPr id="17" name="Image 3" descr="preencoded.png">    </p:cNvPr>
          <p:cNvPicPr>
            <a:picLocks noChangeAspect="1"/>
          </p:cNvPicPr>
          <p:nvPr/>
        </p:nvPicPr>
        <p:blipFill>
          <a:blip r:embed="rId5"/>
          <a:stretch>
            <a:fillRect/>
          </a:stretch>
        </p:blipFill>
        <p:spPr>
          <a:xfrm>
            <a:off x="6426200" y="4254500"/>
            <a:ext cx="609600" cy="609600"/>
          </a:xfrm>
          <a:prstGeom prst="rect">
            <a:avLst/>
          </a:prstGeom>
        </p:spPr>
      </p:pic>
      <p:sp>
        <p:nvSpPr>
          <p:cNvPr id="18" name="Text 12"/>
          <p:cNvSpPr txBox="1"/>
          <p:nvPr/>
        </p:nvSpPr>
        <p:spPr>
          <a:xfrm>
            <a:off x="7239000" y="4254500"/>
            <a:ext cx="3937000" cy="609600"/>
          </a:xfrm>
          <a:prstGeom prst="rect">
            <a:avLst/>
          </a:prstGeom>
          <a:noFill/>
          <a:ln/>
        </p:spPr>
        <p:txBody>
          <a:bodyPr wrap="square" lIns="0" tIns="0" rIns="0" bIns="0" rtlCol="0" anchor="ctr"/>
          <a:lstStyle/>
          <a:p>
            <a:pPr indent="0" marL="0">
              <a:buNone/>
            </a:pPr>
            <a:r>
              <a:rPr lang="en-US" sz="2300" b="1" dirty="0">
                <a:solidFill>
                  <a:srgbClr val="F4F7FB"/>
                </a:solidFill>
                <a:latin typeface="Arial" pitchFamily="34" charset="0"/>
                <a:ea typeface="Arial" pitchFamily="34" charset="-122"/>
                <a:cs typeface="Arial" pitchFamily="34" charset="-120"/>
              </a:rPr>
              <a:t>Forget await</a:t>
            </a:r>
            <a:endParaRPr lang="en-US" sz="2300" dirty="0"/>
          </a:p>
        </p:txBody>
      </p:sp>
      <p:sp>
        <p:nvSpPr>
          <p:cNvPr id="19" name="Text 13"/>
          <p:cNvSpPr txBox="1"/>
          <p:nvPr/>
        </p:nvSpPr>
        <p:spPr>
          <a:xfrm>
            <a:off x="6426200" y="5016500"/>
            <a:ext cx="4699000" cy="762000"/>
          </a:xfrm>
          <a:prstGeom prst="rect">
            <a:avLst/>
          </a:prstGeom>
          <a:noFill/>
          <a:ln/>
        </p:spPr>
        <p:txBody>
          <a:bodyPr wrap="square" lIns="0" tIns="0" rIns="0" bIns="0" rtlCol="0" anchor="t"/>
          <a:lstStyle/>
          <a:p>
            <a:pPr indent="0" marL="0">
              <a:lnSpc>
                <a:spcPct val="120000"/>
              </a:lnSpc>
              <a:buNone/>
            </a:pPr>
            <a:r>
              <a:rPr lang="en-US" sz="1500" dirty="0">
                <a:solidFill>
                  <a:srgbClr val="B8C4D9"/>
                </a:solidFill>
                <a:latin typeface="Arial" pitchFamily="34" charset="0"/>
                <a:ea typeface="Arial" pitchFamily="34" charset="-122"/>
                <a:cs typeface="Arial" pitchFamily="34" charset="-120"/>
              </a:rPr>
              <a:t>And you get the ticket, not the food: Instance of 'Future'.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54C5F8"/>
                </a:solidFill>
                <a:latin typeface="Arial" pitchFamily="34" charset="0"/>
                <a:ea typeface="Arial" pitchFamily="34" charset="-122"/>
                <a:cs typeface="Arial" pitchFamily="34" charset="-120"/>
              </a:rPr>
              <a:t>WAITING WITHOUT FREEZING</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300" b="1" dirty="0">
                <a:solidFill>
                  <a:srgbClr val="F4F7FB"/>
                </a:solidFill>
                <a:latin typeface="Arial" pitchFamily="34" charset="0"/>
                <a:ea typeface="Arial" pitchFamily="34" charset="-122"/>
                <a:cs typeface="Arial" pitchFamily="34" charset="-120"/>
              </a:rPr>
              <a:t>Future, async and await, line by line</a:t>
            </a:r>
            <a:endParaRPr lang="en-US" sz="3300" dirty="0"/>
          </a:p>
        </p:txBody>
      </p:sp>
      <p:sp>
        <p:nvSpPr>
          <p:cNvPr id="4" name="Text 2"/>
          <p:cNvSpPr txBox="1"/>
          <p:nvPr/>
        </p:nvSpPr>
        <p:spPr>
          <a:xfrm>
            <a:off x="812800" y="1663700"/>
            <a:ext cx="10566400" cy="279400"/>
          </a:xfrm>
          <a:prstGeom prst="rect">
            <a:avLst/>
          </a:prstGeom>
          <a:noFill/>
          <a:ln/>
        </p:spPr>
        <p:txBody>
          <a:bodyPr wrap="square" lIns="0" tIns="0" rIns="0" bIns="0" rtlCol="0" anchor="t"/>
          <a:lstStyle/>
          <a:p>
            <a:pPr indent="0" marL="0">
              <a:buNone/>
            </a:pPr>
            <a:r>
              <a:rPr lang="en-US" sz="1350" i="1" dirty="0">
                <a:solidFill>
                  <a:srgbClr val="B8C4D9"/>
                </a:solidFill>
                <a:latin typeface="Arial" pitchFamily="34" charset="0"/>
                <a:ea typeface="Arial" pitchFamily="34" charset="-122"/>
                <a:cs typeface="Arial" pitchFamily="34" charset="-120"/>
              </a:rPr>
              <a:t>Like ordering a brochette: you get a ticket now, the food later, and you only wait when you need it.</a:t>
            </a:r>
            <a:endParaRPr lang="en-US" sz="1350" dirty="0"/>
          </a:p>
        </p:txBody>
      </p:sp>
      <p:sp>
        <p:nvSpPr>
          <p:cNvPr id="5" name="Shape 3"/>
          <p:cNvSpPr/>
          <p:nvPr/>
        </p:nvSpPr>
        <p:spPr>
          <a:xfrm>
            <a:off x="812800" y="2095500"/>
            <a:ext cx="5715000" cy="4064000"/>
          </a:xfrm>
          <a:prstGeom prst="roundRect">
            <a:avLst>
              <a:gd name="adj" fmla="val 3150"/>
            </a:avLst>
          </a:prstGeom>
          <a:solidFill>
            <a:srgbClr val="070A14"/>
          </a:solidFill>
          <a:ln w="12700">
            <a:solidFill>
              <a:srgbClr val="2E3A5C"/>
            </a:solidFill>
            <a:prstDash val="solid"/>
          </a:ln>
        </p:spPr>
      </p:sp>
      <p:sp>
        <p:nvSpPr>
          <p:cNvPr id="6" name="Text 4"/>
          <p:cNvSpPr txBox="1"/>
          <p:nvPr/>
        </p:nvSpPr>
        <p:spPr>
          <a:xfrm>
            <a:off x="1016000" y="2235200"/>
            <a:ext cx="5397500" cy="381000"/>
          </a:xfrm>
          <a:prstGeom prst="rect">
            <a:avLst/>
          </a:prstGeom>
          <a:noFill/>
          <a:ln/>
        </p:spPr>
        <p:txBody>
          <a:bodyPr wrap="square" lIns="0" tIns="0" rIns="0" bIns="0" rtlCol="0" anchor="ctr"/>
          <a:lstStyle/>
          <a:p>
            <a:pPr indent="0" marL="0">
              <a:buNone/>
            </a:pPr>
            <a:r>
              <a:rPr lang="en-US" sz="1350" dirty="0">
                <a:solidFill>
                  <a:srgbClr val="54C5F8"/>
                </a:solidFill>
                <a:latin typeface="Courier New" pitchFamily="34" charset="0"/>
                <a:ea typeface="Courier New" pitchFamily="34" charset="-122"/>
                <a:cs typeface="Courier New" pitchFamily="34" charset="-120"/>
              </a:rPr>
              <a:t>Future</a:t>
            </a:r>
            <a:pPr indent="0" marL="0">
              <a:buNone/>
            </a:pPr>
            <a:r>
              <a:rPr lang="en-US" sz="1350" dirty="0">
                <a:solidFill>
                  <a:srgbClr val="E3EEFB"/>
                </a:solidFill>
                <a:latin typeface="Courier New" pitchFamily="34" charset="0"/>
                <a:ea typeface="Courier New" pitchFamily="34" charset="-122"/>
                <a:cs typeface="Courier New" pitchFamily="34" charset="-120"/>
              </a:rPr>
              <a:t>&lt;</a:t>
            </a:r>
            <a:pPr indent="0" marL="0">
              <a:buNone/>
            </a:pPr>
            <a:r>
              <a:rPr lang="en-US" sz="1350" dirty="0">
                <a:solidFill>
                  <a:srgbClr val="54C5F8"/>
                </a:solidFill>
                <a:latin typeface="Courier New" pitchFamily="34" charset="0"/>
                <a:ea typeface="Courier New" pitchFamily="34" charset="-122"/>
                <a:cs typeface="Courier New" pitchFamily="34" charset="-120"/>
              </a:rPr>
              <a:t>String</a:t>
            </a:r>
            <a:pPr indent="0" marL="0">
              <a:buNone/>
            </a:pPr>
            <a:r>
              <a:rPr lang="en-US" sz="1350" dirty="0">
                <a:solidFill>
                  <a:srgbClr val="E3EEFB"/>
                </a:solidFill>
                <a:latin typeface="Courier New" pitchFamily="34" charset="0"/>
                <a:ea typeface="Courier New" pitchFamily="34" charset="-122"/>
                <a:cs typeface="Courier New" pitchFamily="34" charset="-120"/>
              </a:rPr>
              <a:t>&gt; </a:t>
            </a:r>
            <a:pPr indent="0" marL="0">
              <a:buNone/>
            </a:pPr>
            <a:r>
              <a:rPr lang="en-US" sz="1350" dirty="0">
                <a:solidFill>
                  <a:srgbClr val="FFD479"/>
                </a:solidFill>
                <a:latin typeface="Courier New" pitchFamily="34" charset="0"/>
                <a:ea typeface="Courier New" pitchFamily="34" charset="-122"/>
                <a:cs typeface="Courier New" pitchFamily="34" charset="-120"/>
              </a:rPr>
              <a:t>orderBrochette</a:t>
            </a:r>
            <a:pPr indent="0" marL="0">
              <a:buNone/>
            </a:pPr>
            <a:r>
              <a:rPr lang="en-US" sz="1350" dirty="0">
                <a:solidFill>
                  <a:srgbClr val="E3EEFB"/>
                </a:solidFill>
                <a:latin typeface="Courier New" pitchFamily="34" charset="0"/>
                <a:ea typeface="Courier New" pitchFamily="34" charset="-122"/>
                <a:cs typeface="Courier New" pitchFamily="34" charset="-120"/>
              </a:rPr>
              <a:t>() </a:t>
            </a:r>
            <a:pPr indent="0" marL="0">
              <a:buNone/>
            </a:pPr>
            <a:r>
              <a:rPr lang="en-US" sz="1350" dirty="0">
                <a:solidFill>
                  <a:srgbClr val="FF7AB2"/>
                </a:solidFill>
                <a:latin typeface="Courier New" pitchFamily="34" charset="0"/>
                <a:ea typeface="Courier New" pitchFamily="34" charset="-122"/>
                <a:cs typeface="Courier New" pitchFamily="34" charset="-120"/>
              </a:rPr>
              <a:t>async</a:t>
            </a:r>
            <a:pPr indent="0" marL="0">
              <a:buNone/>
            </a:pPr>
            <a:r>
              <a:rPr lang="en-US" sz="1350" dirty="0">
                <a:solidFill>
                  <a:srgbClr val="E3EEFB"/>
                </a:solidFill>
                <a:latin typeface="Courier New" pitchFamily="34" charset="0"/>
                <a:ea typeface="Courier New" pitchFamily="34" charset="-122"/>
                <a:cs typeface="Courier New" pitchFamily="34" charset="-120"/>
              </a:rPr>
              <a:t> {</a:t>
            </a:r>
            <a:endParaRPr lang="en-US" sz="1350" dirty="0"/>
          </a:p>
        </p:txBody>
      </p:sp>
      <p:sp>
        <p:nvSpPr>
          <p:cNvPr id="7" name="Shape 5"/>
          <p:cNvSpPr/>
          <p:nvPr/>
        </p:nvSpPr>
        <p:spPr>
          <a:xfrm>
            <a:off x="6604000" y="2425700"/>
            <a:ext cx="292100" cy="0"/>
          </a:xfrm>
          <a:prstGeom prst="line">
            <a:avLst/>
          </a:prstGeom>
          <a:noFill/>
          <a:ln w="31750">
            <a:solidFill>
              <a:srgbClr val="54C5F8"/>
            </a:solidFill>
            <a:prstDash val="solid"/>
            <a:tailEnd type="triangle"/>
          </a:ln>
        </p:spPr>
      </p:sp>
      <p:sp>
        <p:nvSpPr>
          <p:cNvPr id="8" name="Text 6"/>
          <p:cNvSpPr txBox="1"/>
          <p:nvPr/>
        </p:nvSpPr>
        <p:spPr>
          <a:xfrm>
            <a:off x="6985000" y="2235200"/>
            <a:ext cx="4394200" cy="381000"/>
          </a:xfrm>
          <a:prstGeom prst="rect">
            <a:avLst/>
          </a:prstGeom>
          <a:noFill/>
          <a:ln/>
        </p:spPr>
        <p:txBody>
          <a:bodyPr wrap="square" lIns="0" tIns="0" rIns="0" bIns="0" rtlCol="0" anchor="ctr"/>
          <a:lstStyle/>
          <a:p>
            <a:pPr indent="0" marL="0">
              <a:buNone/>
            </a:pPr>
            <a:r>
              <a:rPr lang="en-US" sz="1150" b="1" dirty="0">
                <a:solidFill>
                  <a:srgbClr val="54C5F8"/>
                </a:solidFill>
                <a:latin typeface="Arial" pitchFamily="34" charset="0"/>
                <a:ea typeface="Arial" pitchFamily="34" charset="-122"/>
                <a:cs typeface="Arial" pitchFamily="34" charset="-120"/>
              </a:rPr>
              <a:t>Future&lt;String&gt;</a:t>
            </a:r>
            <a:pPr indent="0" marL="0">
              <a:buNone/>
            </a:pPr>
            <a:r>
              <a:rPr lang="en-US" sz="1150" dirty="0">
                <a:solidFill>
                  <a:srgbClr val="B8C4D9"/>
                </a:solidFill>
                <a:latin typeface="Arial" pitchFamily="34" charset="0"/>
                <a:ea typeface="Arial" pitchFamily="34" charset="-122"/>
                <a:cs typeface="Arial" pitchFamily="34" charset="-120"/>
              </a:rPr>
              <a:t>: a String, later.  </a:t>
            </a:r>
            <a:pPr indent="0" marL="0">
              <a:buNone/>
            </a:pPr>
            <a:r>
              <a:rPr lang="en-US" sz="1150" b="1" dirty="0">
                <a:solidFill>
                  <a:srgbClr val="54C5F8"/>
                </a:solidFill>
                <a:latin typeface="Arial" pitchFamily="34" charset="0"/>
                <a:ea typeface="Arial" pitchFamily="34" charset="-122"/>
                <a:cs typeface="Arial" pitchFamily="34" charset="-120"/>
              </a:rPr>
              <a:t>async</a:t>
            </a:r>
            <a:pPr indent="0" marL="0">
              <a:buNone/>
            </a:pPr>
            <a:r>
              <a:rPr lang="en-US" sz="1150" dirty="0">
                <a:solidFill>
                  <a:srgbClr val="B8C4D9"/>
                </a:solidFill>
                <a:latin typeface="Arial" pitchFamily="34" charset="0"/>
                <a:ea typeface="Arial" pitchFamily="34" charset="-122"/>
                <a:cs typeface="Arial" pitchFamily="34" charset="-120"/>
              </a:rPr>
              <a:t>: this function may wait.</a:t>
            </a:r>
            <a:endParaRPr lang="en-US" sz="1150" dirty="0"/>
          </a:p>
        </p:txBody>
      </p:sp>
      <p:sp>
        <p:nvSpPr>
          <p:cNvPr id="9" name="Text 7"/>
          <p:cNvSpPr txBox="1"/>
          <p:nvPr/>
        </p:nvSpPr>
        <p:spPr>
          <a:xfrm>
            <a:off x="1016000" y="2667000"/>
            <a:ext cx="5397500" cy="381000"/>
          </a:xfrm>
          <a:prstGeom prst="rect">
            <a:avLst/>
          </a:prstGeom>
          <a:noFill/>
          <a:ln/>
        </p:spPr>
        <p:txBody>
          <a:bodyPr wrap="square" lIns="0" tIns="0" rIns="0" bIns="0" rtlCol="0" anchor="ctr"/>
          <a:lstStyle/>
          <a:p>
            <a:pPr indent="0" marL="0">
              <a:buNone/>
            </a:pPr>
            <a:r>
              <a:rPr lang="en-US" sz="1350" dirty="0">
                <a:solidFill>
                  <a:srgbClr val="FF7AB2"/>
                </a:solidFill>
                <a:latin typeface="Courier New" pitchFamily="34" charset="0"/>
                <a:ea typeface="Courier New" pitchFamily="34" charset="-122"/>
                <a:cs typeface="Courier New" pitchFamily="34" charset="-120"/>
              </a:rPr>
              <a:t>  await </a:t>
            </a:r>
            <a:pPr indent="0" marL="0">
              <a:buNone/>
            </a:pPr>
            <a:r>
              <a:rPr lang="en-US" sz="1350" dirty="0">
                <a:solidFill>
                  <a:srgbClr val="54C5F8"/>
                </a:solidFill>
                <a:latin typeface="Courier New" pitchFamily="34" charset="0"/>
                <a:ea typeface="Courier New" pitchFamily="34" charset="-122"/>
                <a:cs typeface="Courier New" pitchFamily="34" charset="-120"/>
              </a:rPr>
              <a:t>Future</a:t>
            </a:r>
            <a:pPr indent="0" marL="0">
              <a:buNone/>
            </a:pPr>
            <a:r>
              <a:rPr lang="en-US" sz="1350" dirty="0">
                <a:solidFill>
                  <a:srgbClr val="E3EEFB"/>
                </a:solidFill>
                <a:latin typeface="Courier New" pitchFamily="34" charset="0"/>
                <a:ea typeface="Courier New" pitchFamily="34" charset="-122"/>
                <a:cs typeface="Courier New" pitchFamily="34" charset="-120"/>
              </a:rPr>
              <a:t>.</a:t>
            </a:r>
            <a:pPr indent="0" marL="0">
              <a:buNone/>
            </a:pPr>
            <a:r>
              <a:rPr lang="en-US" sz="1350" dirty="0">
                <a:solidFill>
                  <a:srgbClr val="FFD479"/>
                </a:solidFill>
                <a:latin typeface="Courier New" pitchFamily="34" charset="0"/>
                <a:ea typeface="Courier New" pitchFamily="34" charset="-122"/>
                <a:cs typeface="Courier New" pitchFamily="34" charset="-120"/>
              </a:rPr>
              <a:t>delayed</a:t>
            </a:r>
            <a:pPr indent="0" marL="0">
              <a:buNone/>
            </a:pPr>
            <a:r>
              <a:rPr lang="en-US" sz="1350" dirty="0">
                <a:solidFill>
                  <a:srgbClr val="E3EEFB"/>
                </a:solidFill>
                <a:latin typeface="Courier New" pitchFamily="34" charset="0"/>
                <a:ea typeface="Courier New" pitchFamily="34" charset="-122"/>
                <a:cs typeface="Courier New" pitchFamily="34" charset="-120"/>
              </a:rPr>
              <a:t>(</a:t>
            </a:r>
            <a:pPr indent="0" marL="0">
              <a:buNone/>
            </a:pPr>
            <a:r>
              <a:rPr lang="en-US" sz="1350" dirty="0">
                <a:solidFill>
                  <a:srgbClr val="54C5F8"/>
                </a:solidFill>
                <a:latin typeface="Courier New" pitchFamily="34" charset="0"/>
                <a:ea typeface="Courier New" pitchFamily="34" charset="-122"/>
                <a:cs typeface="Courier New" pitchFamily="34" charset="-120"/>
              </a:rPr>
              <a:t>Duration</a:t>
            </a:r>
            <a:pPr indent="0" marL="0">
              <a:buNone/>
            </a:pPr>
            <a:r>
              <a:rPr lang="en-US" sz="1350" dirty="0">
                <a:solidFill>
                  <a:srgbClr val="E3EEFB"/>
                </a:solidFill>
                <a:latin typeface="Courier New" pitchFamily="34" charset="0"/>
                <a:ea typeface="Courier New" pitchFamily="34" charset="-122"/>
                <a:cs typeface="Courier New" pitchFamily="34" charset="-120"/>
              </a:rPr>
              <a:t>(seconds: </a:t>
            </a:r>
            <a:pPr indent="0" marL="0">
              <a:buNone/>
            </a:pPr>
            <a:r>
              <a:rPr lang="en-US" sz="1350" dirty="0">
                <a:solidFill>
                  <a:srgbClr val="D9C97C"/>
                </a:solidFill>
                <a:latin typeface="Courier New" pitchFamily="34" charset="0"/>
                <a:ea typeface="Courier New" pitchFamily="34" charset="-122"/>
                <a:cs typeface="Courier New" pitchFamily="34" charset="-120"/>
              </a:rPr>
              <a:t>3</a:t>
            </a:r>
            <a:pPr indent="0" marL="0">
              <a:buNone/>
            </a:pPr>
            <a:r>
              <a:rPr lang="en-US" sz="1350" dirty="0">
                <a:solidFill>
                  <a:srgbClr val="E3EEFB"/>
                </a:solidFill>
                <a:latin typeface="Courier New" pitchFamily="34" charset="0"/>
                <a:ea typeface="Courier New" pitchFamily="34" charset="-122"/>
                <a:cs typeface="Courier New" pitchFamily="34" charset="-120"/>
              </a:rPr>
              <a:t>));</a:t>
            </a:r>
            <a:endParaRPr lang="en-US" sz="1350" dirty="0"/>
          </a:p>
        </p:txBody>
      </p:sp>
      <p:sp>
        <p:nvSpPr>
          <p:cNvPr id="10" name="Shape 8"/>
          <p:cNvSpPr/>
          <p:nvPr/>
        </p:nvSpPr>
        <p:spPr>
          <a:xfrm>
            <a:off x="6604000" y="2857500"/>
            <a:ext cx="292100" cy="0"/>
          </a:xfrm>
          <a:prstGeom prst="line">
            <a:avLst/>
          </a:prstGeom>
          <a:noFill/>
          <a:ln w="31750">
            <a:solidFill>
              <a:srgbClr val="54C5F8"/>
            </a:solidFill>
            <a:prstDash val="solid"/>
            <a:tailEnd type="triangle"/>
          </a:ln>
        </p:spPr>
      </p:sp>
      <p:sp>
        <p:nvSpPr>
          <p:cNvPr id="11" name="Text 9"/>
          <p:cNvSpPr txBox="1"/>
          <p:nvPr/>
        </p:nvSpPr>
        <p:spPr>
          <a:xfrm>
            <a:off x="6985000" y="2667000"/>
            <a:ext cx="4394200" cy="381000"/>
          </a:xfrm>
          <a:prstGeom prst="rect">
            <a:avLst/>
          </a:prstGeom>
          <a:noFill/>
          <a:ln/>
        </p:spPr>
        <p:txBody>
          <a:bodyPr wrap="square" lIns="0" tIns="0" rIns="0" bIns="0" rtlCol="0" anchor="ctr"/>
          <a:lstStyle/>
          <a:p>
            <a:pPr indent="0" marL="0">
              <a:buNone/>
            </a:pPr>
            <a:r>
              <a:rPr lang="en-US" sz="1150" dirty="0">
                <a:solidFill>
                  <a:srgbClr val="B8C4D9"/>
                </a:solidFill>
                <a:latin typeface="Arial" pitchFamily="34" charset="0"/>
                <a:ea typeface="Arial" pitchFamily="34" charset="-122"/>
                <a:cs typeface="Arial" pitchFamily="34" charset="-120"/>
              </a:rPr>
              <a:t>Pretends to be slow: waits 3 seconds. Tonight, the slow thing is the weather server.</a:t>
            </a:r>
            <a:endParaRPr lang="en-US" sz="1150" dirty="0"/>
          </a:p>
        </p:txBody>
      </p:sp>
      <p:sp>
        <p:nvSpPr>
          <p:cNvPr id="12" name="Text 10"/>
          <p:cNvSpPr txBox="1"/>
          <p:nvPr/>
        </p:nvSpPr>
        <p:spPr>
          <a:xfrm>
            <a:off x="1016000" y="3098800"/>
            <a:ext cx="5397500" cy="381000"/>
          </a:xfrm>
          <a:prstGeom prst="rect">
            <a:avLst/>
          </a:prstGeom>
          <a:noFill/>
          <a:ln/>
        </p:spPr>
        <p:txBody>
          <a:bodyPr wrap="square" lIns="0" tIns="0" rIns="0" bIns="0" rtlCol="0" anchor="ctr"/>
          <a:lstStyle/>
          <a:p>
            <a:pPr indent="0" marL="0">
              <a:buNone/>
            </a:pPr>
            <a:r>
              <a:rPr lang="en-US" sz="1350" dirty="0">
                <a:solidFill>
                  <a:srgbClr val="FF7AB2"/>
                </a:solidFill>
                <a:latin typeface="Courier New" pitchFamily="34" charset="0"/>
                <a:ea typeface="Courier New" pitchFamily="34" charset="-122"/>
                <a:cs typeface="Courier New" pitchFamily="34" charset="-120"/>
              </a:rPr>
              <a:t>  return </a:t>
            </a:r>
            <a:pPr indent="0" marL="0">
              <a:buNone/>
            </a:pPr>
            <a:r>
              <a:rPr lang="en-US" sz="1350" dirty="0">
                <a:solidFill>
                  <a:srgbClr val="9CE29C"/>
                </a:solidFill>
                <a:latin typeface="Courier New" pitchFamily="34" charset="0"/>
                <a:ea typeface="Courier New" pitchFamily="34" charset="-122"/>
                <a:cs typeface="Courier New" pitchFamily="34" charset="-120"/>
              </a:rPr>
              <a:t>'Your brochette is ready'</a:t>
            </a:r>
            <a:pPr indent="0" marL="0">
              <a:buNone/>
            </a:pPr>
            <a:r>
              <a:rPr lang="en-US" sz="1350" dirty="0">
                <a:solidFill>
                  <a:srgbClr val="E3EEFB"/>
                </a:solidFill>
                <a:latin typeface="Courier New" pitchFamily="34" charset="0"/>
                <a:ea typeface="Courier New" pitchFamily="34" charset="-122"/>
                <a:cs typeface="Courier New" pitchFamily="34" charset="-120"/>
              </a:rPr>
              <a:t>;</a:t>
            </a:r>
            <a:endParaRPr lang="en-US" sz="1350" dirty="0"/>
          </a:p>
        </p:txBody>
      </p:sp>
      <p:sp>
        <p:nvSpPr>
          <p:cNvPr id="13" name="Shape 11"/>
          <p:cNvSpPr/>
          <p:nvPr/>
        </p:nvSpPr>
        <p:spPr>
          <a:xfrm>
            <a:off x="6604000" y="3289300"/>
            <a:ext cx="292100" cy="0"/>
          </a:xfrm>
          <a:prstGeom prst="line">
            <a:avLst/>
          </a:prstGeom>
          <a:noFill/>
          <a:ln w="31750">
            <a:solidFill>
              <a:srgbClr val="54C5F8"/>
            </a:solidFill>
            <a:prstDash val="solid"/>
            <a:tailEnd type="triangle"/>
          </a:ln>
        </p:spPr>
      </p:sp>
      <p:sp>
        <p:nvSpPr>
          <p:cNvPr id="14" name="Text 12"/>
          <p:cNvSpPr txBox="1"/>
          <p:nvPr/>
        </p:nvSpPr>
        <p:spPr>
          <a:xfrm>
            <a:off x="6985000" y="3098800"/>
            <a:ext cx="4394200" cy="381000"/>
          </a:xfrm>
          <a:prstGeom prst="rect">
            <a:avLst/>
          </a:prstGeom>
          <a:noFill/>
          <a:ln/>
        </p:spPr>
        <p:txBody>
          <a:bodyPr wrap="square" lIns="0" tIns="0" rIns="0" bIns="0" rtlCol="0" anchor="ctr"/>
          <a:lstStyle/>
          <a:p>
            <a:pPr indent="0" marL="0">
              <a:buNone/>
            </a:pPr>
            <a:r>
              <a:rPr lang="en-US" sz="1150" dirty="0">
                <a:solidFill>
                  <a:srgbClr val="B8C4D9"/>
                </a:solidFill>
                <a:latin typeface="Arial" pitchFamily="34" charset="0"/>
                <a:ea typeface="Arial" pitchFamily="34" charset="-122"/>
                <a:cs typeface="Arial" pitchFamily="34" charset="-120"/>
              </a:rPr>
              <a:t>The value the Future finally delivers.</a:t>
            </a:r>
            <a:endParaRPr lang="en-US" sz="1150" dirty="0"/>
          </a:p>
        </p:txBody>
      </p:sp>
      <p:sp>
        <p:nvSpPr>
          <p:cNvPr id="15" name="Text 13"/>
          <p:cNvSpPr txBox="1"/>
          <p:nvPr/>
        </p:nvSpPr>
        <p:spPr>
          <a:xfrm>
            <a:off x="1016000" y="3530600"/>
            <a:ext cx="5397500" cy="381000"/>
          </a:xfrm>
          <a:prstGeom prst="rect">
            <a:avLst/>
          </a:prstGeom>
          <a:noFill/>
          <a:ln/>
        </p:spPr>
        <p:txBody>
          <a:bodyPr wrap="square" lIns="0" tIns="0" rIns="0" bIns="0" rtlCol="0" anchor="ctr"/>
          <a:lstStyle/>
          <a:p>
            <a:pPr indent="0" marL="0">
              <a:buNone/>
            </a:pPr>
            <a:r>
              <a:rPr lang="en-US" sz="1350" dirty="0">
                <a:solidFill>
                  <a:srgbClr val="E3EEFB"/>
                </a:solidFill>
                <a:latin typeface="Courier New" pitchFamily="34" charset="0"/>
                <a:ea typeface="Courier New" pitchFamily="34" charset="-122"/>
                <a:cs typeface="Courier New" pitchFamily="34" charset="-120"/>
              </a:rPr>
              <a:t>}</a:t>
            </a:r>
            <a:endParaRPr lang="en-US" sz="1350" dirty="0"/>
          </a:p>
        </p:txBody>
      </p:sp>
      <p:sp>
        <p:nvSpPr>
          <p:cNvPr id="16" name="Text 14"/>
          <p:cNvSpPr txBox="1"/>
          <p:nvPr/>
        </p:nvSpPr>
        <p:spPr>
          <a:xfrm>
            <a:off x="1016000" y="4394200"/>
            <a:ext cx="5397500" cy="381000"/>
          </a:xfrm>
          <a:prstGeom prst="rect">
            <a:avLst/>
          </a:prstGeom>
          <a:noFill/>
          <a:ln/>
        </p:spPr>
        <p:txBody>
          <a:bodyPr wrap="square" lIns="0" tIns="0" rIns="0" bIns="0" rtlCol="0" anchor="ctr"/>
          <a:lstStyle/>
          <a:p>
            <a:pPr indent="0" marL="0">
              <a:buNone/>
            </a:pPr>
            <a:r>
              <a:rPr lang="en-US" sz="1350" dirty="0">
                <a:solidFill>
                  <a:srgbClr val="FF7AB2"/>
                </a:solidFill>
                <a:latin typeface="Courier New" pitchFamily="34" charset="0"/>
                <a:ea typeface="Courier New" pitchFamily="34" charset="-122"/>
                <a:cs typeface="Courier New" pitchFamily="34" charset="-120"/>
              </a:rPr>
              <a:t>final </a:t>
            </a:r>
            <a:pPr indent="0" marL="0">
              <a:buNone/>
            </a:pPr>
            <a:r>
              <a:rPr lang="en-US" sz="1350" dirty="0">
                <a:solidFill>
                  <a:srgbClr val="E3EEFB"/>
                </a:solidFill>
                <a:latin typeface="Courier New" pitchFamily="34" charset="0"/>
                <a:ea typeface="Courier New" pitchFamily="34" charset="-122"/>
                <a:cs typeface="Courier New" pitchFamily="34" charset="-120"/>
              </a:rPr>
              <a:t>order = </a:t>
            </a:r>
            <a:pPr indent="0" marL="0">
              <a:buNone/>
            </a:pPr>
            <a:r>
              <a:rPr lang="en-US" sz="1350" dirty="0">
                <a:solidFill>
                  <a:srgbClr val="FFD479"/>
                </a:solidFill>
                <a:latin typeface="Courier New" pitchFamily="34" charset="0"/>
                <a:ea typeface="Courier New" pitchFamily="34" charset="-122"/>
                <a:cs typeface="Courier New" pitchFamily="34" charset="-120"/>
              </a:rPr>
              <a:t>orderBrochette</a:t>
            </a:r>
            <a:pPr indent="0" marL="0">
              <a:buNone/>
            </a:pPr>
            <a:r>
              <a:rPr lang="en-US" sz="1350" dirty="0">
                <a:solidFill>
                  <a:srgbClr val="E3EEFB"/>
                </a:solidFill>
                <a:latin typeface="Courier New" pitchFamily="34" charset="0"/>
                <a:ea typeface="Courier New" pitchFamily="34" charset="-122"/>
                <a:cs typeface="Courier New" pitchFamily="34" charset="-120"/>
              </a:rPr>
              <a:t>();</a:t>
            </a:r>
            <a:endParaRPr lang="en-US" sz="1350" dirty="0"/>
          </a:p>
        </p:txBody>
      </p:sp>
      <p:sp>
        <p:nvSpPr>
          <p:cNvPr id="17" name="Shape 15"/>
          <p:cNvSpPr/>
          <p:nvPr/>
        </p:nvSpPr>
        <p:spPr>
          <a:xfrm>
            <a:off x="6604000" y="4584700"/>
            <a:ext cx="292100" cy="0"/>
          </a:xfrm>
          <a:prstGeom prst="line">
            <a:avLst/>
          </a:prstGeom>
          <a:noFill/>
          <a:ln w="31750">
            <a:solidFill>
              <a:srgbClr val="54C5F8"/>
            </a:solidFill>
            <a:prstDash val="solid"/>
            <a:tailEnd type="triangle"/>
          </a:ln>
        </p:spPr>
      </p:sp>
      <p:sp>
        <p:nvSpPr>
          <p:cNvPr id="18" name="Text 16"/>
          <p:cNvSpPr txBox="1"/>
          <p:nvPr/>
        </p:nvSpPr>
        <p:spPr>
          <a:xfrm>
            <a:off x="6985000" y="4394200"/>
            <a:ext cx="4394200" cy="381000"/>
          </a:xfrm>
          <a:prstGeom prst="rect">
            <a:avLst/>
          </a:prstGeom>
          <a:noFill/>
          <a:ln/>
        </p:spPr>
        <p:txBody>
          <a:bodyPr wrap="square" lIns="0" tIns="0" rIns="0" bIns="0" rtlCol="0" anchor="ctr"/>
          <a:lstStyle/>
          <a:p>
            <a:pPr indent="0" marL="0">
              <a:buNone/>
            </a:pPr>
            <a:r>
              <a:rPr lang="en-US" sz="1150" dirty="0">
                <a:solidFill>
                  <a:srgbClr val="B8C4D9"/>
                </a:solidFill>
                <a:latin typeface="Arial" pitchFamily="34" charset="0"/>
                <a:ea typeface="Arial" pitchFamily="34" charset="-122"/>
                <a:cs typeface="Arial" pitchFamily="34" charset="-120"/>
              </a:rPr>
              <a:t>Starts it. You get the </a:t>
            </a:r>
            <a:pPr indent="0" marL="0">
              <a:buNone/>
            </a:pPr>
            <a:r>
              <a:rPr lang="en-US" sz="1150" b="1" dirty="0">
                <a:solidFill>
                  <a:srgbClr val="54C5F8"/>
                </a:solidFill>
                <a:latin typeface="Arial" pitchFamily="34" charset="0"/>
                <a:ea typeface="Arial" pitchFamily="34" charset="-122"/>
                <a:cs typeface="Arial" pitchFamily="34" charset="-120"/>
              </a:rPr>
              <a:t>ticket</a:t>
            </a:r>
            <a:pPr indent="0" marL="0">
              <a:buNone/>
            </a:pPr>
            <a:r>
              <a:rPr lang="en-US" sz="1150" dirty="0">
                <a:solidFill>
                  <a:srgbClr val="B8C4D9"/>
                </a:solidFill>
                <a:latin typeface="Arial" pitchFamily="34" charset="0"/>
                <a:ea typeface="Arial" pitchFamily="34" charset="-122"/>
                <a:cs typeface="Arial" pitchFamily="34" charset="-120"/>
              </a:rPr>
              <a:t> (the Future), not the food.</a:t>
            </a:r>
            <a:endParaRPr lang="en-US" sz="1150" dirty="0"/>
          </a:p>
        </p:txBody>
      </p:sp>
      <p:sp>
        <p:nvSpPr>
          <p:cNvPr id="19" name="Text 17"/>
          <p:cNvSpPr txBox="1"/>
          <p:nvPr/>
        </p:nvSpPr>
        <p:spPr>
          <a:xfrm>
            <a:off x="1016000" y="4826000"/>
            <a:ext cx="5397500" cy="381000"/>
          </a:xfrm>
          <a:prstGeom prst="rect">
            <a:avLst/>
          </a:prstGeom>
          <a:noFill/>
          <a:ln/>
        </p:spPr>
        <p:txBody>
          <a:bodyPr wrap="square" lIns="0" tIns="0" rIns="0" bIns="0" rtlCol="0" anchor="ctr"/>
          <a:lstStyle/>
          <a:p>
            <a:pPr indent="0" marL="0">
              <a:buNone/>
            </a:pPr>
            <a:r>
              <a:rPr lang="en-US" sz="1350" dirty="0">
                <a:solidFill>
                  <a:srgbClr val="FFD479"/>
                </a:solidFill>
                <a:latin typeface="Courier New" pitchFamily="34" charset="0"/>
                <a:ea typeface="Courier New" pitchFamily="34" charset="-122"/>
                <a:cs typeface="Courier New" pitchFamily="34" charset="-120"/>
              </a:rPr>
              <a:t>print</a:t>
            </a:r>
            <a:pPr indent="0" marL="0">
              <a:buNone/>
            </a:pPr>
            <a:r>
              <a:rPr lang="en-US" sz="1350" dirty="0">
                <a:solidFill>
                  <a:srgbClr val="E3EEFB"/>
                </a:solidFill>
                <a:latin typeface="Courier New" pitchFamily="34" charset="0"/>
                <a:ea typeface="Courier New" pitchFamily="34" charset="-122"/>
                <a:cs typeface="Courier New" pitchFamily="34" charset="-120"/>
              </a:rPr>
              <a:t>(</a:t>
            </a:r>
            <a:pPr indent="0" marL="0">
              <a:buNone/>
            </a:pPr>
            <a:r>
              <a:rPr lang="en-US" sz="1350" dirty="0">
                <a:solidFill>
                  <a:srgbClr val="9CE29C"/>
                </a:solidFill>
                <a:latin typeface="Courier New" pitchFamily="34" charset="0"/>
                <a:ea typeface="Courier New" pitchFamily="34" charset="-122"/>
                <a:cs typeface="Courier New" pitchFamily="34" charset="-120"/>
              </a:rPr>
              <a:t>'You chat with friends'</a:t>
            </a:r>
            <a:pPr indent="0" marL="0">
              <a:buNone/>
            </a:pPr>
            <a:r>
              <a:rPr lang="en-US" sz="1350" dirty="0">
                <a:solidFill>
                  <a:srgbClr val="E3EEFB"/>
                </a:solidFill>
                <a:latin typeface="Courier New" pitchFamily="34" charset="0"/>
                <a:ea typeface="Courier New" pitchFamily="34" charset="-122"/>
                <a:cs typeface="Courier New" pitchFamily="34" charset="-120"/>
              </a:rPr>
              <a:t>);</a:t>
            </a:r>
            <a:endParaRPr lang="en-US" sz="1350" dirty="0"/>
          </a:p>
        </p:txBody>
      </p:sp>
      <p:sp>
        <p:nvSpPr>
          <p:cNvPr id="20" name="Shape 18"/>
          <p:cNvSpPr/>
          <p:nvPr/>
        </p:nvSpPr>
        <p:spPr>
          <a:xfrm>
            <a:off x="6604000" y="5016500"/>
            <a:ext cx="292100" cy="0"/>
          </a:xfrm>
          <a:prstGeom prst="line">
            <a:avLst/>
          </a:prstGeom>
          <a:noFill/>
          <a:ln w="31750">
            <a:solidFill>
              <a:srgbClr val="54C5F8"/>
            </a:solidFill>
            <a:prstDash val="solid"/>
            <a:tailEnd type="triangle"/>
          </a:ln>
        </p:spPr>
      </p:sp>
      <p:sp>
        <p:nvSpPr>
          <p:cNvPr id="21" name="Text 19"/>
          <p:cNvSpPr txBox="1"/>
          <p:nvPr/>
        </p:nvSpPr>
        <p:spPr>
          <a:xfrm>
            <a:off x="6985000" y="4826000"/>
            <a:ext cx="4394200" cy="381000"/>
          </a:xfrm>
          <a:prstGeom prst="rect">
            <a:avLst/>
          </a:prstGeom>
          <a:noFill/>
          <a:ln/>
        </p:spPr>
        <p:txBody>
          <a:bodyPr wrap="square" lIns="0" tIns="0" rIns="0" bIns="0" rtlCol="0" anchor="ctr"/>
          <a:lstStyle/>
          <a:p>
            <a:pPr indent="0" marL="0">
              <a:buNone/>
            </a:pPr>
            <a:r>
              <a:rPr lang="en-US" sz="1150" dirty="0">
                <a:solidFill>
                  <a:srgbClr val="B8C4D9"/>
                </a:solidFill>
                <a:latin typeface="Arial" pitchFamily="34" charset="0"/>
                <a:ea typeface="Arial" pitchFamily="34" charset="-122"/>
                <a:cs typeface="Arial" pitchFamily="34" charset="-120"/>
              </a:rPr>
              <a:t>Runs straight away: </a:t>
            </a:r>
            <a:pPr indent="0" marL="0">
              <a:buNone/>
            </a:pPr>
            <a:r>
              <a:rPr lang="en-US" sz="1150" b="1" dirty="0">
                <a:solidFill>
                  <a:srgbClr val="54C5F8"/>
                </a:solidFill>
                <a:latin typeface="Arial" pitchFamily="34" charset="0"/>
                <a:ea typeface="Arial" pitchFamily="34" charset="-122"/>
                <a:cs typeface="Arial" pitchFamily="34" charset="-120"/>
              </a:rPr>
              <a:t>nothing froze</a:t>
            </a:r>
            <a:pPr indent="0" marL="0">
              <a:buNone/>
            </a:pPr>
            <a:r>
              <a:rPr lang="en-US" sz="1150" dirty="0">
                <a:solidFill>
                  <a:srgbClr val="B8C4D9"/>
                </a:solidFill>
                <a:latin typeface="Arial" pitchFamily="34" charset="0"/>
                <a:ea typeface="Arial" pitchFamily="34" charset="-122"/>
                <a:cs typeface="Arial" pitchFamily="34" charset="-120"/>
              </a:rPr>
              <a:t> while it cooks.</a:t>
            </a:r>
            <a:endParaRPr lang="en-US" sz="1150" dirty="0"/>
          </a:p>
        </p:txBody>
      </p:sp>
      <p:sp>
        <p:nvSpPr>
          <p:cNvPr id="22" name="Text 20"/>
          <p:cNvSpPr txBox="1"/>
          <p:nvPr/>
        </p:nvSpPr>
        <p:spPr>
          <a:xfrm>
            <a:off x="1016000" y="5257800"/>
            <a:ext cx="5397500" cy="381000"/>
          </a:xfrm>
          <a:prstGeom prst="rect">
            <a:avLst/>
          </a:prstGeom>
          <a:noFill/>
          <a:ln/>
        </p:spPr>
        <p:txBody>
          <a:bodyPr wrap="square" lIns="0" tIns="0" rIns="0" bIns="0" rtlCol="0" anchor="ctr"/>
          <a:lstStyle/>
          <a:p>
            <a:pPr indent="0" marL="0">
              <a:buNone/>
            </a:pPr>
            <a:r>
              <a:rPr lang="en-US" sz="1350" dirty="0">
                <a:solidFill>
                  <a:srgbClr val="FF7AB2"/>
                </a:solidFill>
                <a:latin typeface="Courier New" pitchFamily="34" charset="0"/>
                <a:ea typeface="Courier New" pitchFamily="34" charset="-122"/>
                <a:cs typeface="Courier New" pitchFamily="34" charset="-120"/>
              </a:rPr>
              <a:t>final </a:t>
            </a:r>
            <a:pPr indent="0" marL="0">
              <a:buNone/>
            </a:pPr>
            <a:r>
              <a:rPr lang="en-US" sz="1350" dirty="0">
                <a:solidFill>
                  <a:srgbClr val="E3EEFB"/>
                </a:solidFill>
                <a:latin typeface="Courier New" pitchFamily="34" charset="0"/>
                <a:ea typeface="Courier New" pitchFamily="34" charset="-122"/>
                <a:cs typeface="Courier New" pitchFamily="34" charset="-120"/>
              </a:rPr>
              <a:t>food = </a:t>
            </a:r>
            <a:pPr indent="0" marL="0">
              <a:buNone/>
            </a:pPr>
            <a:r>
              <a:rPr lang="en-US" sz="1350" dirty="0">
                <a:solidFill>
                  <a:srgbClr val="FF7AB2"/>
                </a:solidFill>
                <a:latin typeface="Courier New" pitchFamily="34" charset="0"/>
                <a:ea typeface="Courier New" pitchFamily="34" charset="-122"/>
                <a:cs typeface="Courier New" pitchFamily="34" charset="-120"/>
              </a:rPr>
              <a:t>await </a:t>
            </a:r>
            <a:pPr indent="0" marL="0">
              <a:buNone/>
            </a:pPr>
            <a:r>
              <a:rPr lang="en-US" sz="1350" dirty="0">
                <a:solidFill>
                  <a:srgbClr val="E3EEFB"/>
                </a:solidFill>
                <a:latin typeface="Courier New" pitchFamily="34" charset="0"/>
                <a:ea typeface="Courier New" pitchFamily="34" charset="-122"/>
                <a:cs typeface="Courier New" pitchFamily="34" charset="-120"/>
              </a:rPr>
              <a:t>order;</a:t>
            </a:r>
            <a:endParaRPr lang="en-US" sz="1350" dirty="0"/>
          </a:p>
        </p:txBody>
      </p:sp>
      <p:sp>
        <p:nvSpPr>
          <p:cNvPr id="23" name="Shape 21"/>
          <p:cNvSpPr/>
          <p:nvPr/>
        </p:nvSpPr>
        <p:spPr>
          <a:xfrm>
            <a:off x="6604000" y="5448300"/>
            <a:ext cx="292100" cy="0"/>
          </a:xfrm>
          <a:prstGeom prst="line">
            <a:avLst/>
          </a:prstGeom>
          <a:noFill/>
          <a:ln w="31750">
            <a:solidFill>
              <a:srgbClr val="54C5F8"/>
            </a:solidFill>
            <a:prstDash val="solid"/>
            <a:tailEnd type="triangle"/>
          </a:ln>
        </p:spPr>
      </p:sp>
      <p:sp>
        <p:nvSpPr>
          <p:cNvPr id="24" name="Text 22"/>
          <p:cNvSpPr txBox="1"/>
          <p:nvPr/>
        </p:nvSpPr>
        <p:spPr>
          <a:xfrm>
            <a:off x="6985000" y="5257800"/>
            <a:ext cx="4394200" cy="381000"/>
          </a:xfrm>
          <a:prstGeom prst="rect">
            <a:avLst/>
          </a:prstGeom>
          <a:noFill/>
          <a:ln/>
        </p:spPr>
        <p:txBody>
          <a:bodyPr wrap="square" lIns="0" tIns="0" rIns="0" bIns="0" rtlCol="0" anchor="ctr"/>
          <a:lstStyle/>
          <a:p>
            <a:pPr indent="0" marL="0">
              <a:buNone/>
            </a:pPr>
            <a:r>
              <a:rPr lang="en-US" sz="1150" b="1" dirty="0">
                <a:solidFill>
                  <a:srgbClr val="54C5F8"/>
                </a:solidFill>
                <a:latin typeface="Arial" pitchFamily="34" charset="0"/>
                <a:ea typeface="Arial" pitchFamily="34" charset="-122"/>
                <a:cs typeface="Arial" pitchFamily="34" charset="-120"/>
              </a:rPr>
              <a:t>await</a:t>
            </a:r>
            <a:pPr indent="0" marL="0">
              <a:buNone/>
            </a:pPr>
            <a:r>
              <a:rPr lang="en-US" sz="1150" dirty="0">
                <a:solidFill>
                  <a:srgbClr val="B8C4D9"/>
                </a:solidFill>
                <a:latin typeface="Arial" pitchFamily="34" charset="0"/>
                <a:ea typeface="Arial" pitchFamily="34" charset="-122"/>
                <a:cs typeface="Arial" pitchFamily="34" charset="-120"/>
              </a:rPr>
              <a:t>: wait here until the food is ready, then take it.</a:t>
            </a:r>
            <a:endParaRPr lang="en-US" sz="1150" dirty="0"/>
          </a:p>
        </p:txBody>
      </p:sp>
      <p:sp>
        <p:nvSpPr>
          <p:cNvPr id="25" name="Text 23"/>
          <p:cNvSpPr txBox="1"/>
          <p:nvPr/>
        </p:nvSpPr>
        <p:spPr>
          <a:xfrm>
            <a:off x="1016000" y="5689600"/>
            <a:ext cx="5397500" cy="381000"/>
          </a:xfrm>
          <a:prstGeom prst="rect">
            <a:avLst/>
          </a:prstGeom>
          <a:noFill/>
          <a:ln/>
        </p:spPr>
        <p:txBody>
          <a:bodyPr wrap="square" lIns="0" tIns="0" rIns="0" bIns="0" rtlCol="0" anchor="ctr"/>
          <a:lstStyle/>
          <a:p>
            <a:pPr indent="0" marL="0">
              <a:buNone/>
            </a:pPr>
            <a:r>
              <a:rPr lang="en-US" sz="1350" dirty="0">
                <a:solidFill>
                  <a:srgbClr val="FFD479"/>
                </a:solidFill>
                <a:latin typeface="Courier New" pitchFamily="34" charset="0"/>
                <a:ea typeface="Courier New" pitchFamily="34" charset="-122"/>
                <a:cs typeface="Courier New" pitchFamily="34" charset="-120"/>
              </a:rPr>
              <a:t>print</a:t>
            </a:r>
            <a:pPr indent="0" marL="0">
              <a:buNone/>
            </a:pPr>
            <a:r>
              <a:rPr lang="en-US" sz="1350" dirty="0">
                <a:solidFill>
                  <a:srgbClr val="E3EEFB"/>
                </a:solidFill>
                <a:latin typeface="Courier New" pitchFamily="34" charset="0"/>
                <a:ea typeface="Courier New" pitchFamily="34" charset="-122"/>
                <a:cs typeface="Courier New" pitchFamily="34" charset="-120"/>
              </a:rPr>
              <a:t>(food);</a:t>
            </a:r>
            <a:endParaRPr lang="en-US" sz="1350" dirty="0"/>
          </a:p>
        </p:txBody>
      </p:sp>
      <p:sp>
        <p:nvSpPr>
          <p:cNvPr id="26" name="Shape 24"/>
          <p:cNvSpPr/>
          <p:nvPr/>
        </p:nvSpPr>
        <p:spPr>
          <a:xfrm>
            <a:off x="6604000" y="5880100"/>
            <a:ext cx="292100" cy="0"/>
          </a:xfrm>
          <a:prstGeom prst="line">
            <a:avLst/>
          </a:prstGeom>
          <a:noFill/>
          <a:ln w="31750">
            <a:solidFill>
              <a:srgbClr val="54C5F8"/>
            </a:solidFill>
            <a:prstDash val="solid"/>
            <a:tailEnd type="triangle"/>
          </a:ln>
        </p:spPr>
      </p:sp>
      <p:sp>
        <p:nvSpPr>
          <p:cNvPr id="27" name="Text 25"/>
          <p:cNvSpPr txBox="1"/>
          <p:nvPr/>
        </p:nvSpPr>
        <p:spPr>
          <a:xfrm>
            <a:off x="6985000" y="5689600"/>
            <a:ext cx="4394200" cy="381000"/>
          </a:xfrm>
          <a:prstGeom prst="rect">
            <a:avLst/>
          </a:prstGeom>
          <a:noFill/>
          <a:ln/>
        </p:spPr>
        <p:txBody>
          <a:bodyPr wrap="square" lIns="0" tIns="0" rIns="0" bIns="0" rtlCol="0" anchor="ctr"/>
          <a:lstStyle/>
          <a:p>
            <a:pPr indent="0" marL="0">
              <a:buNone/>
            </a:pPr>
            <a:r>
              <a:rPr lang="en-US" sz="1150" dirty="0">
                <a:solidFill>
                  <a:srgbClr val="B8C4D9"/>
                </a:solidFill>
                <a:latin typeface="Arial" pitchFamily="34" charset="0"/>
                <a:ea typeface="Arial" pitchFamily="34" charset="-122"/>
                <a:cs typeface="Arial" pitchFamily="34" charset="-120"/>
              </a:rPr>
              <a:t>Prints </a:t>
            </a:r>
            <a:pPr indent="0" marL="0">
              <a:buNone/>
            </a:pPr>
            <a:r>
              <a:rPr lang="en-US" sz="1150" b="1" dirty="0">
                <a:solidFill>
                  <a:srgbClr val="F4F7FB"/>
                </a:solidFill>
                <a:latin typeface="Arial" pitchFamily="34" charset="0"/>
                <a:ea typeface="Arial" pitchFamily="34" charset="-122"/>
                <a:cs typeface="Arial" pitchFamily="34" charset="-120"/>
              </a:rPr>
              <a:t>Your brochette is ready</a:t>
            </a:r>
            <a:pPr indent="0" marL="0">
              <a:buNone/>
            </a:pPr>
            <a:r>
              <a:rPr lang="en-US" sz="1150" dirty="0">
                <a:solidFill>
                  <a:srgbClr val="B8C4D9"/>
                </a:solidFill>
                <a:latin typeface="Arial" pitchFamily="34" charset="0"/>
                <a:ea typeface="Arial" pitchFamily="34" charset="-122"/>
                <a:cs typeface="Arial" pitchFamily="34" charset="-120"/>
              </a:rPr>
              <a: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0468D7"/>
                </a:solidFill>
                <a:latin typeface="Arial" pitchFamily="34" charset="0"/>
                <a:ea typeface="Arial" pitchFamily="34" charset="-122"/>
                <a:cs typeface="Arial" pitchFamily="34" charset="-120"/>
              </a:rPr>
              <a:t>ASKING THE SERVER</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600" b="1" dirty="0">
                <a:solidFill>
                  <a:srgbClr val="0E1220"/>
                </a:solidFill>
                <a:latin typeface="Arial" pitchFamily="34" charset="0"/>
                <a:ea typeface="Arial" pitchFamily="34" charset="-122"/>
                <a:cs typeface="Arial" pitchFamily="34" charset="-120"/>
              </a:rPr>
              <a:t>An API is a question you can type</a:t>
            </a:r>
            <a:endParaRPr lang="en-US" sz="3600" dirty="0"/>
          </a:p>
        </p:txBody>
      </p:sp>
      <p:sp>
        <p:nvSpPr>
          <p:cNvPr id="4" name="Shape 2"/>
          <p:cNvSpPr/>
          <p:nvPr/>
        </p:nvSpPr>
        <p:spPr>
          <a:xfrm>
            <a:off x="812800" y="1905000"/>
            <a:ext cx="10566400" cy="762000"/>
          </a:xfrm>
          <a:prstGeom prst="roundRect">
            <a:avLst>
              <a:gd name="adj" fmla="val 21600"/>
            </a:avLst>
          </a:prstGeom>
          <a:solidFill>
            <a:srgbClr val="0E1220"/>
          </a:solidFill>
          <a:ln w="12700">
            <a:solidFill>
              <a:srgbClr val="0E1220"/>
            </a:solidFill>
            <a:prstDash val="solid"/>
          </a:ln>
          <a:effectLst>
            <a:outerShdw sx="100000" sy="100000" kx="0" ky="0" algn="bl" rotWithShape="0" blurRad="279400" dist="101600" dir="5400000">
              <a:srgbClr val="0E1220">
                <a:alpha val="25000"/>
              </a:srgbClr>
            </a:outerShdw>
          </a:effectLst>
        </p:spPr>
      </p:sp>
      <p:sp>
        <p:nvSpPr>
          <p:cNvPr id="5" name="Text 3"/>
          <p:cNvSpPr txBox="1"/>
          <p:nvPr/>
        </p:nvSpPr>
        <p:spPr>
          <a:xfrm>
            <a:off x="1016000" y="1905000"/>
            <a:ext cx="10160000" cy="762000"/>
          </a:xfrm>
          <a:prstGeom prst="rect">
            <a:avLst/>
          </a:prstGeom>
          <a:noFill/>
          <a:ln/>
        </p:spPr>
        <p:txBody>
          <a:bodyPr wrap="square" lIns="0" tIns="0" rIns="0" bIns="0" rtlCol="0" anchor="ctr"/>
          <a:lstStyle/>
          <a:p>
            <a:pPr indent="0" marL="0">
              <a:buNone/>
            </a:pPr>
            <a:r>
              <a:rPr lang="en-US" sz="1250" dirty="0">
                <a:solidFill>
                  <a:srgbClr val="E3EEFB"/>
                </a:solidFill>
                <a:latin typeface="Courier New" pitchFamily="34" charset="0"/>
                <a:ea typeface="Courier New" pitchFamily="34" charset="-122"/>
                <a:cs typeface="Courier New" pitchFamily="34" charset="-120"/>
              </a:rPr>
              <a:t>api.open-meteo.com/v1/forecast</a:t>
            </a:r>
            <a:pPr indent="0" marL="0">
              <a:buNone/>
            </a:pPr>
            <a:r>
              <a:rPr lang="en-US" sz="1250" dirty="0">
                <a:solidFill>
                  <a:srgbClr val="FFD479"/>
                </a:solidFill>
                <a:latin typeface="Courier New" pitchFamily="34" charset="0"/>
                <a:ea typeface="Courier New" pitchFamily="34" charset="-122"/>
                <a:cs typeface="Courier New" pitchFamily="34" charset="-120"/>
              </a:rPr>
              <a:t>?latitude=-1.94&amp;longitude=30.06</a:t>
            </a:r>
            <a:pPr indent="0" marL="0">
              <a:buNone/>
            </a:pPr>
            <a:r>
              <a:rPr lang="en-US" sz="1250" dirty="0">
                <a:solidFill>
                  <a:srgbClr val="9CE29C"/>
                </a:solidFill>
                <a:latin typeface="Courier New" pitchFamily="34" charset="0"/>
                <a:ea typeface="Courier New" pitchFamily="34" charset="-122"/>
                <a:cs typeface="Courier New" pitchFamily="34" charset="-120"/>
              </a:rPr>
              <a:t>&amp;current=temperature_2m,weather_code</a:t>
            </a:r>
            <a:endParaRPr lang="en-US" sz="1250" dirty="0"/>
          </a:p>
        </p:txBody>
      </p:sp>
      <p:sp>
        <p:nvSpPr>
          <p:cNvPr id="6" name="Shape 4"/>
          <p:cNvSpPr/>
          <p:nvPr/>
        </p:nvSpPr>
        <p:spPr>
          <a:xfrm>
            <a:off x="812800" y="2921000"/>
            <a:ext cx="3378200" cy="1397000"/>
          </a:xfrm>
          <a:prstGeom prst="roundRect">
            <a:avLst>
              <a:gd name="adj" fmla="val 11782"/>
            </a:avLst>
          </a:prstGeom>
          <a:solidFill>
            <a:srgbClr val="FFFFFF"/>
          </a:solidFill>
          <a:ln w="12700">
            <a:solidFill>
              <a:srgbClr val="E1E7F0"/>
            </a:solidFill>
            <a:prstDash val="solid"/>
          </a:ln>
        </p:spPr>
      </p:sp>
      <p:sp>
        <p:nvSpPr>
          <p:cNvPr id="7" name="Text 5"/>
          <p:cNvSpPr txBox="1"/>
          <p:nvPr/>
        </p:nvSpPr>
        <p:spPr>
          <a:xfrm>
            <a:off x="1041400" y="3111500"/>
            <a:ext cx="2921000" cy="215900"/>
          </a:xfrm>
          <a:prstGeom prst="rect">
            <a:avLst/>
          </a:prstGeom>
          <a:noFill/>
          <a:ln/>
        </p:spPr>
        <p:txBody>
          <a:bodyPr wrap="square" lIns="0" tIns="0" rIns="0" bIns="0" rtlCol="0" anchor="t"/>
          <a:lstStyle/>
          <a:p>
            <a:pPr indent="0" marL="0">
              <a:buNone/>
            </a:pPr>
            <a:r>
              <a:rPr lang="en-US" sz="1100" b="1" spc="300" kern="0" dirty="0">
                <a:solidFill>
                  <a:srgbClr val="54C5F8"/>
                </a:solidFill>
                <a:latin typeface="Arial" pitchFamily="34" charset="0"/>
                <a:ea typeface="Arial" pitchFamily="34" charset="-122"/>
                <a:cs typeface="Arial" pitchFamily="34" charset="-120"/>
              </a:rPr>
              <a:t>THE SERVER</a:t>
            </a:r>
            <a:endParaRPr lang="en-US" sz="1100" dirty="0"/>
          </a:p>
        </p:txBody>
      </p:sp>
      <p:sp>
        <p:nvSpPr>
          <p:cNvPr id="8" name="Text 6"/>
          <p:cNvSpPr txBox="1"/>
          <p:nvPr/>
        </p:nvSpPr>
        <p:spPr>
          <a:xfrm>
            <a:off x="1041400" y="3390900"/>
            <a:ext cx="2921000" cy="825500"/>
          </a:xfrm>
          <a:prstGeom prst="rect">
            <a:avLst/>
          </a:prstGeom>
          <a:noFill/>
          <a:ln/>
        </p:spPr>
        <p:txBody>
          <a:bodyPr wrap="square" lIns="0" tIns="0" rIns="0" bIns="0" rtlCol="0" anchor="t"/>
          <a:lstStyle/>
          <a:p>
            <a:pPr indent="0" marL="0">
              <a:lnSpc>
                <a:spcPct val="115000"/>
              </a:lnSpc>
              <a:buNone/>
            </a:pPr>
            <a:r>
              <a:rPr lang="en-US" sz="1350" dirty="0">
                <a:solidFill>
                  <a:srgbClr val="0E1220"/>
                </a:solidFill>
                <a:latin typeface="Arial" pitchFamily="34" charset="0"/>
                <a:ea typeface="Arial" pitchFamily="34" charset="-122"/>
                <a:cs typeface="Arial" pitchFamily="34" charset="-120"/>
              </a:rPr>
              <a:t>Who you ask: Open-Meteo, a free weather service. No account needed.</a:t>
            </a:r>
            <a:endParaRPr lang="en-US" sz="1350" dirty="0"/>
          </a:p>
        </p:txBody>
      </p:sp>
      <p:sp>
        <p:nvSpPr>
          <p:cNvPr id="9" name="Shape 7"/>
          <p:cNvSpPr/>
          <p:nvPr/>
        </p:nvSpPr>
        <p:spPr>
          <a:xfrm>
            <a:off x="4406900" y="2921000"/>
            <a:ext cx="3378200" cy="1397000"/>
          </a:xfrm>
          <a:prstGeom prst="roundRect">
            <a:avLst>
              <a:gd name="adj" fmla="val 11782"/>
            </a:avLst>
          </a:prstGeom>
          <a:solidFill>
            <a:srgbClr val="FFFFFF"/>
          </a:solidFill>
          <a:ln w="12700">
            <a:solidFill>
              <a:srgbClr val="E1E7F0"/>
            </a:solidFill>
            <a:prstDash val="solid"/>
          </a:ln>
        </p:spPr>
      </p:sp>
      <p:sp>
        <p:nvSpPr>
          <p:cNvPr id="10" name="Text 8"/>
          <p:cNvSpPr txBox="1"/>
          <p:nvPr/>
        </p:nvSpPr>
        <p:spPr>
          <a:xfrm>
            <a:off x="4635500" y="3111500"/>
            <a:ext cx="2921000" cy="215900"/>
          </a:xfrm>
          <a:prstGeom prst="rect">
            <a:avLst/>
          </a:prstGeom>
          <a:noFill/>
          <a:ln/>
        </p:spPr>
        <p:txBody>
          <a:bodyPr wrap="square" lIns="0" tIns="0" rIns="0" bIns="0" rtlCol="0" anchor="t"/>
          <a:lstStyle/>
          <a:p>
            <a:pPr indent="0" marL="0">
              <a:buNone/>
            </a:pPr>
            <a:r>
              <a:rPr lang="en-US" sz="1100" b="1" spc="300" kern="0" dirty="0">
                <a:solidFill>
                  <a:srgbClr val="C79A1C"/>
                </a:solidFill>
                <a:latin typeface="Arial" pitchFamily="34" charset="0"/>
                <a:ea typeface="Arial" pitchFamily="34" charset="-122"/>
                <a:cs typeface="Arial" pitchFamily="34" charset="-120"/>
              </a:rPr>
              <a:t>WHERE</a:t>
            </a:r>
            <a:endParaRPr lang="en-US" sz="1100" dirty="0"/>
          </a:p>
        </p:txBody>
      </p:sp>
      <p:sp>
        <p:nvSpPr>
          <p:cNvPr id="11" name="Text 9"/>
          <p:cNvSpPr txBox="1"/>
          <p:nvPr/>
        </p:nvSpPr>
        <p:spPr>
          <a:xfrm>
            <a:off x="4635500" y="3390900"/>
            <a:ext cx="2921000" cy="825500"/>
          </a:xfrm>
          <a:prstGeom prst="rect">
            <a:avLst/>
          </a:prstGeom>
          <a:noFill/>
          <a:ln/>
        </p:spPr>
        <p:txBody>
          <a:bodyPr wrap="square" lIns="0" tIns="0" rIns="0" bIns="0" rtlCol="0" anchor="t"/>
          <a:lstStyle/>
          <a:p>
            <a:pPr indent="0" marL="0">
              <a:lnSpc>
                <a:spcPct val="115000"/>
              </a:lnSpc>
              <a:buNone/>
            </a:pPr>
            <a:r>
              <a:rPr lang="en-US" sz="1350" dirty="0">
                <a:solidFill>
                  <a:srgbClr val="0E1220"/>
                </a:solidFill>
                <a:latin typeface="Arial" pitchFamily="34" charset="0"/>
                <a:ea typeface="Arial" pitchFamily="34" charset="-122"/>
                <a:cs typeface="Arial" pitchFamily="34" charset="-120"/>
              </a:rPr>
              <a:t>latitude and longitude: Kigali. Change them and you get Huye.</a:t>
            </a:r>
            <a:endParaRPr lang="en-US" sz="1350" dirty="0"/>
          </a:p>
        </p:txBody>
      </p:sp>
      <p:sp>
        <p:nvSpPr>
          <p:cNvPr id="12" name="Shape 10"/>
          <p:cNvSpPr/>
          <p:nvPr/>
        </p:nvSpPr>
        <p:spPr>
          <a:xfrm>
            <a:off x="8001000" y="2921000"/>
            <a:ext cx="3378200" cy="1397000"/>
          </a:xfrm>
          <a:prstGeom prst="roundRect">
            <a:avLst>
              <a:gd name="adj" fmla="val 11782"/>
            </a:avLst>
          </a:prstGeom>
          <a:solidFill>
            <a:srgbClr val="FFFFFF"/>
          </a:solidFill>
          <a:ln w="12700">
            <a:solidFill>
              <a:srgbClr val="E1E7F0"/>
            </a:solidFill>
            <a:prstDash val="solid"/>
          </a:ln>
        </p:spPr>
      </p:sp>
      <p:sp>
        <p:nvSpPr>
          <p:cNvPr id="13" name="Text 11"/>
          <p:cNvSpPr txBox="1"/>
          <p:nvPr/>
        </p:nvSpPr>
        <p:spPr>
          <a:xfrm>
            <a:off x="8229600" y="3111500"/>
            <a:ext cx="2921000" cy="215900"/>
          </a:xfrm>
          <a:prstGeom prst="rect">
            <a:avLst/>
          </a:prstGeom>
          <a:noFill/>
          <a:ln/>
        </p:spPr>
        <p:txBody>
          <a:bodyPr wrap="square" lIns="0" tIns="0" rIns="0" bIns="0" rtlCol="0" anchor="t"/>
          <a:lstStyle/>
          <a:p>
            <a:pPr indent="0" marL="0">
              <a:buNone/>
            </a:pPr>
            <a:r>
              <a:rPr lang="en-US" sz="1100" b="1" spc="300" kern="0" dirty="0">
                <a:solidFill>
                  <a:srgbClr val="2E8B57"/>
                </a:solidFill>
                <a:latin typeface="Arial" pitchFamily="34" charset="0"/>
                <a:ea typeface="Arial" pitchFamily="34" charset="-122"/>
                <a:cs typeface="Arial" pitchFamily="34" charset="-120"/>
              </a:rPr>
              <a:t>WHAT</a:t>
            </a:r>
            <a:endParaRPr lang="en-US" sz="1100" dirty="0"/>
          </a:p>
        </p:txBody>
      </p:sp>
      <p:sp>
        <p:nvSpPr>
          <p:cNvPr id="14" name="Text 12"/>
          <p:cNvSpPr txBox="1"/>
          <p:nvPr/>
        </p:nvSpPr>
        <p:spPr>
          <a:xfrm>
            <a:off x="8229600" y="3390900"/>
            <a:ext cx="2921000" cy="825500"/>
          </a:xfrm>
          <a:prstGeom prst="rect">
            <a:avLst/>
          </a:prstGeom>
          <a:noFill/>
          <a:ln/>
        </p:spPr>
        <p:txBody>
          <a:bodyPr wrap="square" lIns="0" tIns="0" rIns="0" bIns="0" rtlCol="0" anchor="t"/>
          <a:lstStyle/>
          <a:p>
            <a:pPr indent="0" marL="0">
              <a:lnSpc>
                <a:spcPct val="115000"/>
              </a:lnSpc>
              <a:buNone/>
            </a:pPr>
            <a:r>
              <a:rPr lang="en-US" sz="1350" dirty="0">
                <a:solidFill>
                  <a:srgbClr val="0E1220"/>
                </a:solidFill>
                <a:latin typeface="Arial" pitchFamily="34" charset="0"/>
                <a:ea typeface="Arial" pitchFamily="34" charset="-122"/>
                <a:cs typeface="Arial" pitchFamily="34" charset="-120"/>
              </a:rPr>
              <a:t>Which values you want: temperature, sky, humidity, wind.</a:t>
            </a:r>
            <a:endParaRPr lang="en-US" sz="1350" dirty="0"/>
          </a:p>
        </p:txBody>
      </p:sp>
      <p:sp>
        <p:nvSpPr>
          <p:cNvPr id="15" name="Shape 13"/>
          <p:cNvSpPr/>
          <p:nvPr/>
        </p:nvSpPr>
        <p:spPr>
          <a:xfrm>
            <a:off x="812800" y="4635500"/>
            <a:ext cx="10566400" cy="635000"/>
          </a:xfrm>
          <a:prstGeom prst="roundRect">
            <a:avLst>
              <a:gd name="adj" fmla="val 21600"/>
            </a:avLst>
          </a:prstGeom>
          <a:solidFill>
            <a:srgbClr val="0468D7"/>
          </a:solidFill>
          <a:ln w="12700">
            <a:solidFill>
              <a:srgbClr val="0468D7"/>
            </a:solidFill>
            <a:prstDash val="solid"/>
          </a:ln>
          <a:effectLst>
            <a:outerShdw sx="100000" sy="100000" kx="0" ky="0" algn="bl" rotWithShape="0" blurRad="330200" dist="76200" dir="5400000">
              <a:srgbClr val="0468D7">
                <a:alpha val="40000"/>
              </a:srgbClr>
            </a:outerShdw>
          </a:effectLst>
        </p:spPr>
      </p:sp>
      <p:sp>
        <p:nvSpPr>
          <p:cNvPr id="16" name="Text 14"/>
          <p:cNvSpPr txBox="1"/>
          <p:nvPr/>
        </p:nvSpPr>
        <p:spPr>
          <a:xfrm>
            <a:off x="1066800" y="4635500"/>
            <a:ext cx="10058400" cy="635000"/>
          </a:xfrm>
          <a:prstGeom prst="rect">
            <a:avLst/>
          </a:prstGeom>
          <a:noFill/>
          <a:ln/>
        </p:spPr>
        <p:txBody>
          <a:bodyPr wrap="square" lIns="0" tIns="0" rIns="0" bIns="0" rtlCol="0" anchor="ctr"/>
          <a:lstStyle/>
          <a:p>
            <a:pPr indent="0" marL="0">
              <a:buNone/>
            </a:pPr>
            <a:r>
              <a:rPr lang="en-US" sz="1350" b="1" dirty="0">
                <a:solidFill>
                  <a:srgbClr val="F4F7FB"/>
                </a:solidFill>
                <a:latin typeface="Arial" pitchFamily="34" charset="0"/>
                <a:ea typeface="Arial" pitchFamily="34" charset="-122"/>
                <a:cs typeface="Arial" pitchFamily="34" charset="-120"/>
              </a:rPr>
              <a:t>Try it:  </a:t>
            </a:r>
            <a:pPr indent="0" marL="0">
              <a:buNone/>
            </a:pPr>
            <a:r>
              <a:rPr lang="en-US" sz="1350" dirty="0">
                <a:solidFill>
                  <a:srgbClr val="E3EEFB"/>
                </a:solidFill>
                <a:latin typeface="Arial" pitchFamily="34" charset="0"/>
                <a:ea typeface="Arial" pitchFamily="34" charset="-122"/>
                <a:cs typeface="Arial" pitchFamily="34" charset="-120"/>
              </a:rPr>
              <a:t>paste the address into Chrome. The server answers with plain text in a format called JSON. That is step 1 of the guide.</a:t>
            </a:r>
            <a:endParaRPr lang="en-US" sz="1350" dirty="0"/>
          </a:p>
        </p:txBody>
      </p:sp>
      <p:sp>
        <p:nvSpPr>
          <p:cNvPr id="17" name="Text 15"/>
          <p:cNvSpPr txBox="1"/>
          <p:nvPr/>
        </p:nvSpPr>
        <p:spPr>
          <a:xfrm>
            <a:off x="812800" y="5588000"/>
            <a:ext cx="10566400" cy="381000"/>
          </a:xfrm>
          <a:prstGeom prst="rect">
            <a:avLst/>
          </a:prstGeom>
          <a:noFill/>
          <a:ln/>
        </p:spPr>
        <p:txBody>
          <a:bodyPr wrap="square" lIns="0" tIns="0" rIns="0" bIns="0" rtlCol="0" anchor="t"/>
          <a:lstStyle/>
          <a:p>
            <a:pPr indent="0" marL="0">
              <a:buNone/>
            </a:pPr>
            <a:r>
              <a:rPr lang="en-US" sz="1300" i="1" dirty="0">
                <a:solidFill>
                  <a:srgbClr val="4A5568"/>
                </a:solidFill>
                <a:latin typeface="Arial" pitchFamily="34" charset="0"/>
                <a:ea typeface="Arial" pitchFamily="34" charset="-122"/>
                <a:cs typeface="Arial" pitchFamily="34" charset="-120"/>
              </a:rPr>
              <a:t>Every service your app uses (weather, maps, payments, messages) is reached through an API.</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54C5F8"/>
                </a:solidFill>
                <a:latin typeface="Arial" pitchFamily="34" charset="0"/>
                <a:ea typeface="Arial" pitchFamily="34" charset="-122"/>
                <a:cs typeface="Arial" pitchFamily="34" charset="-120"/>
              </a:rPr>
              <a:t>THE LANGUAGE OF SERVERS</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600" b="1" dirty="0">
                <a:solidFill>
                  <a:srgbClr val="F4F7FB"/>
                </a:solidFill>
                <a:latin typeface="Arial" pitchFamily="34" charset="0"/>
                <a:ea typeface="Arial" pitchFamily="34" charset="-122"/>
                <a:cs typeface="Arial" pitchFamily="34" charset="-120"/>
              </a:rPr>
              <a:t>JSON in, a Dart object out</a:t>
            </a:r>
            <a:endParaRPr lang="en-US" sz="3600" dirty="0"/>
          </a:p>
        </p:txBody>
      </p:sp>
      <p:sp>
        <p:nvSpPr>
          <p:cNvPr id="4" name="Shape 2"/>
          <p:cNvSpPr/>
          <p:nvPr/>
        </p:nvSpPr>
        <p:spPr>
          <a:xfrm>
            <a:off x="812800" y="1905000"/>
            <a:ext cx="4826000" cy="2984500"/>
          </a:xfrm>
          <a:prstGeom prst="roundRect">
            <a:avLst>
              <a:gd name="adj" fmla="val 4289"/>
            </a:avLst>
          </a:prstGeom>
          <a:solidFill>
            <a:srgbClr val="070A14"/>
          </a:solidFill>
          <a:ln w="12700">
            <a:solidFill>
              <a:srgbClr val="2E3A5C"/>
            </a:solidFill>
            <a:prstDash val="solid"/>
          </a:ln>
        </p:spPr>
      </p:sp>
      <p:sp>
        <p:nvSpPr>
          <p:cNvPr id="5" name="Text 3"/>
          <p:cNvSpPr txBox="1"/>
          <p:nvPr/>
        </p:nvSpPr>
        <p:spPr>
          <a:xfrm>
            <a:off x="977900" y="2019300"/>
            <a:ext cx="4495800" cy="2755900"/>
          </a:xfrm>
          <a:prstGeom prst="rect">
            <a:avLst/>
          </a:prstGeom>
          <a:noFill/>
          <a:ln/>
        </p:spPr>
        <p:txBody>
          <a:bodyPr wrap="square" lIns="0" tIns="0" rIns="0" bIns="0" rtlCol="0" anchor="ctr"/>
          <a:lstStyle/>
          <a:p>
            <a:pPr indent="0" marL="0">
              <a:lnSpc>
                <a:spcPct val="130000"/>
              </a:lnSpc>
              <a:buNone/>
            </a:pPr>
            <a:r>
              <a:rPr lang="en-US" sz="1450" dirty="0">
                <a:solidFill>
                  <a:srgbClr val="E3EEFB"/>
                </a:solidFill>
                <a:latin typeface="Courier New" pitchFamily="34" charset="0"/>
                <a:ea typeface="Courier New" pitchFamily="34" charset="-122"/>
                <a:cs typeface="Courier New" pitchFamily="34" charset="-120"/>
              </a:rPr>
              <a:t>"current": {</a:t>
            </a:r>
            <a:pPr indent="0" marL="0">
              <a:lnSpc>
                <a:spcPct val="130000"/>
              </a:lnSpc>
              <a:buNone/>
            </a:pPr>
            <a:endParaRPr lang="en-US" sz="1450" dirty="0"/>
          </a:p>
          <a:p>
            <a:pPr indent="0" marL="0">
              <a:lnSpc>
                <a:spcPct val="130000"/>
              </a:lnSpc>
              <a:buNone/>
            </a:pPr>
            <a:r>
              <a:rPr lang="en-US" sz="1450" dirty="0">
                <a:solidFill>
                  <a:srgbClr val="E3EEFB"/>
                </a:solidFill>
                <a:latin typeface="Courier New" pitchFamily="34" charset="0"/>
                <a:ea typeface="Courier New" pitchFamily="34" charset="-122"/>
                <a:cs typeface="Courier New" pitchFamily="34" charset="-120"/>
              </a:rPr>
              <a:t>  </a:t>
            </a:r>
            <a:pPr indent="0" marL="0">
              <a:lnSpc>
                <a:spcPct val="130000"/>
              </a:lnSpc>
              <a:buNone/>
            </a:pPr>
            <a:r>
              <a:rPr lang="en-US" sz="1450" dirty="0">
                <a:solidFill>
                  <a:srgbClr val="9CE29C"/>
                </a:solidFill>
                <a:latin typeface="Courier New" pitchFamily="34" charset="0"/>
                <a:ea typeface="Courier New" pitchFamily="34" charset="-122"/>
                <a:cs typeface="Courier New" pitchFamily="34" charset="-120"/>
              </a:rPr>
              <a:t>"temperature_2m"</a:t>
            </a:r>
            <a:pPr indent="0" marL="0">
              <a:lnSpc>
                <a:spcPct val="130000"/>
              </a:lnSpc>
              <a:buNone/>
            </a:pPr>
            <a:r>
              <a:rPr lang="en-US" sz="1450" dirty="0">
                <a:solidFill>
                  <a:srgbClr val="E3EEFB"/>
                </a:solidFill>
                <a:latin typeface="Courier New" pitchFamily="34" charset="0"/>
                <a:ea typeface="Courier New" pitchFamily="34" charset="-122"/>
                <a:cs typeface="Courier New" pitchFamily="34" charset="-120"/>
              </a:rPr>
              <a:t>: </a:t>
            </a:r>
            <a:pPr indent="0" marL="0">
              <a:lnSpc>
                <a:spcPct val="130000"/>
              </a:lnSpc>
              <a:buNone/>
            </a:pPr>
            <a:r>
              <a:rPr lang="en-US" sz="1450" dirty="0">
                <a:solidFill>
                  <a:srgbClr val="D9C97C"/>
                </a:solidFill>
                <a:latin typeface="Courier New" pitchFamily="34" charset="0"/>
                <a:ea typeface="Courier New" pitchFamily="34" charset="-122"/>
                <a:cs typeface="Courier New" pitchFamily="34" charset="-120"/>
              </a:rPr>
              <a:t>24.9</a:t>
            </a:r>
            <a:pPr indent="0" marL="0">
              <a:lnSpc>
                <a:spcPct val="130000"/>
              </a:lnSpc>
              <a:buNone/>
            </a:pPr>
            <a:r>
              <a:rPr lang="en-US" sz="145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450" dirty="0"/>
          </a:p>
          <a:p>
            <a:pPr indent="0" marL="0">
              <a:lnSpc>
                <a:spcPct val="130000"/>
              </a:lnSpc>
              <a:buNone/>
            </a:pPr>
            <a:r>
              <a:rPr lang="en-US" sz="1450" dirty="0">
                <a:solidFill>
                  <a:srgbClr val="E3EEFB"/>
                </a:solidFill>
                <a:latin typeface="Courier New" pitchFamily="34" charset="0"/>
                <a:ea typeface="Courier New" pitchFamily="34" charset="-122"/>
                <a:cs typeface="Courier New" pitchFamily="34" charset="-120"/>
              </a:rPr>
              <a:t>  </a:t>
            </a:r>
            <a:pPr indent="0" marL="0">
              <a:lnSpc>
                <a:spcPct val="130000"/>
              </a:lnSpc>
              <a:buNone/>
            </a:pPr>
            <a:r>
              <a:rPr lang="en-US" sz="1450" dirty="0">
                <a:solidFill>
                  <a:srgbClr val="9CE29C"/>
                </a:solidFill>
                <a:latin typeface="Courier New" pitchFamily="34" charset="0"/>
                <a:ea typeface="Courier New" pitchFamily="34" charset="-122"/>
                <a:cs typeface="Courier New" pitchFamily="34" charset="-120"/>
              </a:rPr>
              <a:t>"relative_humidity_2m"</a:t>
            </a:r>
            <a:pPr indent="0" marL="0">
              <a:lnSpc>
                <a:spcPct val="130000"/>
              </a:lnSpc>
              <a:buNone/>
            </a:pPr>
            <a:r>
              <a:rPr lang="en-US" sz="1450" dirty="0">
                <a:solidFill>
                  <a:srgbClr val="E3EEFB"/>
                </a:solidFill>
                <a:latin typeface="Courier New" pitchFamily="34" charset="0"/>
                <a:ea typeface="Courier New" pitchFamily="34" charset="-122"/>
                <a:cs typeface="Courier New" pitchFamily="34" charset="-120"/>
              </a:rPr>
              <a:t>: </a:t>
            </a:r>
            <a:pPr indent="0" marL="0">
              <a:lnSpc>
                <a:spcPct val="130000"/>
              </a:lnSpc>
              <a:buNone/>
            </a:pPr>
            <a:r>
              <a:rPr lang="en-US" sz="1450" dirty="0">
                <a:solidFill>
                  <a:srgbClr val="D9C97C"/>
                </a:solidFill>
                <a:latin typeface="Courier New" pitchFamily="34" charset="0"/>
                <a:ea typeface="Courier New" pitchFamily="34" charset="-122"/>
                <a:cs typeface="Courier New" pitchFamily="34" charset="-120"/>
              </a:rPr>
              <a:t>52</a:t>
            </a:r>
            <a:pPr indent="0" marL="0">
              <a:lnSpc>
                <a:spcPct val="130000"/>
              </a:lnSpc>
              <a:buNone/>
            </a:pPr>
            <a:r>
              <a:rPr lang="en-US" sz="145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450" dirty="0"/>
          </a:p>
          <a:p>
            <a:pPr indent="0" marL="0">
              <a:lnSpc>
                <a:spcPct val="130000"/>
              </a:lnSpc>
              <a:buNone/>
            </a:pPr>
            <a:r>
              <a:rPr lang="en-US" sz="1450" dirty="0">
                <a:solidFill>
                  <a:srgbClr val="E3EEFB"/>
                </a:solidFill>
                <a:latin typeface="Courier New" pitchFamily="34" charset="0"/>
                <a:ea typeface="Courier New" pitchFamily="34" charset="-122"/>
                <a:cs typeface="Courier New" pitchFamily="34" charset="-120"/>
              </a:rPr>
              <a:t>  </a:t>
            </a:r>
            <a:pPr indent="0" marL="0">
              <a:lnSpc>
                <a:spcPct val="130000"/>
              </a:lnSpc>
              <a:buNone/>
            </a:pPr>
            <a:r>
              <a:rPr lang="en-US" sz="1450" dirty="0">
                <a:solidFill>
                  <a:srgbClr val="9CE29C"/>
                </a:solidFill>
                <a:latin typeface="Courier New" pitchFamily="34" charset="0"/>
                <a:ea typeface="Courier New" pitchFamily="34" charset="-122"/>
                <a:cs typeface="Courier New" pitchFamily="34" charset="-120"/>
              </a:rPr>
              <a:t>"wind_speed_10m"</a:t>
            </a:r>
            <a:pPr indent="0" marL="0">
              <a:lnSpc>
                <a:spcPct val="130000"/>
              </a:lnSpc>
              <a:buNone/>
            </a:pPr>
            <a:r>
              <a:rPr lang="en-US" sz="1450" dirty="0">
                <a:solidFill>
                  <a:srgbClr val="E3EEFB"/>
                </a:solidFill>
                <a:latin typeface="Courier New" pitchFamily="34" charset="0"/>
                <a:ea typeface="Courier New" pitchFamily="34" charset="-122"/>
                <a:cs typeface="Courier New" pitchFamily="34" charset="-120"/>
              </a:rPr>
              <a:t>: </a:t>
            </a:r>
            <a:pPr indent="0" marL="0">
              <a:lnSpc>
                <a:spcPct val="130000"/>
              </a:lnSpc>
              <a:buNone/>
            </a:pPr>
            <a:r>
              <a:rPr lang="en-US" sz="1450" dirty="0">
                <a:solidFill>
                  <a:srgbClr val="D9C97C"/>
                </a:solidFill>
                <a:latin typeface="Courier New" pitchFamily="34" charset="0"/>
                <a:ea typeface="Courier New" pitchFamily="34" charset="-122"/>
                <a:cs typeface="Courier New" pitchFamily="34" charset="-120"/>
              </a:rPr>
              <a:t>11.7</a:t>
            </a:r>
            <a:pPr indent="0" marL="0">
              <a:lnSpc>
                <a:spcPct val="130000"/>
              </a:lnSpc>
              <a:buNone/>
            </a:pPr>
            <a:r>
              <a:rPr lang="en-US" sz="145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450" dirty="0"/>
          </a:p>
          <a:p>
            <a:pPr indent="0" marL="0">
              <a:lnSpc>
                <a:spcPct val="130000"/>
              </a:lnSpc>
              <a:buNone/>
            </a:pPr>
            <a:r>
              <a:rPr lang="en-US" sz="1450" dirty="0">
                <a:solidFill>
                  <a:srgbClr val="E3EEFB"/>
                </a:solidFill>
                <a:latin typeface="Courier New" pitchFamily="34" charset="0"/>
                <a:ea typeface="Courier New" pitchFamily="34" charset="-122"/>
                <a:cs typeface="Courier New" pitchFamily="34" charset="-120"/>
              </a:rPr>
              <a:t>  </a:t>
            </a:r>
            <a:pPr indent="0" marL="0">
              <a:lnSpc>
                <a:spcPct val="130000"/>
              </a:lnSpc>
              <a:buNone/>
            </a:pPr>
            <a:r>
              <a:rPr lang="en-US" sz="1450" dirty="0">
                <a:solidFill>
                  <a:srgbClr val="9CE29C"/>
                </a:solidFill>
                <a:latin typeface="Courier New" pitchFamily="34" charset="0"/>
                <a:ea typeface="Courier New" pitchFamily="34" charset="-122"/>
                <a:cs typeface="Courier New" pitchFamily="34" charset="-120"/>
              </a:rPr>
              <a:t>"weather_code"</a:t>
            </a:r>
            <a:pPr indent="0" marL="0">
              <a:lnSpc>
                <a:spcPct val="130000"/>
              </a:lnSpc>
              <a:buNone/>
            </a:pPr>
            <a:r>
              <a:rPr lang="en-US" sz="1450" dirty="0">
                <a:solidFill>
                  <a:srgbClr val="E3EEFB"/>
                </a:solidFill>
                <a:latin typeface="Courier New" pitchFamily="34" charset="0"/>
                <a:ea typeface="Courier New" pitchFamily="34" charset="-122"/>
                <a:cs typeface="Courier New" pitchFamily="34" charset="-120"/>
              </a:rPr>
              <a:t>: </a:t>
            </a:r>
            <a:pPr indent="0" marL="0">
              <a:lnSpc>
                <a:spcPct val="130000"/>
              </a:lnSpc>
              <a:buNone/>
            </a:pPr>
            <a:r>
              <a:rPr lang="en-US" sz="1450" dirty="0">
                <a:solidFill>
                  <a:srgbClr val="D9C97C"/>
                </a:solidFill>
                <a:latin typeface="Courier New" pitchFamily="34" charset="0"/>
                <a:ea typeface="Courier New" pitchFamily="34" charset="-122"/>
                <a:cs typeface="Courier New" pitchFamily="34" charset="-120"/>
              </a:rPr>
              <a:t>3</a:t>
            </a:r>
            <a:pPr indent="0" marL="0">
              <a:lnSpc>
                <a:spcPct val="130000"/>
              </a:lnSpc>
              <a:buNone/>
            </a:pPr>
            <a:endParaRPr lang="en-US" sz="1450" dirty="0"/>
          </a:p>
          <a:p>
            <a:pPr indent="0" marL="0">
              <a:lnSpc>
                <a:spcPct val="130000"/>
              </a:lnSpc>
              <a:buNone/>
            </a:pPr>
            <a:r>
              <a:rPr lang="en-US" sz="1450" dirty="0">
                <a:solidFill>
                  <a:srgbClr val="E3EEFB"/>
                </a:solidFill>
                <a:latin typeface="Courier New" pitchFamily="34" charset="0"/>
                <a:ea typeface="Courier New" pitchFamily="34" charset="-122"/>
                <a:cs typeface="Courier New" pitchFamily="34" charset="-120"/>
              </a:rPr>
              <a:t>}</a:t>
            </a:r>
            <a:endParaRPr lang="en-US" sz="1450" dirty="0"/>
          </a:p>
        </p:txBody>
      </p:sp>
      <p:sp>
        <p:nvSpPr>
          <p:cNvPr id="6" name="Text 4"/>
          <p:cNvSpPr txBox="1"/>
          <p:nvPr/>
        </p:nvSpPr>
        <p:spPr>
          <a:xfrm>
            <a:off x="812800" y="5016500"/>
            <a:ext cx="4826000" cy="215900"/>
          </a:xfrm>
          <a:prstGeom prst="rect">
            <a:avLst/>
          </a:prstGeom>
          <a:noFill/>
          <a:ln/>
        </p:spPr>
        <p:txBody>
          <a:bodyPr wrap="square" lIns="0" tIns="0" rIns="0" bIns="0" rtlCol="0" anchor="t"/>
          <a:lstStyle/>
          <a:p>
            <a:pPr indent="0" marL="0">
              <a:buNone/>
            </a:pPr>
            <a:r>
              <a:rPr lang="en-US" sz="1050" b="1" spc="300" kern="0" dirty="0">
                <a:solidFill>
                  <a:srgbClr val="54C5F8"/>
                </a:solidFill>
                <a:latin typeface="Arial" pitchFamily="34" charset="0"/>
                <a:ea typeface="Arial" pitchFamily="34" charset="-122"/>
                <a:cs typeface="Arial" pitchFamily="34" charset="-120"/>
              </a:rPr>
              <a:t>WHAT THE SERVER SENDS</a:t>
            </a:r>
            <a:endParaRPr lang="en-US" sz="1050" dirty="0"/>
          </a:p>
        </p:txBody>
      </p:sp>
      <p:sp>
        <p:nvSpPr>
          <p:cNvPr id="7" name="Shape 5"/>
          <p:cNvSpPr/>
          <p:nvPr/>
        </p:nvSpPr>
        <p:spPr>
          <a:xfrm>
            <a:off x="5715000" y="3397250"/>
            <a:ext cx="698500" cy="0"/>
          </a:xfrm>
          <a:prstGeom prst="line">
            <a:avLst/>
          </a:prstGeom>
          <a:noFill/>
          <a:ln w="31750">
            <a:solidFill>
              <a:srgbClr val="54C5F8"/>
            </a:solidFill>
            <a:prstDash val="solid"/>
            <a:tailEnd type="triangle"/>
          </a:ln>
        </p:spPr>
      </p:sp>
      <p:sp>
        <p:nvSpPr>
          <p:cNvPr id="8" name="Text 6"/>
          <p:cNvSpPr txBox="1"/>
          <p:nvPr/>
        </p:nvSpPr>
        <p:spPr>
          <a:xfrm>
            <a:off x="5651500" y="2984500"/>
            <a:ext cx="825500" cy="254000"/>
          </a:xfrm>
          <a:prstGeom prst="rect">
            <a:avLst/>
          </a:prstGeom>
          <a:noFill/>
          <a:ln/>
        </p:spPr>
        <p:txBody>
          <a:bodyPr wrap="square" lIns="0" tIns="0" rIns="0" bIns="0" rtlCol="0" anchor="t"/>
          <a:lstStyle/>
          <a:p>
            <a:pPr algn="ctr" indent="0" marL="0">
              <a:buNone/>
            </a:pPr>
            <a:r>
              <a:rPr lang="en-US" sz="1100" b="1" dirty="0">
                <a:solidFill>
                  <a:srgbClr val="54C5F8"/>
                </a:solidFill>
                <a:latin typeface="Courier New" pitchFamily="34" charset="0"/>
                <a:ea typeface="Courier New" pitchFamily="34" charset="-122"/>
                <a:cs typeface="Courier New" pitchFamily="34" charset="-120"/>
              </a:rPr>
              <a:t>fromJson</a:t>
            </a:r>
            <a:endParaRPr lang="en-US" sz="1100" dirty="0"/>
          </a:p>
        </p:txBody>
      </p:sp>
      <p:sp>
        <p:nvSpPr>
          <p:cNvPr id="9" name="Shape 7"/>
          <p:cNvSpPr/>
          <p:nvPr/>
        </p:nvSpPr>
        <p:spPr>
          <a:xfrm>
            <a:off x="6540500" y="1905000"/>
            <a:ext cx="4838700" cy="2984500"/>
          </a:xfrm>
          <a:prstGeom prst="roundRect">
            <a:avLst>
              <a:gd name="adj" fmla="val 4289"/>
            </a:avLst>
          </a:prstGeom>
          <a:solidFill>
            <a:srgbClr val="0B2348"/>
          </a:solidFill>
          <a:ln w="12700">
            <a:solidFill>
              <a:srgbClr val="2E3A5C"/>
            </a:solidFill>
            <a:prstDash val="solid"/>
          </a:ln>
        </p:spPr>
      </p:sp>
      <p:sp>
        <p:nvSpPr>
          <p:cNvPr id="10" name="Text 8"/>
          <p:cNvSpPr txBox="1"/>
          <p:nvPr/>
        </p:nvSpPr>
        <p:spPr>
          <a:xfrm>
            <a:off x="6705600" y="2019300"/>
            <a:ext cx="4508500" cy="2755900"/>
          </a:xfrm>
          <a:prstGeom prst="rect">
            <a:avLst/>
          </a:prstGeom>
          <a:noFill/>
          <a:ln/>
        </p:spPr>
        <p:txBody>
          <a:bodyPr wrap="square" lIns="0" tIns="0" rIns="0" bIns="0" rtlCol="0" anchor="ctr"/>
          <a:lstStyle/>
          <a:p>
            <a:pPr indent="0" marL="0">
              <a:lnSpc>
                <a:spcPct val="130000"/>
              </a:lnSpc>
              <a:buNone/>
            </a:pPr>
            <a:r>
              <a:rPr lang="en-US" sz="1300" dirty="0">
                <a:solidFill>
                  <a:srgbClr val="FF7AB2"/>
                </a:solidFill>
                <a:latin typeface="Courier New" pitchFamily="34" charset="0"/>
                <a:ea typeface="Courier New" pitchFamily="34" charset="-122"/>
                <a:cs typeface="Courier New" pitchFamily="34" charset="-120"/>
              </a:rPr>
              <a:t>factory </a:t>
            </a:r>
            <a:pPr indent="0" marL="0">
              <a:lnSpc>
                <a:spcPct val="130000"/>
              </a:lnSpc>
              <a:buNone/>
            </a:pPr>
            <a:r>
              <a:rPr lang="en-US" sz="1300" dirty="0">
                <a:solidFill>
                  <a:srgbClr val="54C5F8"/>
                </a:solidFill>
                <a:latin typeface="Courier New" pitchFamily="34" charset="0"/>
                <a:ea typeface="Courier New" pitchFamily="34" charset="-122"/>
                <a:cs typeface="Courier New" pitchFamily="34" charset="-120"/>
              </a:rPr>
              <a:t>Weather</a:t>
            </a:r>
            <a:pPr indent="0" marL="0">
              <a:lnSpc>
                <a:spcPct val="130000"/>
              </a:lnSpc>
              <a:buNone/>
            </a:pPr>
            <a:r>
              <a:rPr lang="en-US" sz="1300" dirty="0">
                <a:solidFill>
                  <a:srgbClr val="E3EEFB"/>
                </a:solidFill>
                <a:latin typeface="Courier New" pitchFamily="34" charset="0"/>
                <a:ea typeface="Courier New" pitchFamily="34" charset="-122"/>
                <a:cs typeface="Courier New" pitchFamily="34" charset="-120"/>
              </a:rPr>
              <a:t>.</a:t>
            </a:r>
            <a:pPr indent="0" marL="0">
              <a:lnSpc>
                <a:spcPct val="130000"/>
              </a:lnSpc>
              <a:buNone/>
            </a:pPr>
            <a:r>
              <a:rPr lang="en-US" sz="1300" dirty="0">
                <a:solidFill>
                  <a:srgbClr val="FFD479"/>
                </a:solidFill>
                <a:latin typeface="Courier New" pitchFamily="34" charset="0"/>
                <a:ea typeface="Courier New" pitchFamily="34" charset="-122"/>
                <a:cs typeface="Courier New" pitchFamily="34" charset="-120"/>
              </a:rPr>
              <a:t>fromJson</a:t>
            </a:r>
            <a:pPr indent="0" marL="0">
              <a:lnSpc>
                <a:spcPct val="130000"/>
              </a:lnSpc>
              <a:buNone/>
            </a:pPr>
            <a:r>
              <a:rPr lang="en-US" sz="1300" dirty="0">
                <a:solidFill>
                  <a:srgbClr val="E3EEFB"/>
                </a:solidFill>
                <a:latin typeface="Courier New" pitchFamily="34" charset="0"/>
                <a:ea typeface="Courier New" pitchFamily="34" charset="-122"/>
                <a:cs typeface="Courier New" pitchFamily="34" charset="-120"/>
              </a:rPr>
              <a:t>(json) {</a:t>
            </a:r>
            <a:pPr indent="0" marL="0">
              <a:lnSpc>
                <a:spcPct val="130000"/>
              </a:lnSpc>
              <a:buNone/>
            </a:pPr>
            <a:endParaRPr lang="en-US" sz="1300" dirty="0"/>
          </a:p>
          <a:p>
            <a:pPr indent="0" marL="0">
              <a:lnSpc>
                <a:spcPct val="130000"/>
              </a:lnSpc>
              <a:buNone/>
            </a:pPr>
            <a:r>
              <a:rPr lang="en-US" sz="1300" dirty="0">
                <a:solidFill>
                  <a:srgbClr val="FF7AB2"/>
                </a:solidFill>
                <a:latin typeface="Courier New" pitchFamily="34" charset="0"/>
                <a:ea typeface="Courier New" pitchFamily="34" charset="-122"/>
                <a:cs typeface="Courier New" pitchFamily="34" charset="-120"/>
              </a:rPr>
              <a:t>  return </a:t>
            </a:r>
            <a:pPr indent="0" marL="0">
              <a:lnSpc>
                <a:spcPct val="130000"/>
              </a:lnSpc>
              <a:buNone/>
            </a:pPr>
            <a:r>
              <a:rPr lang="en-US" sz="1300" dirty="0">
                <a:solidFill>
                  <a:srgbClr val="54C5F8"/>
                </a:solidFill>
                <a:latin typeface="Courier New" pitchFamily="34" charset="0"/>
                <a:ea typeface="Courier New" pitchFamily="34" charset="-122"/>
                <a:cs typeface="Courier New" pitchFamily="34" charset="-120"/>
              </a:rPr>
              <a:t>Weather</a:t>
            </a:r>
            <a:pPr indent="0" marL="0">
              <a:lnSpc>
                <a:spcPct val="130000"/>
              </a:lnSpc>
              <a:buNone/>
            </a:pPr>
            <a:r>
              <a:rPr lang="en-US" sz="13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300" dirty="0"/>
          </a:p>
          <a:p>
            <a:pPr indent="0" marL="0">
              <a:lnSpc>
                <a:spcPct val="130000"/>
              </a:lnSpc>
              <a:buNone/>
            </a:pPr>
            <a:r>
              <a:rPr lang="en-US" sz="1300" dirty="0">
                <a:solidFill>
                  <a:srgbClr val="E3EEFB"/>
                </a:solidFill>
                <a:latin typeface="Courier New" pitchFamily="34" charset="0"/>
                <a:ea typeface="Courier New" pitchFamily="34" charset="-122"/>
                <a:cs typeface="Courier New" pitchFamily="34" charset="-120"/>
              </a:rPr>
              <a:t>    temperature: json[</a:t>
            </a:r>
            <a:pPr indent="0" marL="0">
              <a:lnSpc>
                <a:spcPct val="130000"/>
              </a:lnSpc>
              <a:buNone/>
            </a:pPr>
            <a:r>
              <a:rPr lang="en-US" sz="1300" dirty="0">
                <a:solidFill>
                  <a:srgbClr val="9CE29C"/>
                </a:solidFill>
                <a:latin typeface="Courier New" pitchFamily="34" charset="0"/>
                <a:ea typeface="Courier New" pitchFamily="34" charset="-122"/>
                <a:cs typeface="Courier New" pitchFamily="34" charset="-120"/>
              </a:rPr>
              <a:t>'temperature_2m'</a:t>
            </a:r>
            <a:pPr indent="0" marL="0">
              <a:lnSpc>
                <a:spcPct val="130000"/>
              </a:lnSpc>
              <a:buNone/>
            </a:pPr>
            <a:r>
              <a:rPr lang="en-US" sz="13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300" dirty="0"/>
          </a:p>
          <a:p>
            <a:pPr indent="0" marL="0">
              <a:lnSpc>
                <a:spcPct val="130000"/>
              </a:lnSpc>
              <a:buNone/>
            </a:pPr>
            <a:r>
              <a:rPr lang="en-US" sz="1300" dirty="0">
                <a:solidFill>
                  <a:srgbClr val="E3EEFB"/>
                </a:solidFill>
                <a:latin typeface="Courier New" pitchFamily="34" charset="0"/>
                <a:ea typeface="Courier New" pitchFamily="34" charset="-122"/>
                <a:cs typeface="Courier New" pitchFamily="34" charset="-120"/>
              </a:rPr>
              <a:t>    humidity: json[</a:t>
            </a:r>
            <a:pPr indent="0" marL="0">
              <a:lnSpc>
                <a:spcPct val="130000"/>
              </a:lnSpc>
              <a:buNone/>
            </a:pPr>
            <a:r>
              <a:rPr lang="en-US" sz="1300" dirty="0">
                <a:solidFill>
                  <a:srgbClr val="9CE29C"/>
                </a:solidFill>
                <a:latin typeface="Courier New" pitchFamily="34" charset="0"/>
                <a:ea typeface="Courier New" pitchFamily="34" charset="-122"/>
                <a:cs typeface="Courier New" pitchFamily="34" charset="-120"/>
              </a:rPr>
              <a:t>'relative_humidity_2m'</a:t>
            </a:r>
            <a:pPr indent="0" marL="0">
              <a:lnSpc>
                <a:spcPct val="130000"/>
              </a:lnSpc>
              <a:buNone/>
            </a:pPr>
            <a:r>
              <a:rPr lang="en-US" sz="13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300" dirty="0"/>
          </a:p>
          <a:p>
            <a:pPr indent="0" marL="0">
              <a:lnSpc>
                <a:spcPct val="130000"/>
              </a:lnSpc>
              <a:buNone/>
            </a:pPr>
            <a:r>
              <a:rPr lang="en-US" sz="1300" dirty="0">
                <a:solidFill>
                  <a:srgbClr val="E3EEFB"/>
                </a:solidFill>
                <a:latin typeface="Courier New" pitchFamily="34" charset="0"/>
                <a:ea typeface="Courier New" pitchFamily="34" charset="-122"/>
                <a:cs typeface="Courier New" pitchFamily="34" charset="-120"/>
              </a:rPr>
              <a:t>    wind: json[</a:t>
            </a:r>
            <a:pPr indent="0" marL="0">
              <a:lnSpc>
                <a:spcPct val="130000"/>
              </a:lnSpc>
              <a:buNone/>
            </a:pPr>
            <a:r>
              <a:rPr lang="en-US" sz="1300" dirty="0">
                <a:solidFill>
                  <a:srgbClr val="9CE29C"/>
                </a:solidFill>
                <a:latin typeface="Courier New" pitchFamily="34" charset="0"/>
                <a:ea typeface="Courier New" pitchFamily="34" charset="-122"/>
                <a:cs typeface="Courier New" pitchFamily="34" charset="-120"/>
              </a:rPr>
              <a:t>'wind_speed_10m'</a:t>
            </a:r>
            <a:pPr indent="0" marL="0">
              <a:lnSpc>
                <a:spcPct val="130000"/>
              </a:lnSpc>
              <a:buNone/>
            </a:pPr>
            <a:r>
              <a:rPr lang="en-US" sz="13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300" dirty="0"/>
          </a:p>
          <a:p>
            <a:pPr indent="0" marL="0">
              <a:lnSpc>
                <a:spcPct val="130000"/>
              </a:lnSpc>
              <a:buNone/>
            </a:pPr>
            <a:r>
              <a:rPr lang="en-US" sz="1300" dirty="0">
                <a:solidFill>
                  <a:srgbClr val="E3EEFB"/>
                </a:solidFill>
                <a:latin typeface="Courier New" pitchFamily="34" charset="0"/>
                <a:ea typeface="Courier New" pitchFamily="34" charset="-122"/>
                <a:cs typeface="Courier New" pitchFamily="34" charset="-120"/>
              </a:rPr>
              <a:t>    code: json[</a:t>
            </a:r>
            <a:pPr indent="0" marL="0">
              <a:lnSpc>
                <a:spcPct val="130000"/>
              </a:lnSpc>
              <a:buNone/>
            </a:pPr>
            <a:r>
              <a:rPr lang="en-US" sz="1300" dirty="0">
                <a:solidFill>
                  <a:srgbClr val="9CE29C"/>
                </a:solidFill>
                <a:latin typeface="Courier New" pitchFamily="34" charset="0"/>
                <a:ea typeface="Courier New" pitchFamily="34" charset="-122"/>
                <a:cs typeface="Courier New" pitchFamily="34" charset="-120"/>
              </a:rPr>
              <a:t>'weather_code'</a:t>
            </a:r>
            <a:pPr indent="0" marL="0">
              <a:lnSpc>
                <a:spcPct val="130000"/>
              </a:lnSpc>
              <a:buNone/>
            </a:pPr>
            <a:r>
              <a:rPr lang="en-US" sz="13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300" dirty="0"/>
          </a:p>
          <a:p>
            <a:pPr indent="0" marL="0">
              <a:lnSpc>
                <a:spcPct val="130000"/>
              </a:lnSpc>
              <a:buNone/>
            </a:pPr>
            <a:r>
              <a:rPr lang="en-US" sz="1300" dirty="0">
                <a:solidFill>
                  <a:srgbClr val="E3EEFB"/>
                </a:solidFill>
                <a:latin typeface="Courier New" pitchFamily="34" charset="0"/>
                <a:ea typeface="Courier New" pitchFamily="34" charset="-122"/>
                <a:cs typeface="Courier New" pitchFamily="34" charset="-120"/>
              </a:rPr>
              <a:t>  );</a:t>
            </a:r>
            <a:pPr indent="0" marL="0">
              <a:lnSpc>
                <a:spcPct val="130000"/>
              </a:lnSpc>
              <a:buNone/>
            </a:pPr>
            <a:endParaRPr lang="en-US" sz="1300" dirty="0"/>
          </a:p>
          <a:p>
            <a:pPr indent="0" marL="0">
              <a:lnSpc>
                <a:spcPct val="130000"/>
              </a:lnSpc>
              <a:buNone/>
            </a:pPr>
            <a:r>
              <a:rPr lang="en-US" sz="1300" dirty="0">
                <a:solidFill>
                  <a:srgbClr val="E3EEFB"/>
                </a:solidFill>
                <a:latin typeface="Courier New" pitchFamily="34" charset="0"/>
                <a:ea typeface="Courier New" pitchFamily="34" charset="-122"/>
                <a:cs typeface="Courier New" pitchFamily="34" charset="-120"/>
              </a:rPr>
              <a:t>}</a:t>
            </a:r>
            <a:endParaRPr lang="en-US" sz="1300" dirty="0"/>
          </a:p>
        </p:txBody>
      </p:sp>
      <p:sp>
        <p:nvSpPr>
          <p:cNvPr id="11" name="Text 9"/>
          <p:cNvSpPr txBox="1"/>
          <p:nvPr/>
        </p:nvSpPr>
        <p:spPr>
          <a:xfrm>
            <a:off x="6540500" y="5016500"/>
            <a:ext cx="4826000" cy="215900"/>
          </a:xfrm>
          <a:prstGeom prst="rect">
            <a:avLst/>
          </a:prstGeom>
          <a:noFill/>
          <a:ln/>
        </p:spPr>
        <p:txBody>
          <a:bodyPr wrap="square" lIns="0" tIns="0" rIns="0" bIns="0" rtlCol="0" anchor="t"/>
          <a:lstStyle/>
          <a:p>
            <a:pPr indent="0" marL="0">
              <a:buNone/>
            </a:pPr>
            <a:r>
              <a:rPr lang="en-US" sz="1050" b="1" spc="300" kern="0" dirty="0">
                <a:solidFill>
                  <a:srgbClr val="54C5F8"/>
                </a:solidFill>
                <a:latin typeface="Arial" pitchFamily="34" charset="0"/>
                <a:ea typeface="Arial" pitchFamily="34" charset="-122"/>
                <a:cs typeface="Arial" pitchFamily="34" charset="-120"/>
              </a:rPr>
              <a:t>YOUR MODEL</a:t>
            </a:r>
            <a:endParaRPr lang="en-US" sz="1050" dirty="0"/>
          </a:p>
        </p:txBody>
      </p:sp>
      <p:sp>
        <p:nvSpPr>
          <p:cNvPr id="12" name="Shape 10"/>
          <p:cNvSpPr/>
          <p:nvPr/>
        </p:nvSpPr>
        <p:spPr>
          <a:xfrm>
            <a:off x="812800" y="5461000"/>
            <a:ext cx="10566400" cy="698500"/>
          </a:xfrm>
          <a:prstGeom prst="roundRect">
            <a:avLst>
              <a:gd name="adj" fmla="val 19636"/>
            </a:avLst>
          </a:prstGeom>
          <a:solidFill>
            <a:srgbClr val="0468D7"/>
          </a:solidFill>
          <a:ln w="12700">
            <a:solidFill>
              <a:srgbClr val="0468D7"/>
            </a:solidFill>
            <a:prstDash val="solid"/>
          </a:ln>
          <a:effectLst>
            <a:outerShdw sx="100000" sy="100000" kx="0" ky="0" algn="bl" rotWithShape="0" blurRad="330200" dist="76200" dir="5400000">
              <a:srgbClr val="0468D7">
                <a:alpha val="40000"/>
              </a:srgbClr>
            </a:outerShdw>
          </a:effectLst>
        </p:spPr>
      </p:sp>
      <p:sp>
        <p:nvSpPr>
          <p:cNvPr id="13" name="Text 11"/>
          <p:cNvSpPr txBox="1"/>
          <p:nvPr/>
        </p:nvSpPr>
        <p:spPr>
          <a:xfrm>
            <a:off x="1066800" y="5461000"/>
            <a:ext cx="10058400" cy="698500"/>
          </a:xfrm>
          <a:prstGeom prst="rect">
            <a:avLst/>
          </a:prstGeom>
          <a:noFill/>
          <a:ln/>
        </p:spPr>
        <p:txBody>
          <a:bodyPr wrap="square" lIns="0" tIns="0" rIns="0" bIns="0" rtlCol="0" anchor="ctr"/>
          <a:lstStyle/>
          <a:p>
            <a:pPr indent="0" marL="0">
              <a:buNone/>
            </a:pPr>
            <a:r>
              <a:rPr lang="en-US" sz="1350" b="1" dirty="0">
                <a:solidFill>
                  <a:srgbClr val="F4F7FB"/>
                </a:solidFill>
                <a:latin typeface="Arial" pitchFamily="34" charset="0"/>
                <a:ea typeface="Arial" pitchFamily="34" charset="-122"/>
                <a:cs typeface="Arial" pitchFamily="34" charset="-120"/>
              </a:rPr>
              <a:t>JSON is a Map:  </a:t>
            </a:r>
            <a:pPr indent="0" marL="0">
              <a:buNone/>
            </a:pPr>
            <a:r>
              <a:rPr lang="en-US" sz="1350" dirty="0">
                <a:solidFill>
                  <a:srgbClr val="E3EEFB"/>
                </a:solidFill>
                <a:latin typeface="Arial" pitchFamily="34" charset="0"/>
                <a:ea typeface="Arial" pitchFamily="34" charset="-122"/>
                <a:cs typeface="Arial" pitchFamily="34" charset="-120"/>
              </a:rPr>
              <a:t>{ } holds keys and values, [ ] is a list, and objects sit inside objects. fromJson turns it into your model. Every app that talks to a server has one.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0468D7"/>
                </a:solidFill>
                <a:latin typeface="Arial" pitchFamily="34" charset="0"/>
                <a:ea typeface="Arial" pitchFamily="34" charset="-122"/>
                <a:cs typeface="Arial" pitchFamily="34" charset="-120"/>
              </a:rPr>
              <a:t>WHAT THE USER SEES</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300" b="1" dirty="0">
                <a:solidFill>
                  <a:srgbClr val="0E1220"/>
                </a:solidFill>
                <a:latin typeface="Arial" pitchFamily="34" charset="0"/>
                <a:ea typeface="Arial" pitchFamily="34" charset="-122"/>
                <a:cs typeface="Arial" pitchFamily="34" charset="-120"/>
              </a:rPr>
              <a:t>Every screen that loads has three states</a:t>
            </a:r>
            <a:endParaRPr lang="en-US" sz="3300" dirty="0"/>
          </a:p>
        </p:txBody>
      </p:sp>
      <p:sp>
        <p:nvSpPr>
          <p:cNvPr id="4" name="Shape 2"/>
          <p:cNvSpPr/>
          <p:nvPr/>
        </p:nvSpPr>
        <p:spPr>
          <a:xfrm>
            <a:off x="1397000" y="1778000"/>
            <a:ext cx="2413000" cy="3556000"/>
          </a:xfrm>
          <a:prstGeom prst="roundRect">
            <a:avLst>
              <a:gd name="adj" fmla="val 15916"/>
            </a:avLst>
          </a:prstGeom>
          <a:solidFill>
            <a:srgbClr val="141A2E"/>
          </a:solidFill>
          <a:ln w="38100">
            <a:solidFill>
              <a:srgbClr val="3A4770"/>
            </a:solidFill>
            <a:prstDash val="solid"/>
          </a:ln>
          <a:effectLst>
            <a:outerShdw sx="100000" sy="100000" kx="0" ky="0" algn="bl" rotWithShape="0" blurRad="279400" dist="101600" dir="5400000">
              <a:srgbClr val="0E1220">
                <a:alpha val="25000"/>
              </a:srgbClr>
            </a:outerShdw>
          </a:effectLst>
        </p:spPr>
      </p:sp>
      <p:sp>
        <p:nvSpPr>
          <p:cNvPr id="5" name="Shape 3"/>
          <p:cNvSpPr/>
          <p:nvPr/>
        </p:nvSpPr>
        <p:spPr>
          <a:xfrm>
            <a:off x="1498600" y="1879600"/>
            <a:ext cx="2209800" cy="3352800"/>
          </a:xfrm>
          <a:prstGeom prst="roundRect">
            <a:avLst>
              <a:gd name="adj" fmla="val 14069"/>
            </a:avLst>
          </a:prstGeom>
          <a:solidFill>
            <a:srgbClr val="F4F6FB"/>
          </a:solidFill>
          <a:ln w="12700">
            <a:solidFill>
              <a:srgbClr val="F4F6FB"/>
            </a:solidFill>
            <a:prstDash val="solid"/>
          </a:ln>
        </p:spPr>
      </p:sp>
      <p:sp>
        <p:nvSpPr>
          <p:cNvPr id="6" name="Shape 4"/>
          <p:cNvSpPr/>
          <p:nvPr/>
        </p:nvSpPr>
        <p:spPr>
          <a:xfrm>
            <a:off x="2254250" y="1943100"/>
            <a:ext cx="698500" cy="114300"/>
          </a:xfrm>
          <a:prstGeom prst="roundRect">
            <a:avLst>
              <a:gd name="adj" fmla="val 64000"/>
            </a:avLst>
          </a:prstGeom>
          <a:solidFill>
            <a:srgbClr val="05070D"/>
          </a:solidFill>
          <a:ln w="12700">
            <a:solidFill>
              <a:srgbClr val="05070D"/>
            </a:solidFill>
            <a:prstDash val="solid"/>
          </a:ln>
        </p:spPr>
      </p:sp>
      <p:sp>
        <p:nvSpPr>
          <p:cNvPr id="7" name="Text 5"/>
          <p:cNvSpPr txBox="1"/>
          <p:nvPr/>
        </p:nvSpPr>
        <p:spPr>
          <a:xfrm>
            <a:off x="1663700" y="2260600"/>
            <a:ext cx="1879600" cy="254000"/>
          </a:xfrm>
          <a:prstGeom prst="rect">
            <a:avLst/>
          </a:prstGeom>
          <a:noFill/>
          <a:ln/>
        </p:spPr>
        <p:txBody>
          <a:bodyPr wrap="square" lIns="0" tIns="0" rIns="0" bIns="0" rtlCol="0" anchor="t"/>
          <a:lstStyle/>
          <a:p>
            <a:pPr indent="0" marL="0">
              <a:buNone/>
            </a:pPr>
            <a:r>
              <a:rPr lang="en-US" sz="1200" b="1" dirty="0">
                <a:solidFill>
                  <a:srgbClr val="1D2330"/>
                </a:solidFill>
                <a:latin typeface="Arial" pitchFamily="34" charset="0"/>
                <a:ea typeface="Arial" pitchFamily="34" charset="-122"/>
                <a:cs typeface="Arial" pitchFamily="34" charset="-120"/>
              </a:rPr>
              <a:t>Kigali Weather</a:t>
            </a:r>
            <a:endParaRPr lang="en-US" sz="1200" dirty="0"/>
          </a:p>
        </p:txBody>
      </p:sp>
      <p:sp>
        <p:nvSpPr>
          <p:cNvPr id="8" name="Shape 6"/>
          <p:cNvSpPr/>
          <p:nvPr/>
        </p:nvSpPr>
        <p:spPr>
          <a:xfrm>
            <a:off x="2387600" y="3340100"/>
            <a:ext cx="431800" cy="431800"/>
          </a:xfrm>
          <a:prstGeom prst="blockArc">
            <a:avLst>
              <a:gd name="adj1" fmla="val 0"/>
              <a:gd name="adj2" fmla="val 16800000"/>
              <a:gd name="adj3" fmla="val 7000"/>
            </a:avLst>
          </a:prstGeom>
          <a:solidFill>
            <a:srgbClr val="3A5A8C"/>
          </a:solidFill>
          <a:ln w="12700">
            <a:solidFill>
              <a:srgbClr val="3A5A8C"/>
            </a:solidFill>
            <a:prstDash val="solid"/>
          </a:ln>
        </p:spPr>
      </p:sp>
      <p:sp>
        <p:nvSpPr>
          <p:cNvPr id="9" name="Text 7"/>
          <p:cNvSpPr txBox="1"/>
          <p:nvPr/>
        </p:nvSpPr>
        <p:spPr>
          <a:xfrm>
            <a:off x="1016000" y="5461000"/>
            <a:ext cx="3175000" cy="215900"/>
          </a:xfrm>
          <a:prstGeom prst="rect">
            <a:avLst/>
          </a:prstGeom>
          <a:noFill/>
          <a:ln/>
        </p:spPr>
        <p:txBody>
          <a:bodyPr wrap="square" lIns="0" tIns="0" rIns="0" bIns="0" rtlCol="0" anchor="t"/>
          <a:lstStyle/>
          <a:p>
            <a:pPr algn="ctr" indent="0" marL="0">
              <a:buNone/>
            </a:pPr>
            <a:r>
              <a:rPr lang="en-US" sz="1200" b="1" spc="400" kern="0" dirty="0">
                <a:solidFill>
                  <a:srgbClr val="0468D7"/>
                </a:solidFill>
                <a:latin typeface="Arial" pitchFamily="34" charset="0"/>
                <a:ea typeface="Arial" pitchFamily="34" charset="-122"/>
                <a:cs typeface="Arial" pitchFamily="34" charset="-120"/>
              </a:rPr>
              <a:t>LOADING</a:t>
            </a:r>
            <a:endParaRPr lang="en-US" sz="1200" dirty="0"/>
          </a:p>
        </p:txBody>
      </p:sp>
      <p:sp>
        <p:nvSpPr>
          <p:cNvPr id="10" name="Text 8"/>
          <p:cNvSpPr txBox="1"/>
          <p:nvPr/>
        </p:nvSpPr>
        <p:spPr>
          <a:xfrm>
            <a:off x="1016000" y="5715000"/>
            <a:ext cx="3175000" cy="444500"/>
          </a:xfrm>
          <a:prstGeom prst="rect">
            <a:avLst/>
          </a:prstGeom>
          <a:noFill/>
          <a:ln/>
        </p:spPr>
        <p:txBody>
          <a:bodyPr wrap="square" lIns="0" tIns="0" rIns="0" bIns="0" rtlCol="0" anchor="t"/>
          <a:lstStyle/>
          <a:p>
            <a:pPr algn="ctr" indent="0" marL="0">
              <a:buNone/>
            </a:pPr>
            <a:r>
              <a:rPr lang="en-US" sz="1200" dirty="0">
                <a:solidFill>
                  <a:srgbClr val="4A5568"/>
                </a:solidFill>
                <a:latin typeface="Arial" pitchFamily="34" charset="0"/>
                <a:ea typeface="Arial" pitchFamily="34" charset="-122"/>
                <a:cs typeface="Arial" pitchFamily="34" charset="-120"/>
              </a:rPr>
              <a:t>The spinner, while the app waits</a:t>
            </a:r>
            <a:endParaRPr lang="en-US" sz="1200" dirty="0"/>
          </a:p>
        </p:txBody>
      </p:sp>
      <p:sp>
        <p:nvSpPr>
          <p:cNvPr id="11" name="Shape 9"/>
          <p:cNvSpPr/>
          <p:nvPr/>
        </p:nvSpPr>
        <p:spPr>
          <a:xfrm>
            <a:off x="4953000" y="1778000"/>
            <a:ext cx="2413000" cy="3556000"/>
          </a:xfrm>
          <a:prstGeom prst="roundRect">
            <a:avLst>
              <a:gd name="adj" fmla="val 15916"/>
            </a:avLst>
          </a:prstGeom>
          <a:solidFill>
            <a:srgbClr val="141A2E"/>
          </a:solidFill>
          <a:ln w="38100">
            <a:solidFill>
              <a:srgbClr val="3A4770"/>
            </a:solidFill>
            <a:prstDash val="solid"/>
          </a:ln>
          <a:effectLst>
            <a:outerShdw sx="100000" sy="100000" kx="0" ky="0" algn="bl" rotWithShape="0" blurRad="279400" dist="101600" dir="5400000">
              <a:srgbClr val="0E1220">
                <a:alpha val="25000"/>
              </a:srgbClr>
            </a:outerShdw>
          </a:effectLst>
        </p:spPr>
      </p:sp>
      <p:sp>
        <p:nvSpPr>
          <p:cNvPr id="12" name="Shape 10"/>
          <p:cNvSpPr/>
          <p:nvPr/>
        </p:nvSpPr>
        <p:spPr>
          <a:xfrm>
            <a:off x="5054600" y="1879600"/>
            <a:ext cx="2209800" cy="3352800"/>
          </a:xfrm>
          <a:prstGeom prst="roundRect">
            <a:avLst>
              <a:gd name="adj" fmla="val 14069"/>
            </a:avLst>
          </a:prstGeom>
          <a:solidFill>
            <a:srgbClr val="F4F6FB"/>
          </a:solidFill>
          <a:ln w="12700">
            <a:solidFill>
              <a:srgbClr val="F4F6FB"/>
            </a:solidFill>
            <a:prstDash val="solid"/>
          </a:ln>
        </p:spPr>
      </p:sp>
      <p:sp>
        <p:nvSpPr>
          <p:cNvPr id="13" name="Shape 11"/>
          <p:cNvSpPr/>
          <p:nvPr/>
        </p:nvSpPr>
        <p:spPr>
          <a:xfrm>
            <a:off x="5810250" y="1943100"/>
            <a:ext cx="698500" cy="114300"/>
          </a:xfrm>
          <a:prstGeom prst="roundRect">
            <a:avLst>
              <a:gd name="adj" fmla="val 64000"/>
            </a:avLst>
          </a:prstGeom>
          <a:solidFill>
            <a:srgbClr val="05070D"/>
          </a:solidFill>
          <a:ln w="12700">
            <a:solidFill>
              <a:srgbClr val="05070D"/>
            </a:solidFill>
            <a:prstDash val="solid"/>
          </a:ln>
        </p:spPr>
      </p:sp>
      <p:sp>
        <p:nvSpPr>
          <p:cNvPr id="14" name="Text 12"/>
          <p:cNvSpPr txBox="1"/>
          <p:nvPr/>
        </p:nvSpPr>
        <p:spPr>
          <a:xfrm>
            <a:off x="5219700" y="2260600"/>
            <a:ext cx="1879600" cy="254000"/>
          </a:xfrm>
          <a:prstGeom prst="rect">
            <a:avLst/>
          </a:prstGeom>
          <a:noFill/>
          <a:ln/>
        </p:spPr>
        <p:txBody>
          <a:bodyPr wrap="square" lIns="0" tIns="0" rIns="0" bIns="0" rtlCol="0" anchor="t"/>
          <a:lstStyle/>
          <a:p>
            <a:pPr indent="0" marL="0">
              <a:buNone/>
            </a:pPr>
            <a:r>
              <a:rPr lang="en-US" sz="1200" b="1" dirty="0">
                <a:solidFill>
                  <a:srgbClr val="1D2330"/>
                </a:solidFill>
                <a:latin typeface="Arial" pitchFamily="34" charset="0"/>
                <a:ea typeface="Arial" pitchFamily="34" charset="-122"/>
                <a:cs typeface="Arial" pitchFamily="34" charset="-120"/>
              </a:rPr>
              <a:t>Kigali Weather</a:t>
            </a:r>
            <a:endParaRPr lang="en-US" sz="1200" dirty="0"/>
          </a:p>
        </p:txBody>
      </p:sp>
      <p:sp>
        <p:nvSpPr>
          <p:cNvPr id="15" name="Text 13"/>
          <p:cNvSpPr txBox="1"/>
          <p:nvPr/>
        </p:nvSpPr>
        <p:spPr>
          <a:xfrm>
            <a:off x="5181600" y="3111500"/>
            <a:ext cx="1955800" cy="571500"/>
          </a:xfrm>
          <a:prstGeom prst="rect">
            <a:avLst/>
          </a:prstGeom>
          <a:noFill/>
          <a:ln/>
        </p:spPr>
        <p:txBody>
          <a:bodyPr wrap="square" lIns="0" tIns="0" rIns="0" bIns="0" rtlCol="0" anchor="t"/>
          <a:lstStyle/>
          <a:p>
            <a:pPr algn="ctr" indent="0" marL="0">
              <a:buNone/>
            </a:pPr>
            <a:r>
              <a:rPr lang="en-US" sz="950" dirty="0">
                <a:solidFill>
                  <a:srgbClr val="1D2330"/>
                </a:solidFill>
                <a:latin typeface="Arial" pitchFamily="34" charset="0"/>
                <a:ea typeface="Arial" pitchFamily="34" charset="-122"/>
                <a:cs typeface="Arial" pitchFamily="34" charset="-120"/>
              </a:rPr>
              <a:t>Could not load the weather.</a:t>
            </a:r>
            <a:endParaRPr lang="en-US" sz="950" dirty="0"/>
          </a:p>
          <a:p>
            <a:pPr algn="ctr" indent="0" marL="0">
              <a:buNone/>
            </a:pPr>
            <a:r>
              <a:rPr lang="en-US" sz="950" dirty="0">
                <a:solidFill>
                  <a:srgbClr val="1D2330"/>
                </a:solidFill>
                <a:latin typeface="Arial" pitchFamily="34" charset="0"/>
                <a:ea typeface="Arial" pitchFamily="34" charset="-122"/>
                <a:cs typeface="Arial" pitchFamily="34" charset="-120"/>
              </a:rPr>
              <a:t>Check your internet connection.</a:t>
            </a:r>
            <a:endParaRPr lang="en-US" sz="950" dirty="0"/>
          </a:p>
        </p:txBody>
      </p:sp>
      <p:sp>
        <p:nvSpPr>
          <p:cNvPr id="16" name="Shape 14"/>
          <p:cNvSpPr/>
          <p:nvPr/>
        </p:nvSpPr>
        <p:spPr>
          <a:xfrm>
            <a:off x="5715000" y="3771900"/>
            <a:ext cx="889000" cy="342900"/>
          </a:xfrm>
          <a:prstGeom prst="roundRect">
            <a:avLst>
              <a:gd name="adj" fmla="val 66667"/>
            </a:avLst>
          </a:prstGeom>
          <a:solidFill>
            <a:srgbClr val="3A5A8C"/>
          </a:solidFill>
          <a:ln w="12700">
            <a:solidFill>
              <a:srgbClr val="3A5A8C"/>
            </a:solidFill>
            <a:prstDash val="solid"/>
          </a:ln>
        </p:spPr>
      </p:sp>
      <p:sp>
        <p:nvSpPr>
          <p:cNvPr id="17" name="Text 15"/>
          <p:cNvSpPr txBox="1"/>
          <p:nvPr/>
        </p:nvSpPr>
        <p:spPr>
          <a:xfrm>
            <a:off x="5715000" y="3771900"/>
            <a:ext cx="889000" cy="3429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Retry</a:t>
            </a:r>
            <a:endParaRPr lang="en-US" sz="1000" dirty="0"/>
          </a:p>
        </p:txBody>
      </p:sp>
      <p:sp>
        <p:nvSpPr>
          <p:cNvPr id="18" name="Text 16"/>
          <p:cNvSpPr txBox="1"/>
          <p:nvPr/>
        </p:nvSpPr>
        <p:spPr>
          <a:xfrm>
            <a:off x="4572000" y="5461000"/>
            <a:ext cx="3175000" cy="215900"/>
          </a:xfrm>
          <a:prstGeom prst="rect">
            <a:avLst/>
          </a:prstGeom>
          <a:noFill/>
          <a:ln/>
        </p:spPr>
        <p:txBody>
          <a:bodyPr wrap="square" lIns="0" tIns="0" rIns="0" bIns="0" rtlCol="0" anchor="t"/>
          <a:lstStyle/>
          <a:p>
            <a:pPr algn="ctr" indent="0" marL="0">
              <a:buNone/>
            </a:pPr>
            <a:r>
              <a:rPr lang="en-US" sz="1200" b="1" spc="400" kern="0" dirty="0">
                <a:solidFill>
                  <a:srgbClr val="0468D7"/>
                </a:solidFill>
                <a:latin typeface="Arial" pitchFamily="34" charset="0"/>
                <a:ea typeface="Arial" pitchFamily="34" charset="-122"/>
                <a:cs typeface="Arial" pitchFamily="34" charset="-120"/>
              </a:rPr>
              <a:t>ERROR</a:t>
            </a:r>
            <a:endParaRPr lang="en-US" sz="1200" dirty="0"/>
          </a:p>
        </p:txBody>
      </p:sp>
      <p:sp>
        <p:nvSpPr>
          <p:cNvPr id="19" name="Text 17"/>
          <p:cNvSpPr txBox="1"/>
          <p:nvPr/>
        </p:nvSpPr>
        <p:spPr>
          <a:xfrm>
            <a:off x="4572000" y="5715000"/>
            <a:ext cx="3175000" cy="444500"/>
          </a:xfrm>
          <a:prstGeom prst="rect">
            <a:avLst/>
          </a:prstGeom>
          <a:noFill/>
          <a:ln/>
        </p:spPr>
        <p:txBody>
          <a:bodyPr wrap="square" lIns="0" tIns="0" rIns="0" bIns="0" rtlCol="0" anchor="t"/>
          <a:lstStyle/>
          <a:p>
            <a:pPr algn="ctr" indent="0" marL="0">
              <a:buNone/>
            </a:pPr>
            <a:r>
              <a:rPr lang="en-US" sz="1200" dirty="0">
                <a:solidFill>
                  <a:srgbClr val="4A5568"/>
                </a:solidFill>
                <a:latin typeface="Arial" pitchFamily="34" charset="0"/>
                <a:ea typeface="Arial" pitchFamily="34" charset="-122"/>
                <a:cs typeface="Arial" pitchFamily="34" charset="-120"/>
              </a:rPr>
              <a:t>A clear message and Retry: no internet, server down</a:t>
            </a:r>
            <a:endParaRPr lang="en-US" sz="1200" dirty="0"/>
          </a:p>
        </p:txBody>
      </p:sp>
      <p:sp>
        <p:nvSpPr>
          <p:cNvPr id="20" name="Shape 18"/>
          <p:cNvSpPr/>
          <p:nvPr/>
        </p:nvSpPr>
        <p:spPr>
          <a:xfrm>
            <a:off x="8509000" y="1778000"/>
            <a:ext cx="2413000" cy="3556000"/>
          </a:xfrm>
          <a:prstGeom prst="roundRect">
            <a:avLst>
              <a:gd name="adj" fmla="val 15916"/>
            </a:avLst>
          </a:prstGeom>
          <a:solidFill>
            <a:srgbClr val="141A2E"/>
          </a:solidFill>
          <a:ln w="38100">
            <a:solidFill>
              <a:srgbClr val="3A4770"/>
            </a:solidFill>
            <a:prstDash val="solid"/>
          </a:ln>
          <a:effectLst>
            <a:outerShdw sx="100000" sy="100000" kx="0" ky="0" algn="bl" rotWithShape="0" blurRad="279400" dist="101600" dir="5400000">
              <a:srgbClr val="0E1220">
                <a:alpha val="25000"/>
              </a:srgbClr>
            </a:outerShdw>
          </a:effectLst>
        </p:spPr>
      </p:sp>
      <p:sp>
        <p:nvSpPr>
          <p:cNvPr id="21" name="Shape 19"/>
          <p:cNvSpPr/>
          <p:nvPr/>
        </p:nvSpPr>
        <p:spPr>
          <a:xfrm>
            <a:off x="8610600" y="1879600"/>
            <a:ext cx="2209800" cy="3352800"/>
          </a:xfrm>
          <a:prstGeom prst="roundRect">
            <a:avLst>
              <a:gd name="adj" fmla="val 14069"/>
            </a:avLst>
          </a:prstGeom>
          <a:solidFill>
            <a:srgbClr val="F4F6FB"/>
          </a:solidFill>
          <a:ln w="12700">
            <a:solidFill>
              <a:srgbClr val="F4F6FB"/>
            </a:solidFill>
            <a:prstDash val="solid"/>
          </a:ln>
        </p:spPr>
      </p:sp>
      <p:sp>
        <p:nvSpPr>
          <p:cNvPr id="22" name="Shape 20"/>
          <p:cNvSpPr/>
          <p:nvPr/>
        </p:nvSpPr>
        <p:spPr>
          <a:xfrm>
            <a:off x="9366250" y="1943100"/>
            <a:ext cx="698500" cy="114300"/>
          </a:xfrm>
          <a:prstGeom prst="roundRect">
            <a:avLst>
              <a:gd name="adj" fmla="val 64000"/>
            </a:avLst>
          </a:prstGeom>
          <a:solidFill>
            <a:srgbClr val="05070D"/>
          </a:solidFill>
          <a:ln w="12700">
            <a:solidFill>
              <a:srgbClr val="05070D"/>
            </a:solidFill>
            <a:prstDash val="solid"/>
          </a:ln>
        </p:spPr>
      </p:sp>
      <p:sp>
        <p:nvSpPr>
          <p:cNvPr id="23" name="Text 21"/>
          <p:cNvSpPr txBox="1"/>
          <p:nvPr/>
        </p:nvSpPr>
        <p:spPr>
          <a:xfrm>
            <a:off x="8775700" y="2260600"/>
            <a:ext cx="1879600" cy="254000"/>
          </a:xfrm>
          <a:prstGeom prst="rect">
            <a:avLst/>
          </a:prstGeom>
          <a:noFill/>
          <a:ln/>
        </p:spPr>
        <p:txBody>
          <a:bodyPr wrap="square" lIns="0" tIns="0" rIns="0" bIns="0" rtlCol="0" anchor="t"/>
          <a:lstStyle/>
          <a:p>
            <a:pPr indent="0" marL="0">
              <a:buNone/>
            </a:pPr>
            <a:r>
              <a:rPr lang="en-US" sz="1200" b="1" dirty="0">
                <a:solidFill>
                  <a:srgbClr val="1D2330"/>
                </a:solidFill>
                <a:latin typeface="Arial" pitchFamily="34" charset="0"/>
                <a:ea typeface="Arial" pitchFamily="34" charset="-122"/>
                <a:cs typeface="Arial" pitchFamily="34" charset="-120"/>
              </a:rPr>
              <a:t>Huye Weather</a:t>
            </a:r>
            <a:endParaRPr lang="en-US" sz="1200" dirty="0"/>
          </a:p>
        </p:txBody>
      </p:sp>
      <p:sp>
        <p:nvSpPr>
          <p:cNvPr id="24" name="Shape 22"/>
          <p:cNvSpPr/>
          <p:nvPr/>
        </p:nvSpPr>
        <p:spPr>
          <a:xfrm>
            <a:off x="8750300" y="2705100"/>
            <a:ext cx="1930400" cy="2095500"/>
          </a:xfrm>
          <a:prstGeom prst="roundRect">
            <a:avLst>
              <a:gd name="adj" fmla="val 8526"/>
            </a:avLst>
          </a:prstGeom>
          <a:solidFill>
            <a:srgbClr val="ECEFF7"/>
          </a:solidFill>
          <a:ln w="12700">
            <a:solidFill>
              <a:srgbClr val="ECEFF7"/>
            </a:solidFill>
            <a:prstDash val="solid"/>
          </a:ln>
        </p:spPr>
      </p:sp>
      <p:pic>
        <p:nvPicPr>
          <p:cNvPr id="25" name="Image 0" descr="preencoded.png">    </p:cNvPr>
          <p:cNvPicPr>
            <a:picLocks noChangeAspect="1"/>
          </p:cNvPicPr>
          <p:nvPr/>
        </p:nvPicPr>
        <p:blipFill>
          <a:blip r:embed="rId1"/>
          <a:stretch>
            <a:fillRect/>
          </a:stretch>
        </p:blipFill>
        <p:spPr>
          <a:xfrm>
            <a:off x="9309100" y="2895600"/>
            <a:ext cx="812800" cy="508000"/>
          </a:xfrm>
          <a:prstGeom prst="rect">
            <a:avLst/>
          </a:prstGeom>
        </p:spPr>
      </p:pic>
      <p:sp>
        <p:nvSpPr>
          <p:cNvPr id="26" name="Text 23"/>
          <p:cNvSpPr txBox="1"/>
          <p:nvPr/>
        </p:nvSpPr>
        <p:spPr>
          <a:xfrm>
            <a:off x="8750300" y="3467100"/>
            <a:ext cx="1930400" cy="571500"/>
          </a:xfrm>
          <a:prstGeom prst="rect">
            <a:avLst/>
          </a:prstGeom>
          <a:noFill/>
          <a:ln/>
        </p:spPr>
        <p:txBody>
          <a:bodyPr wrap="square" lIns="0" tIns="0" rIns="0" bIns="0" rtlCol="0" anchor="t"/>
          <a:lstStyle/>
          <a:p>
            <a:pPr algn="ctr" indent="0" marL="0">
              <a:buNone/>
            </a:pPr>
            <a:r>
              <a:rPr lang="en-US" sz="3000" b="1" dirty="0">
                <a:solidFill>
                  <a:srgbClr val="1D2330"/>
                </a:solidFill>
                <a:latin typeface="Arial" pitchFamily="34" charset="0"/>
                <a:ea typeface="Arial" pitchFamily="34" charset="-122"/>
                <a:cs typeface="Arial" pitchFamily="34" charset="-120"/>
              </a:rPr>
              <a:t>25°C</a:t>
            </a:r>
            <a:endParaRPr lang="en-US" sz="3000" dirty="0"/>
          </a:p>
        </p:txBody>
      </p:sp>
      <p:sp>
        <p:nvSpPr>
          <p:cNvPr id="27" name="Text 24"/>
          <p:cNvSpPr txBox="1"/>
          <p:nvPr/>
        </p:nvSpPr>
        <p:spPr>
          <a:xfrm>
            <a:off x="8750300" y="4038600"/>
            <a:ext cx="1930400" cy="254000"/>
          </a:xfrm>
          <a:prstGeom prst="rect">
            <a:avLst/>
          </a:prstGeom>
          <a:noFill/>
          <a:ln/>
        </p:spPr>
        <p:txBody>
          <a:bodyPr wrap="square" lIns="0" tIns="0" rIns="0" bIns="0" rtlCol="0" anchor="t"/>
          <a:lstStyle/>
          <a:p>
            <a:pPr algn="ctr" indent="0" marL="0">
              <a:buNone/>
            </a:pPr>
            <a:r>
              <a:rPr lang="en-US" sz="1200" dirty="0">
                <a:solidFill>
                  <a:srgbClr val="1D2330"/>
                </a:solidFill>
                <a:latin typeface="Arial" pitchFamily="34" charset="0"/>
                <a:ea typeface="Arial" pitchFamily="34" charset="-122"/>
                <a:cs typeface="Arial" pitchFamily="34" charset="-120"/>
              </a:rPr>
              <a:t>Cloudy</a:t>
            </a:r>
            <a:endParaRPr lang="en-US" sz="1200" dirty="0"/>
          </a:p>
        </p:txBody>
      </p:sp>
      <p:sp>
        <p:nvSpPr>
          <p:cNvPr id="28" name="Text 25"/>
          <p:cNvSpPr txBox="1"/>
          <p:nvPr/>
        </p:nvSpPr>
        <p:spPr>
          <a:xfrm>
            <a:off x="8750300" y="4368800"/>
            <a:ext cx="1930400" cy="190500"/>
          </a:xfrm>
          <a:prstGeom prst="rect">
            <a:avLst/>
          </a:prstGeom>
          <a:noFill/>
          <a:ln/>
        </p:spPr>
        <p:txBody>
          <a:bodyPr wrap="square" lIns="0" tIns="0" rIns="0" bIns="0" rtlCol="0" anchor="t"/>
          <a:lstStyle/>
          <a:p>
            <a:pPr algn="ctr" indent="0" marL="0">
              <a:buNone/>
            </a:pPr>
            <a:r>
              <a:rPr lang="en-US" sz="800" dirty="0">
                <a:solidFill>
                  <a:srgbClr val="4A5568"/>
                </a:solidFill>
                <a:latin typeface="Arial" pitchFamily="34" charset="0"/>
                <a:ea typeface="Arial" pitchFamily="34" charset="-122"/>
                <a:cs typeface="Arial" pitchFamily="34" charset="-120"/>
              </a:rPr>
              <a:t>Humidity 51%   ·   Wind 11 km/h</a:t>
            </a:r>
            <a:endParaRPr lang="en-US" sz="800" dirty="0"/>
          </a:p>
        </p:txBody>
      </p:sp>
      <p:sp>
        <p:nvSpPr>
          <p:cNvPr id="29" name="Text 26"/>
          <p:cNvSpPr txBox="1"/>
          <p:nvPr/>
        </p:nvSpPr>
        <p:spPr>
          <a:xfrm>
            <a:off x="8128000" y="5461000"/>
            <a:ext cx="3175000" cy="215900"/>
          </a:xfrm>
          <a:prstGeom prst="rect">
            <a:avLst/>
          </a:prstGeom>
          <a:noFill/>
          <a:ln/>
        </p:spPr>
        <p:txBody>
          <a:bodyPr wrap="square" lIns="0" tIns="0" rIns="0" bIns="0" rtlCol="0" anchor="t"/>
          <a:lstStyle/>
          <a:p>
            <a:pPr algn="ctr" indent="0" marL="0">
              <a:buNone/>
            </a:pPr>
            <a:r>
              <a:rPr lang="en-US" sz="1200" b="1" spc="400" kern="0" dirty="0">
                <a:solidFill>
                  <a:srgbClr val="0468D7"/>
                </a:solidFill>
                <a:latin typeface="Arial" pitchFamily="34" charset="0"/>
                <a:ea typeface="Arial" pitchFamily="34" charset="-122"/>
                <a:cs typeface="Arial" pitchFamily="34" charset="-120"/>
              </a:rPr>
              <a:t>DATA</a:t>
            </a:r>
            <a:endParaRPr lang="en-US" sz="1200" dirty="0"/>
          </a:p>
        </p:txBody>
      </p:sp>
      <p:sp>
        <p:nvSpPr>
          <p:cNvPr id="30" name="Text 27"/>
          <p:cNvSpPr txBox="1"/>
          <p:nvPr/>
        </p:nvSpPr>
        <p:spPr>
          <a:xfrm>
            <a:off x="8128000" y="5715000"/>
            <a:ext cx="3175000" cy="444500"/>
          </a:xfrm>
          <a:prstGeom prst="rect">
            <a:avLst/>
          </a:prstGeom>
          <a:noFill/>
          <a:ln/>
        </p:spPr>
        <p:txBody>
          <a:bodyPr wrap="square" lIns="0" tIns="0" rIns="0" bIns="0" rtlCol="0" anchor="t"/>
          <a:lstStyle/>
          <a:p>
            <a:pPr algn="ctr" indent="0" marL="0">
              <a:buNone/>
            </a:pPr>
            <a:r>
              <a:rPr lang="en-US" sz="1200" dirty="0">
                <a:solidFill>
                  <a:srgbClr val="4A5568"/>
                </a:solidFill>
                <a:latin typeface="Arial" pitchFamily="34" charset="0"/>
                <a:ea typeface="Arial" pitchFamily="34" charset="-122"/>
                <a:cs typeface="Arial" pitchFamily="34" charset="-120"/>
              </a:rPr>
              <a:t>What the user came for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54C5F8"/>
                </a:solidFill>
                <a:latin typeface="Arial" pitchFamily="34" charset="0"/>
                <a:ea typeface="Arial" pitchFamily="34" charset="-122"/>
                <a:cs typeface="Arial" pitchFamily="34" charset="-120"/>
              </a:rPr>
              <a:t>REMEMBERING</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600" b="1" dirty="0">
                <a:solidFill>
                  <a:srgbClr val="F4F7FB"/>
                </a:solidFill>
                <a:latin typeface="Arial" pitchFamily="34" charset="0"/>
                <a:ea typeface="Arial" pitchFamily="34" charset="-122"/>
                <a:cs typeface="Arial" pitchFamily="34" charset="-120"/>
              </a:rPr>
              <a:t>Saving on the phone</a:t>
            </a:r>
            <a:endParaRPr lang="en-US" sz="3600" dirty="0"/>
          </a:p>
        </p:txBody>
      </p:sp>
      <p:sp>
        <p:nvSpPr>
          <p:cNvPr id="4" name="Shape 2"/>
          <p:cNvSpPr/>
          <p:nvPr/>
        </p:nvSpPr>
        <p:spPr>
          <a:xfrm>
            <a:off x="812800" y="1905000"/>
            <a:ext cx="5080000" cy="3302000"/>
          </a:xfrm>
          <a:prstGeom prst="roundRect">
            <a:avLst>
              <a:gd name="adj" fmla="val 4985"/>
            </a:avLst>
          </a:prstGeom>
          <a:solidFill>
            <a:srgbClr val="FFFFFF">
              <a:alpha val="6000"/>
            </a:srgbClr>
          </a:solidFill>
          <a:ln w="12700">
            <a:solidFill>
              <a:srgbClr val="FFFFFF">
                <a:alpha val="15000"/>
              </a:srgbClr>
            </a:solidFill>
            <a:prstDash val="solid"/>
          </a:ln>
        </p:spPr>
      </p:sp>
      <p:sp>
        <p:nvSpPr>
          <p:cNvPr id="5" name="Text 3"/>
          <p:cNvSpPr txBox="1"/>
          <p:nvPr/>
        </p:nvSpPr>
        <p:spPr>
          <a:xfrm>
            <a:off x="1066800" y="2133600"/>
            <a:ext cx="4572000" cy="317500"/>
          </a:xfrm>
          <a:prstGeom prst="rect">
            <a:avLst/>
          </a:prstGeom>
          <a:noFill/>
          <a:ln/>
        </p:spPr>
        <p:txBody>
          <a:bodyPr wrap="square" lIns="0" tIns="0" rIns="0" bIns="0" rtlCol="0" anchor="t"/>
          <a:lstStyle/>
          <a:p>
            <a:pPr indent="0" marL="0">
              <a:buNone/>
            </a:pPr>
            <a:r>
              <a:rPr lang="en-US" sz="1700" b="1" dirty="0">
                <a:solidFill>
                  <a:srgbClr val="54C5F8"/>
                </a:solidFill>
                <a:latin typeface="Courier New" pitchFamily="34" charset="0"/>
                <a:ea typeface="Courier New" pitchFamily="34" charset="-122"/>
                <a:cs typeface="Courier New" pitchFamily="34" charset="-120"/>
              </a:rPr>
              <a:t>shared_preferences</a:t>
            </a:r>
            <a:endParaRPr lang="en-US" sz="1700" dirty="0"/>
          </a:p>
        </p:txBody>
      </p:sp>
      <p:sp>
        <p:nvSpPr>
          <p:cNvPr id="6" name="Text 4"/>
          <p:cNvSpPr txBox="1"/>
          <p:nvPr/>
        </p:nvSpPr>
        <p:spPr>
          <a:xfrm>
            <a:off x="1066800" y="2540000"/>
            <a:ext cx="4572000" cy="952500"/>
          </a:xfrm>
          <a:prstGeom prst="rect">
            <a:avLst/>
          </a:prstGeom>
          <a:noFill/>
          <a:ln/>
        </p:spPr>
        <p:txBody>
          <a:bodyPr wrap="square" lIns="0" tIns="0" rIns="0" bIns="0" rtlCol="0" anchor="t"/>
          <a:lstStyle/>
          <a:p>
            <a:pPr indent="0" marL="0">
              <a:lnSpc>
                <a:spcPct val="120000"/>
              </a:lnSpc>
              <a:buNone/>
            </a:pPr>
            <a:r>
              <a:rPr lang="en-US" sz="1300" dirty="0">
                <a:solidFill>
                  <a:srgbClr val="B8C4D9"/>
                </a:solidFill>
                <a:latin typeface="Arial" pitchFamily="34" charset="0"/>
                <a:ea typeface="Arial" pitchFamily="34" charset="-122"/>
                <a:cs typeface="Arial" pitchFamily="34" charset="-120"/>
              </a:rPr>
              <a:t>A small key-value store on the phone: a name, and a value. They survive when the app closes. Perfect for settings and small data: the chosen city, the last weather, a mini project's list.</a:t>
            </a:r>
            <a:endParaRPr lang="en-US" sz="1300" dirty="0"/>
          </a:p>
        </p:txBody>
      </p:sp>
      <p:sp>
        <p:nvSpPr>
          <p:cNvPr id="7" name="Shape 5"/>
          <p:cNvSpPr/>
          <p:nvPr/>
        </p:nvSpPr>
        <p:spPr>
          <a:xfrm>
            <a:off x="1066800" y="3695700"/>
            <a:ext cx="1905000" cy="381000"/>
          </a:xfrm>
          <a:prstGeom prst="roundRect">
            <a:avLst>
              <a:gd name="adj" fmla="val 38400"/>
            </a:avLst>
          </a:prstGeom>
          <a:solidFill>
            <a:srgbClr val="1B2340"/>
          </a:solidFill>
          <a:ln w="12700">
            <a:solidFill>
              <a:srgbClr val="1B2340"/>
            </a:solidFill>
            <a:prstDash val="solid"/>
          </a:ln>
        </p:spPr>
      </p:sp>
      <p:sp>
        <p:nvSpPr>
          <p:cNvPr id="8" name="Text 6"/>
          <p:cNvSpPr txBox="1"/>
          <p:nvPr/>
        </p:nvSpPr>
        <p:spPr>
          <a:xfrm>
            <a:off x="1066800" y="3695700"/>
            <a:ext cx="1905000" cy="381000"/>
          </a:xfrm>
          <a:prstGeom prst="rect">
            <a:avLst/>
          </a:prstGeom>
          <a:noFill/>
          <a:ln/>
        </p:spPr>
        <p:txBody>
          <a:bodyPr wrap="square" lIns="0" tIns="0" rIns="0" bIns="0" rtlCol="0" anchor="ctr"/>
          <a:lstStyle/>
          <a:p>
            <a:pPr algn="ctr" indent="0" marL="0">
              <a:buNone/>
            </a:pPr>
            <a:r>
              <a:rPr lang="en-US" sz="1050" dirty="0">
                <a:solidFill>
                  <a:srgbClr val="F4F7FB"/>
                </a:solidFill>
                <a:latin typeface="Courier New" pitchFamily="34" charset="0"/>
                <a:ea typeface="Courier New" pitchFamily="34" charset="-122"/>
                <a:cs typeface="Courier New" pitchFamily="34" charset="-120"/>
              </a:rPr>
              <a:t>city</a:t>
            </a:r>
            <a:endParaRPr lang="en-US" sz="1050" dirty="0"/>
          </a:p>
        </p:txBody>
      </p:sp>
      <p:sp>
        <p:nvSpPr>
          <p:cNvPr id="9" name="Text 7"/>
          <p:cNvSpPr txBox="1"/>
          <p:nvPr/>
        </p:nvSpPr>
        <p:spPr>
          <a:xfrm>
            <a:off x="3124200" y="3695700"/>
            <a:ext cx="2667000" cy="381000"/>
          </a:xfrm>
          <a:prstGeom prst="rect">
            <a:avLst/>
          </a:prstGeom>
          <a:noFill/>
          <a:ln/>
        </p:spPr>
        <p:txBody>
          <a:bodyPr wrap="square" lIns="0" tIns="0" rIns="0" bIns="0" rtlCol="0" anchor="ctr"/>
          <a:lstStyle/>
          <a:p>
            <a:pPr indent="0" marL="0">
              <a:buNone/>
            </a:pPr>
            <a:r>
              <a:rPr lang="en-US" sz="1050" dirty="0">
                <a:solidFill>
                  <a:srgbClr val="9CE29C"/>
                </a:solidFill>
                <a:latin typeface="Courier New" pitchFamily="34" charset="0"/>
                <a:ea typeface="Courier New" pitchFamily="34" charset="-122"/>
                <a:cs typeface="Courier New" pitchFamily="34" charset="-120"/>
              </a:rPr>
              <a:t>"Musanze"</a:t>
            </a:r>
            <a:endParaRPr lang="en-US" sz="1050" dirty="0"/>
          </a:p>
        </p:txBody>
      </p:sp>
      <p:sp>
        <p:nvSpPr>
          <p:cNvPr id="10" name="Shape 8"/>
          <p:cNvSpPr/>
          <p:nvPr/>
        </p:nvSpPr>
        <p:spPr>
          <a:xfrm>
            <a:off x="1066800" y="4178300"/>
            <a:ext cx="1905000" cy="381000"/>
          </a:xfrm>
          <a:prstGeom prst="roundRect">
            <a:avLst>
              <a:gd name="adj" fmla="val 38400"/>
            </a:avLst>
          </a:prstGeom>
          <a:solidFill>
            <a:srgbClr val="1B2340"/>
          </a:solidFill>
          <a:ln w="12700">
            <a:solidFill>
              <a:srgbClr val="1B2340"/>
            </a:solidFill>
            <a:prstDash val="solid"/>
          </a:ln>
        </p:spPr>
      </p:sp>
      <p:sp>
        <p:nvSpPr>
          <p:cNvPr id="11" name="Text 9"/>
          <p:cNvSpPr txBox="1"/>
          <p:nvPr/>
        </p:nvSpPr>
        <p:spPr>
          <a:xfrm>
            <a:off x="1066800" y="4178300"/>
            <a:ext cx="1905000" cy="381000"/>
          </a:xfrm>
          <a:prstGeom prst="rect">
            <a:avLst/>
          </a:prstGeom>
          <a:noFill/>
          <a:ln/>
        </p:spPr>
        <p:txBody>
          <a:bodyPr wrap="square" lIns="0" tIns="0" rIns="0" bIns="0" rtlCol="0" anchor="ctr"/>
          <a:lstStyle/>
          <a:p>
            <a:pPr algn="ctr" indent="0" marL="0">
              <a:buNone/>
            </a:pPr>
            <a:r>
              <a:rPr lang="en-US" sz="1050" dirty="0">
                <a:solidFill>
                  <a:srgbClr val="F4F7FB"/>
                </a:solidFill>
                <a:latin typeface="Courier New" pitchFamily="34" charset="0"/>
                <a:ea typeface="Courier New" pitchFamily="34" charset="-122"/>
                <a:cs typeface="Courier New" pitchFamily="34" charset="-120"/>
              </a:rPr>
              <a:t>weather_Musanze</a:t>
            </a:r>
            <a:endParaRPr lang="en-US" sz="1050" dirty="0"/>
          </a:p>
        </p:txBody>
      </p:sp>
      <p:sp>
        <p:nvSpPr>
          <p:cNvPr id="12" name="Text 10"/>
          <p:cNvSpPr txBox="1"/>
          <p:nvPr/>
        </p:nvSpPr>
        <p:spPr>
          <a:xfrm>
            <a:off x="3124200" y="4178300"/>
            <a:ext cx="2667000" cy="381000"/>
          </a:xfrm>
          <a:prstGeom prst="rect">
            <a:avLst/>
          </a:prstGeom>
          <a:noFill/>
          <a:ln/>
        </p:spPr>
        <p:txBody>
          <a:bodyPr wrap="square" lIns="0" tIns="0" rIns="0" bIns="0" rtlCol="0" anchor="ctr"/>
          <a:lstStyle/>
          <a:p>
            <a:pPr indent="0" marL="0">
              <a:buNone/>
            </a:pPr>
            <a:r>
              <a:rPr lang="en-US" sz="1050" dirty="0">
                <a:solidFill>
                  <a:srgbClr val="9CE29C"/>
                </a:solidFill>
                <a:latin typeface="Courier New" pitchFamily="34" charset="0"/>
                <a:ea typeface="Courier New" pitchFamily="34" charset="-122"/>
                <a:cs typeface="Courier New" pitchFamily="34" charset="-120"/>
              </a:rPr>
              <a:t>{"temperature_2m": 23, …}</a:t>
            </a:r>
            <a:endParaRPr lang="en-US" sz="1050" dirty="0"/>
          </a:p>
        </p:txBody>
      </p:sp>
      <p:sp>
        <p:nvSpPr>
          <p:cNvPr id="13" name="Shape 11"/>
          <p:cNvSpPr/>
          <p:nvPr/>
        </p:nvSpPr>
        <p:spPr>
          <a:xfrm>
            <a:off x="1066800" y="4660900"/>
            <a:ext cx="1905000" cy="381000"/>
          </a:xfrm>
          <a:prstGeom prst="roundRect">
            <a:avLst>
              <a:gd name="adj" fmla="val 38400"/>
            </a:avLst>
          </a:prstGeom>
          <a:solidFill>
            <a:srgbClr val="1B2340"/>
          </a:solidFill>
          <a:ln w="12700">
            <a:solidFill>
              <a:srgbClr val="1B2340"/>
            </a:solidFill>
            <a:prstDash val="solid"/>
          </a:ln>
        </p:spPr>
      </p:sp>
      <p:sp>
        <p:nvSpPr>
          <p:cNvPr id="14" name="Text 12"/>
          <p:cNvSpPr txBox="1"/>
          <p:nvPr/>
        </p:nvSpPr>
        <p:spPr>
          <a:xfrm>
            <a:off x="1066800" y="4660900"/>
            <a:ext cx="1905000" cy="381000"/>
          </a:xfrm>
          <a:prstGeom prst="rect">
            <a:avLst/>
          </a:prstGeom>
          <a:noFill/>
          <a:ln/>
        </p:spPr>
        <p:txBody>
          <a:bodyPr wrap="square" lIns="0" tIns="0" rIns="0" bIns="0" rtlCol="0" anchor="ctr"/>
          <a:lstStyle/>
          <a:p>
            <a:pPr algn="ctr" indent="0" marL="0">
              <a:buNone/>
            </a:pPr>
            <a:r>
              <a:rPr lang="en-US" sz="1050" dirty="0">
                <a:solidFill>
                  <a:srgbClr val="F4F7FB"/>
                </a:solidFill>
                <a:latin typeface="Courier New" pitchFamily="34" charset="0"/>
                <a:ea typeface="Courier New" pitchFamily="34" charset="-122"/>
                <a:cs typeface="Courier New" pitchFamily="34" charset="-120"/>
              </a:rPr>
              <a:t>transactions</a:t>
            </a:r>
            <a:endParaRPr lang="en-US" sz="1050" dirty="0"/>
          </a:p>
        </p:txBody>
      </p:sp>
      <p:sp>
        <p:nvSpPr>
          <p:cNvPr id="15" name="Text 13"/>
          <p:cNvSpPr txBox="1"/>
          <p:nvPr/>
        </p:nvSpPr>
        <p:spPr>
          <a:xfrm>
            <a:off x="3124200" y="4660900"/>
            <a:ext cx="2667000" cy="381000"/>
          </a:xfrm>
          <a:prstGeom prst="rect">
            <a:avLst/>
          </a:prstGeom>
          <a:noFill/>
          <a:ln/>
        </p:spPr>
        <p:txBody>
          <a:bodyPr wrap="square" lIns="0" tIns="0" rIns="0" bIns="0" rtlCol="0" anchor="ctr"/>
          <a:lstStyle/>
          <a:p>
            <a:pPr indent="0" marL="0">
              <a:buNone/>
            </a:pPr>
            <a:r>
              <a:rPr lang="en-US" sz="1050" dirty="0">
                <a:solidFill>
                  <a:srgbClr val="9CE29C"/>
                </a:solidFill>
                <a:latin typeface="Courier New" pitchFamily="34" charset="0"/>
                <a:ea typeface="Courier New" pitchFamily="34" charset="-122"/>
                <a:cs typeface="Courier New" pitchFamily="34" charset="-120"/>
              </a:rPr>
              <a:t>[{…}, {…}, {…}]</a:t>
            </a:r>
            <a:endParaRPr lang="en-US" sz="1050" dirty="0"/>
          </a:p>
        </p:txBody>
      </p:sp>
      <p:pic>
        <p:nvPicPr>
          <p:cNvPr id="16" name="Image 0" descr="preencoded.png">    </p:cNvPr>
          <p:cNvPicPr>
            <a:picLocks noChangeAspect="1"/>
          </p:cNvPicPr>
          <p:nvPr/>
        </p:nvPicPr>
        <p:blipFill>
          <a:blip r:embed="rId2"/>
          <a:stretch>
            <a:fillRect/>
          </a:stretch>
        </p:blipFill>
        <p:spPr>
          <a:xfrm>
            <a:off x="6350000" y="1968500"/>
            <a:ext cx="558800" cy="558800"/>
          </a:xfrm>
          <a:prstGeom prst="rect">
            <a:avLst/>
          </a:prstGeom>
        </p:spPr>
      </p:pic>
      <p:sp>
        <p:nvSpPr>
          <p:cNvPr id="17" name="Text 14"/>
          <p:cNvSpPr txBox="1"/>
          <p:nvPr/>
        </p:nvSpPr>
        <p:spPr>
          <a:xfrm>
            <a:off x="7061200" y="1968500"/>
            <a:ext cx="4318000" cy="558800"/>
          </a:xfrm>
          <a:prstGeom prst="rect">
            <a:avLst/>
          </a:prstGeom>
          <a:noFill/>
          <a:ln/>
        </p:spPr>
        <p:txBody>
          <a:bodyPr wrap="square" lIns="0" tIns="0" rIns="0" bIns="0" rtlCol="0" anchor="ctr"/>
          <a:lstStyle/>
          <a:p>
            <a:pPr indent="0" marL="0">
              <a:buNone/>
            </a:pPr>
            <a:r>
              <a:rPr lang="en-US" sz="1600" b="1" dirty="0">
                <a:solidFill>
                  <a:srgbClr val="F4F7FB"/>
                </a:solidFill>
                <a:latin typeface="Arial" pitchFamily="34" charset="0"/>
                <a:ea typeface="Arial" pitchFamily="34" charset="-122"/>
                <a:cs typeface="Arial" pitchFamily="34" charset="-120"/>
              </a:rPr>
              <a:t>Objects become text</a:t>
            </a:r>
            <a:endParaRPr lang="en-US" sz="1600" dirty="0"/>
          </a:p>
        </p:txBody>
      </p:sp>
      <p:sp>
        <p:nvSpPr>
          <p:cNvPr id="18" name="Text 15"/>
          <p:cNvSpPr txBox="1"/>
          <p:nvPr/>
        </p:nvSpPr>
        <p:spPr>
          <a:xfrm>
            <a:off x="6350000" y="2616200"/>
            <a:ext cx="5016500" cy="1079500"/>
          </a:xfrm>
          <a:prstGeom prst="rect">
            <a:avLst/>
          </a:prstGeom>
          <a:noFill/>
          <a:ln/>
        </p:spPr>
        <p:txBody>
          <a:bodyPr wrap="square" lIns="0" tIns="0" rIns="0" bIns="0" rtlCol="0" anchor="t"/>
          <a:lstStyle/>
          <a:p>
            <a:pPr indent="0" marL="0">
              <a:lnSpc>
                <a:spcPct val="120000"/>
              </a:lnSpc>
              <a:buNone/>
            </a:pPr>
            <a:r>
              <a:rPr lang="en-US" sz="1250" dirty="0">
                <a:solidFill>
                  <a:srgbClr val="B8C4D9"/>
                </a:solidFill>
                <a:latin typeface="Arial" pitchFamily="34" charset="0"/>
                <a:ea typeface="Arial" pitchFamily="34" charset="-122"/>
                <a:cs typeface="Arial" pitchFamily="34" charset="-120"/>
              </a:rPr>
              <a:t>It stores text and numbers, not objects. So a model is turned into a Map with toJson (the opposite of fromJson), then into text with jsonEncode, and back the other way when loading.</a:t>
            </a:r>
            <a:endParaRPr lang="en-US" sz="1250" dirty="0"/>
          </a:p>
        </p:txBody>
      </p:sp>
      <p:pic>
        <p:nvPicPr>
          <p:cNvPr id="19" name="Image 1" descr="preencoded.png">    </p:cNvPr>
          <p:cNvPicPr>
            <a:picLocks noChangeAspect="1"/>
          </p:cNvPicPr>
          <p:nvPr/>
        </p:nvPicPr>
        <p:blipFill>
          <a:blip r:embed="rId3"/>
          <a:stretch>
            <a:fillRect/>
          </a:stretch>
        </p:blipFill>
        <p:spPr>
          <a:xfrm>
            <a:off x="6350000" y="3810000"/>
            <a:ext cx="558800" cy="558800"/>
          </a:xfrm>
          <a:prstGeom prst="rect">
            <a:avLst/>
          </a:prstGeom>
        </p:spPr>
      </p:pic>
      <p:sp>
        <p:nvSpPr>
          <p:cNvPr id="20" name="Text 16"/>
          <p:cNvSpPr txBox="1"/>
          <p:nvPr/>
        </p:nvSpPr>
        <p:spPr>
          <a:xfrm>
            <a:off x="7061200" y="3810000"/>
            <a:ext cx="4318000" cy="558800"/>
          </a:xfrm>
          <a:prstGeom prst="rect">
            <a:avLst/>
          </a:prstGeom>
          <a:noFill/>
          <a:ln/>
        </p:spPr>
        <p:txBody>
          <a:bodyPr wrap="square" lIns="0" tIns="0" rIns="0" bIns="0" rtlCol="0" anchor="ctr"/>
          <a:lstStyle/>
          <a:p>
            <a:pPr indent="0" marL="0">
              <a:buNone/>
            </a:pPr>
            <a:r>
              <a:rPr lang="en-US" sz="1600" b="1" dirty="0">
                <a:solidFill>
                  <a:srgbClr val="F4F7FB"/>
                </a:solidFill>
                <a:latin typeface="Arial" pitchFamily="34" charset="0"/>
                <a:ea typeface="Arial" pitchFamily="34" charset="-122"/>
                <a:cs typeface="Arial" pitchFamily="34" charset="-120"/>
              </a:rPr>
              <a:t>Only on this phone</a:t>
            </a:r>
            <a:endParaRPr lang="en-US" sz="1600" dirty="0"/>
          </a:p>
        </p:txBody>
      </p:sp>
      <p:sp>
        <p:nvSpPr>
          <p:cNvPr id="21" name="Text 17"/>
          <p:cNvSpPr txBox="1"/>
          <p:nvPr/>
        </p:nvSpPr>
        <p:spPr>
          <a:xfrm>
            <a:off x="6350000" y="4457700"/>
            <a:ext cx="5016500" cy="889000"/>
          </a:xfrm>
          <a:prstGeom prst="rect">
            <a:avLst/>
          </a:prstGeom>
          <a:noFill/>
          <a:ln/>
        </p:spPr>
        <p:txBody>
          <a:bodyPr wrap="square" lIns="0" tIns="0" rIns="0" bIns="0" rtlCol="0" anchor="t"/>
          <a:lstStyle/>
          <a:p>
            <a:pPr indent="0" marL="0">
              <a:lnSpc>
                <a:spcPct val="120000"/>
              </a:lnSpc>
              <a:buNone/>
            </a:pPr>
            <a:r>
              <a:rPr lang="en-US" sz="1250" dirty="0">
                <a:solidFill>
                  <a:srgbClr val="B8C4D9"/>
                </a:solidFill>
                <a:latin typeface="Arial" pitchFamily="34" charset="0"/>
                <a:ea typeface="Arial" pitchFamily="34" charset="-122"/>
                <a:cs typeface="Arial" pitchFamily="34" charset="-120"/>
              </a:rPr>
              <a:t>Its limit: it lives on this phone only. Data that must follow a user to any phone, or be shared between users, lives on a server, in the cloud.</a:t>
            </a:r>
            <a:endParaRPr lang="en-US" sz="1250" dirty="0"/>
          </a:p>
        </p:txBody>
      </p:sp>
      <p:sp>
        <p:nvSpPr>
          <p:cNvPr id="22" name="Shape 18"/>
          <p:cNvSpPr/>
          <p:nvPr/>
        </p:nvSpPr>
        <p:spPr>
          <a:xfrm>
            <a:off x="812800" y="5524500"/>
            <a:ext cx="10566400" cy="584200"/>
          </a:xfrm>
          <a:prstGeom prst="roundRect">
            <a:avLst>
              <a:gd name="adj" fmla="val 23478"/>
            </a:avLst>
          </a:prstGeom>
          <a:solidFill>
            <a:srgbClr val="0468D7"/>
          </a:solidFill>
          <a:ln w="12700">
            <a:solidFill>
              <a:srgbClr val="0468D7"/>
            </a:solidFill>
            <a:prstDash val="solid"/>
          </a:ln>
          <a:effectLst>
            <a:outerShdw sx="100000" sy="100000" kx="0" ky="0" algn="bl" rotWithShape="0" blurRad="330200" dist="76200" dir="5400000">
              <a:srgbClr val="0468D7">
                <a:alpha val="40000"/>
              </a:srgbClr>
            </a:outerShdw>
          </a:effectLst>
        </p:spPr>
      </p:sp>
      <p:sp>
        <p:nvSpPr>
          <p:cNvPr id="23" name="Text 19"/>
          <p:cNvSpPr txBox="1"/>
          <p:nvPr/>
        </p:nvSpPr>
        <p:spPr>
          <a:xfrm>
            <a:off x="1066800" y="5524500"/>
            <a:ext cx="10058400" cy="584200"/>
          </a:xfrm>
          <a:prstGeom prst="rect">
            <a:avLst/>
          </a:prstGeom>
          <a:noFill/>
          <a:ln/>
        </p:spPr>
        <p:txBody>
          <a:bodyPr wrap="square" lIns="0" tIns="0" rIns="0" bIns="0" rtlCol="0" anchor="ctr"/>
          <a:lstStyle/>
          <a:p>
            <a:pPr indent="0" marL="0">
              <a:buNone/>
            </a:pPr>
            <a:r>
              <a:rPr lang="en-US" sz="1350" b="1" dirty="0">
                <a:solidFill>
                  <a:srgbClr val="F4F7FB"/>
                </a:solidFill>
                <a:latin typeface="Arial" pitchFamily="34" charset="0"/>
                <a:ea typeface="Arial" pitchFamily="34" charset="-122"/>
                <a:cs typeface="Arial" pitchFamily="34" charset="-120"/>
              </a:rPr>
              <a:t>In the guide:  </a:t>
            </a:r>
            <a:pPr indent="0" marL="0">
              <a:buNone/>
            </a:pPr>
            <a:r>
              <a:rPr lang="en-US" sz="1350" dirty="0">
                <a:solidFill>
                  <a:srgbClr val="E3EEFB"/>
                </a:solidFill>
                <a:latin typeface="Arial" pitchFamily="34" charset="0"/>
                <a:ea typeface="Arial" pitchFamily="34" charset="-122"/>
                <a:cs typeface="Arial" pitchFamily="34" charset="-120"/>
              </a:rPr>
              <a:t>Kigali Weather remembers the city and the last weather (steps 7 and 8), and your mini project remembers all its data (Part 2).</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54C5F8"/>
                </a:solidFill>
                <a:latin typeface="Arial" pitchFamily="34" charset="0"/>
                <a:ea typeface="Arial" pitchFamily="34" charset="-122"/>
                <a:cs typeface="Arial" pitchFamily="34" charset="-120"/>
              </a:rPr>
              <a:t>PUTTING IT TOGETHER</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600" b="1" dirty="0">
                <a:solidFill>
                  <a:srgbClr val="F4F7FB"/>
                </a:solidFill>
                <a:latin typeface="Arial" pitchFamily="34" charset="0"/>
                <a:ea typeface="Arial" pitchFamily="34" charset="-122"/>
                <a:cs typeface="Arial" pitchFamily="34" charset="-120"/>
              </a:rPr>
              <a:t>How it all connects</a:t>
            </a:r>
            <a:endParaRPr lang="en-US" sz="3600" dirty="0"/>
          </a:p>
        </p:txBody>
      </p:sp>
      <p:sp>
        <p:nvSpPr>
          <p:cNvPr id="4" name="Shape 2"/>
          <p:cNvSpPr/>
          <p:nvPr/>
        </p:nvSpPr>
        <p:spPr>
          <a:xfrm>
            <a:off x="812800" y="1841500"/>
            <a:ext cx="3378200" cy="3175000"/>
          </a:xfrm>
          <a:prstGeom prst="roundRect">
            <a:avLst>
              <a:gd name="adj" fmla="val 5184"/>
            </a:avLst>
          </a:prstGeom>
          <a:solidFill>
            <a:srgbClr val="FFFFFF">
              <a:alpha val="6000"/>
            </a:srgbClr>
          </a:solidFill>
          <a:ln w="12700">
            <a:solidFill>
              <a:srgbClr val="FFFFFF">
                <a:alpha val="15000"/>
              </a:srgbClr>
            </a:solidFill>
            <a:prstDash val="solid"/>
          </a:ln>
        </p:spPr>
      </p:sp>
      <p:pic>
        <p:nvPicPr>
          <p:cNvPr id="5" name="Image 0" descr="preencoded.png">    </p:cNvPr>
          <p:cNvPicPr>
            <a:picLocks noChangeAspect="1"/>
          </p:cNvPicPr>
          <p:nvPr/>
        </p:nvPicPr>
        <p:blipFill>
          <a:blip r:embed="rId2"/>
          <a:stretch>
            <a:fillRect/>
          </a:stretch>
        </p:blipFill>
        <p:spPr>
          <a:xfrm>
            <a:off x="1041400" y="2057400"/>
            <a:ext cx="508000" cy="508000"/>
          </a:xfrm>
          <a:prstGeom prst="rect">
            <a:avLst/>
          </a:prstGeom>
        </p:spPr>
      </p:pic>
      <p:sp>
        <p:nvSpPr>
          <p:cNvPr id="6" name="Text 3"/>
          <p:cNvSpPr txBox="1"/>
          <p:nvPr/>
        </p:nvSpPr>
        <p:spPr>
          <a:xfrm>
            <a:off x="1041400" y="2692400"/>
            <a:ext cx="2921000" cy="215900"/>
          </a:xfrm>
          <a:prstGeom prst="rect">
            <a:avLst/>
          </a:prstGeom>
          <a:noFill/>
          <a:ln/>
        </p:spPr>
        <p:txBody>
          <a:bodyPr wrap="square" lIns="0" tIns="0" rIns="0" bIns="0" rtlCol="0" anchor="t"/>
          <a:lstStyle/>
          <a:p>
            <a:pPr indent="0" marL="0">
              <a:buNone/>
            </a:pPr>
            <a:r>
              <a:rPr lang="en-US" sz="1050" b="1" spc="300" kern="0" dirty="0">
                <a:solidFill>
                  <a:srgbClr val="54C5F8"/>
                </a:solidFill>
                <a:latin typeface="Arial" pitchFamily="34" charset="0"/>
                <a:ea typeface="Arial" pitchFamily="34" charset="-122"/>
                <a:cs typeface="Arial" pitchFamily="34" charset="-120"/>
              </a:rPr>
              <a:t>ASYNC</a:t>
            </a:r>
            <a:endParaRPr lang="en-US" sz="1050" dirty="0"/>
          </a:p>
        </p:txBody>
      </p:sp>
      <p:sp>
        <p:nvSpPr>
          <p:cNvPr id="7" name="Text 4"/>
          <p:cNvSpPr txBox="1"/>
          <p:nvPr/>
        </p:nvSpPr>
        <p:spPr>
          <a:xfrm>
            <a:off x="1041400" y="2933700"/>
            <a:ext cx="2921000" cy="342900"/>
          </a:xfrm>
          <a:prstGeom prst="rect">
            <a:avLst/>
          </a:prstGeom>
          <a:noFill/>
          <a:ln/>
        </p:spPr>
        <p:txBody>
          <a:bodyPr wrap="square" lIns="0" tIns="0" rIns="0" bIns="0" rtlCol="0" anchor="t"/>
          <a:lstStyle/>
          <a:p>
            <a:pPr indent="0" marL="0">
              <a:buNone/>
            </a:pPr>
            <a:r>
              <a:rPr lang="en-US" sz="1700" b="1" dirty="0">
                <a:solidFill>
                  <a:srgbClr val="F4F7FB"/>
                </a:solidFill>
                <a:latin typeface="Arial" pitchFamily="34" charset="0"/>
                <a:ea typeface="Arial" pitchFamily="34" charset="-122"/>
                <a:cs typeface="Arial" pitchFamily="34" charset="-120"/>
              </a:rPr>
              <a:t>How the app waits</a:t>
            </a:r>
            <a:endParaRPr lang="en-US" sz="1700" dirty="0"/>
          </a:p>
        </p:txBody>
      </p:sp>
      <p:sp>
        <p:nvSpPr>
          <p:cNvPr id="8" name="Text 5"/>
          <p:cNvSpPr txBox="1"/>
          <p:nvPr/>
        </p:nvSpPr>
        <p:spPr>
          <a:xfrm>
            <a:off x="1041400" y="3327400"/>
            <a:ext cx="2921000" cy="825500"/>
          </a:xfrm>
          <a:prstGeom prst="rect">
            <a:avLst/>
          </a:prstGeom>
          <a:noFill/>
          <a:ln/>
        </p:spPr>
        <p:txBody>
          <a:bodyPr wrap="square" lIns="0" tIns="0" rIns="0" bIns="0" rtlCol="0" anchor="t"/>
          <a:lstStyle/>
          <a:p>
            <a:pPr indent="0" marL="0">
              <a:lnSpc>
                <a:spcPct val="120000"/>
              </a:lnSpc>
              <a:buNone/>
            </a:pPr>
            <a:r>
              <a:rPr lang="en-US" sz="1250" dirty="0">
                <a:solidFill>
                  <a:srgbClr val="B8C4D9"/>
                </a:solidFill>
                <a:latin typeface="Arial" pitchFamily="34" charset="0"/>
                <a:ea typeface="Arial" pitchFamily="34" charset="-122"/>
                <a:cs typeface="Arial" pitchFamily="34" charset="-120"/>
              </a:rPr>
              <a:t>Without freezing: the screen keeps working while the answer is on its way.</a:t>
            </a:r>
            <a:endParaRPr lang="en-US" sz="1250" dirty="0"/>
          </a:p>
        </p:txBody>
      </p:sp>
      <p:sp>
        <p:nvSpPr>
          <p:cNvPr id="9" name="Shape 6"/>
          <p:cNvSpPr/>
          <p:nvPr/>
        </p:nvSpPr>
        <p:spPr>
          <a:xfrm>
            <a:off x="4406900" y="1841500"/>
            <a:ext cx="3378200" cy="3175000"/>
          </a:xfrm>
          <a:prstGeom prst="roundRect">
            <a:avLst>
              <a:gd name="adj" fmla="val 5184"/>
            </a:avLst>
          </a:prstGeom>
          <a:solidFill>
            <a:srgbClr val="0468D7"/>
          </a:solidFill>
          <a:ln w="12700">
            <a:solidFill>
              <a:srgbClr val="0468D7"/>
            </a:solidFill>
            <a:prstDash val="solid"/>
          </a:ln>
          <a:effectLst>
            <a:outerShdw sx="100000" sy="100000" kx="0" ky="0" algn="bl" rotWithShape="0" blurRad="330200" dist="76200" dir="5400000">
              <a:srgbClr val="0468D7">
                <a:alpha val="40000"/>
              </a:srgbClr>
            </a:outerShdw>
          </a:effectLst>
        </p:spPr>
      </p:sp>
      <p:pic>
        <p:nvPicPr>
          <p:cNvPr id="10" name="Image 1" descr="preencoded.png">    </p:cNvPr>
          <p:cNvPicPr>
            <a:picLocks noChangeAspect="1"/>
          </p:cNvPicPr>
          <p:nvPr/>
        </p:nvPicPr>
        <p:blipFill>
          <a:blip r:embed="rId3"/>
          <a:stretch>
            <a:fillRect/>
          </a:stretch>
        </p:blipFill>
        <p:spPr>
          <a:xfrm>
            <a:off x="4635500" y="2057400"/>
            <a:ext cx="508000" cy="508000"/>
          </a:xfrm>
          <a:prstGeom prst="rect">
            <a:avLst/>
          </a:prstGeom>
        </p:spPr>
      </p:pic>
      <p:sp>
        <p:nvSpPr>
          <p:cNvPr id="11" name="Text 7"/>
          <p:cNvSpPr txBox="1"/>
          <p:nvPr/>
        </p:nvSpPr>
        <p:spPr>
          <a:xfrm>
            <a:off x="4635500" y="2692400"/>
            <a:ext cx="2921000" cy="215900"/>
          </a:xfrm>
          <a:prstGeom prst="rect">
            <a:avLst/>
          </a:prstGeom>
          <a:noFill/>
          <a:ln/>
        </p:spPr>
        <p:txBody>
          <a:bodyPr wrap="square" lIns="0" tIns="0" rIns="0" bIns="0" rtlCol="0" anchor="t"/>
          <a:lstStyle/>
          <a:p>
            <a:pPr indent="0" marL="0">
              <a:buNone/>
            </a:pPr>
            <a:r>
              <a:rPr lang="en-US" sz="1050" b="1" spc="300" kern="0" dirty="0">
                <a:solidFill>
                  <a:srgbClr val="BFE6FB"/>
                </a:solidFill>
                <a:latin typeface="Arial" pitchFamily="34" charset="0"/>
                <a:ea typeface="Arial" pitchFamily="34" charset="-122"/>
                <a:cs typeface="Arial" pitchFamily="34" charset="-120"/>
              </a:rPr>
              <a:t>APIs</a:t>
            </a:r>
            <a:endParaRPr lang="en-US" sz="1050" dirty="0"/>
          </a:p>
        </p:txBody>
      </p:sp>
      <p:sp>
        <p:nvSpPr>
          <p:cNvPr id="12" name="Text 8"/>
          <p:cNvSpPr txBox="1"/>
          <p:nvPr/>
        </p:nvSpPr>
        <p:spPr>
          <a:xfrm>
            <a:off x="4635500" y="2933700"/>
            <a:ext cx="2921000" cy="342900"/>
          </a:xfrm>
          <a:prstGeom prst="rect">
            <a:avLst/>
          </a:prstGeom>
          <a:noFill/>
          <a:ln/>
        </p:spPr>
        <p:txBody>
          <a:bodyPr wrap="square" lIns="0" tIns="0" rIns="0" bIns="0" rtlCol="0" anchor="t"/>
          <a:lstStyle/>
          <a:p>
            <a:pPr indent="0" marL="0">
              <a:buNone/>
            </a:pPr>
            <a:r>
              <a:rPr lang="en-US" sz="1700" b="1" dirty="0">
                <a:solidFill>
                  <a:srgbClr val="F4F7FB"/>
                </a:solidFill>
                <a:latin typeface="Arial" pitchFamily="34" charset="0"/>
                <a:ea typeface="Arial" pitchFamily="34" charset="-122"/>
                <a:cs typeface="Arial" pitchFamily="34" charset="-120"/>
              </a:rPr>
              <a:t>What it waits for</a:t>
            </a:r>
            <a:endParaRPr lang="en-US" sz="1700" dirty="0"/>
          </a:p>
        </p:txBody>
      </p:sp>
      <p:sp>
        <p:nvSpPr>
          <p:cNvPr id="13" name="Text 9"/>
          <p:cNvSpPr txBox="1"/>
          <p:nvPr/>
        </p:nvSpPr>
        <p:spPr>
          <a:xfrm>
            <a:off x="4635500" y="3327400"/>
            <a:ext cx="2921000" cy="825500"/>
          </a:xfrm>
          <a:prstGeom prst="rect">
            <a:avLst/>
          </a:prstGeom>
          <a:noFill/>
          <a:ln/>
        </p:spPr>
        <p:txBody>
          <a:bodyPr wrap="square" lIns="0" tIns="0" rIns="0" bIns="0" rtlCol="0" anchor="t"/>
          <a:lstStyle/>
          <a:p>
            <a:pPr indent="0" marL="0">
              <a:lnSpc>
                <a:spcPct val="120000"/>
              </a:lnSpc>
              <a:buNone/>
            </a:pPr>
            <a:r>
              <a:rPr lang="en-US" sz="1250" dirty="0">
                <a:solidFill>
                  <a:srgbClr val="E3EEFB"/>
                </a:solidFill>
                <a:latin typeface="Arial" pitchFamily="34" charset="0"/>
                <a:ea typeface="Arial" pitchFamily="34" charset="-122"/>
                <a:cs typeface="Arial" pitchFamily="34" charset="-120"/>
              </a:rPr>
              <a:t>The server's answer. It takes time and can fail, so every screen that loads has three states:</a:t>
            </a:r>
            <a:endParaRPr lang="en-US" sz="1250" dirty="0"/>
          </a:p>
        </p:txBody>
      </p:sp>
      <p:sp>
        <p:nvSpPr>
          <p:cNvPr id="14" name="Shape 10"/>
          <p:cNvSpPr/>
          <p:nvPr/>
        </p:nvSpPr>
        <p:spPr>
          <a:xfrm>
            <a:off x="8001000" y="1841500"/>
            <a:ext cx="3378200" cy="3175000"/>
          </a:xfrm>
          <a:prstGeom prst="roundRect">
            <a:avLst>
              <a:gd name="adj" fmla="val 5184"/>
            </a:avLst>
          </a:prstGeom>
          <a:solidFill>
            <a:srgbClr val="FFFFFF">
              <a:alpha val="6000"/>
            </a:srgbClr>
          </a:solidFill>
          <a:ln w="12700">
            <a:solidFill>
              <a:srgbClr val="FFFFFF">
                <a:alpha val="15000"/>
              </a:srgbClr>
            </a:solidFill>
            <a:prstDash val="solid"/>
          </a:ln>
        </p:spPr>
      </p:sp>
      <p:pic>
        <p:nvPicPr>
          <p:cNvPr id="15" name="Image 2" descr="preencoded.png">    </p:cNvPr>
          <p:cNvPicPr>
            <a:picLocks noChangeAspect="1"/>
          </p:cNvPicPr>
          <p:nvPr/>
        </p:nvPicPr>
        <p:blipFill>
          <a:blip r:embed="rId4"/>
          <a:stretch>
            <a:fillRect/>
          </a:stretch>
        </p:blipFill>
        <p:spPr>
          <a:xfrm>
            <a:off x="8229600" y="2057400"/>
            <a:ext cx="508000" cy="508000"/>
          </a:xfrm>
          <a:prstGeom prst="rect">
            <a:avLst/>
          </a:prstGeom>
        </p:spPr>
      </p:pic>
      <p:sp>
        <p:nvSpPr>
          <p:cNvPr id="16" name="Text 11"/>
          <p:cNvSpPr txBox="1"/>
          <p:nvPr/>
        </p:nvSpPr>
        <p:spPr>
          <a:xfrm>
            <a:off x="8229600" y="2692400"/>
            <a:ext cx="2921000" cy="215900"/>
          </a:xfrm>
          <a:prstGeom prst="rect">
            <a:avLst/>
          </a:prstGeom>
          <a:noFill/>
          <a:ln/>
        </p:spPr>
        <p:txBody>
          <a:bodyPr wrap="square" lIns="0" tIns="0" rIns="0" bIns="0" rtlCol="0" anchor="t"/>
          <a:lstStyle/>
          <a:p>
            <a:pPr indent="0" marL="0">
              <a:buNone/>
            </a:pPr>
            <a:r>
              <a:rPr lang="en-US" sz="1050" b="1" spc="300" kern="0" dirty="0">
                <a:solidFill>
                  <a:srgbClr val="54C5F8"/>
                </a:solidFill>
                <a:latin typeface="Arial" pitchFamily="34" charset="0"/>
                <a:ea typeface="Arial" pitchFamily="34" charset="-122"/>
                <a:cs typeface="Arial" pitchFamily="34" charset="-120"/>
              </a:rPr>
              <a:t>SHARED_PREFERENCES</a:t>
            </a:r>
            <a:endParaRPr lang="en-US" sz="1050" dirty="0"/>
          </a:p>
        </p:txBody>
      </p:sp>
      <p:sp>
        <p:nvSpPr>
          <p:cNvPr id="17" name="Text 12"/>
          <p:cNvSpPr txBox="1"/>
          <p:nvPr/>
        </p:nvSpPr>
        <p:spPr>
          <a:xfrm>
            <a:off x="8229600" y="2933700"/>
            <a:ext cx="2921000" cy="342900"/>
          </a:xfrm>
          <a:prstGeom prst="rect">
            <a:avLst/>
          </a:prstGeom>
          <a:noFill/>
          <a:ln/>
        </p:spPr>
        <p:txBody>
          <a:bodyPr wrap="square" lIns="0" tIns="0" rIns="0" bIns="0" rtlCol="0" anchor="t"/>
          <a:lstStyle/>
          <a:p>
            <a:pPr indent="0" marL="0">
              <a:buNone/>
            </a:pPr>
            <a:r>
              <a:rPr lang="en-US" sz="1700" b="1" dirty="0">
                <a:solidFill>
                  <a:srgbClr val="F4F7FB"/>
                </a:solidFill>
                <a:latin typeface="Arial" pitchFamily="34" charset="0"/>
                <a:ea typeface="Arial" pitchFamily="34" charset="-122"/>
                <a:cs typeface="Arial" pitchFamily="34" charset="-120"/>
              </a:rPr>
              <a:t>How it remembers</a:t>
            </a:r>
            <a:endParaRPr lang="en-US" sz="1700" dirty="0"/>
          </a:p>
        </p:txBody>
      </p:sp>
      <p:sp>
        <p:nvSpPr>
          <p:cNvPr id="18" name="Text 13"/>
          <p:cNvSpPr txBox="1"/>
          <p:nvPr/>
        </p:nvSpPr>
        <p:spPr>
          <a:xfrm>
            <a:off x="8229600" y="3327400"/>
            <a:ext cx="2921000" cy="825500"/>
          </a:xfrm>
          <a:prstGeom prst="rect">
            <a:avLst/>
          </a:prstGeom>
          <a:noFill/>
          <a:ln/>
        </p:spPr>
        <p:txBody>
          <a:bodyPr wrap="square" lIns="0" tIns="0" rIns="0" bIns="0" rtlCol="0" anchor="t"/>
          <a:lstStyle/>
          <a:p>
            <a:pPr indent="0" marL="0">
              <a:lnSpc>
                <a:spcPct val="120000"/>
              </a:lnSpc>
              <a:buNone/>
            </a:pPr>
            <a:r>
              <a:rPr lang="en-US" sz="1250" dirty="0">
                <a:solidFill>
                  <a:srgbClr val="B8C4D9"/>
                </a:solidFill>
                <a:latin typeface="Arial" pitchFamily="34" charset="0"/>
                <a:ea typeface="Arial" pitchFamily="34" charset="-122"/>
                <a:cs typeface="Arial" pitchFamily="34" charset="-120"/>
              </a:rPr>
              <a:t>Small data kept on the phone after the app closes. Saving and reading are async too.</a:t>
            </a:r>
            <a:endParaRPr lang="en-US" sz="1250" dirty="0"/>
          </a:p>
        </p:txBody>
      </p:sp>
      <p:sp>
        <p:nvSpPr>
          <p:cNvPr id="19" name="Shape 14"/>
          <p:cNvSpPr/>
          <p:nvPr/>
        </p:nvSpPr>
        <p:spPr>
          <a:xfrm>
            <a:off x="4635500" y="4140200"/>
            <a:ext cx="698500" cy="228600"/>
          </a:xfrm>
          <a:prstGeom prst="roundRect">
            <a:avLst>
              <a:gd name="adj" fmla="val 80000"/>
            </a:avLst>
          </a:prstGeom>
          <a:solidFill>
            <a:srgbClr val="FFFFFF"/>
          </a:solidFill>
          <a:ln w="12700">
            <a:solidFill>
              <a:srgbClr val="FFFFFF"/>
            </a:solidFill>
            <a:prstDash val="solid"/>
          </a:ln>
        </p:spPr>
      </p:sp>
      <p:sp>
        <p:nvSpPr>
          <p:cNvPr id="20" name="Text 15"/>
          <p:cNvSpPr txBox="1"/>
          <p:nvPr/>
        </p:nvSpPr>
        <p:spPr>
          <a:xfrm>
            <a:off x="4635500" y="4140200"/>
            <a:ext cx="698500" cy="228600"/>
          </a:xfrm>
          <a:prstGeom prst="rect">
            <a:avLst/>
          </a:prstGeom>
          <a:noFill/>
          <a:ln/>
        </p:spPr>
        <p:txBody>
          <a:bodyPr wrap="square" lIns="0" tIns="0" rIns="0" bIns="0" rtlCol="0" anchor="ctr"/>
          <a:lstStyle/>
          <a:p>
            <a:pPr algn="ctr" indent="0" marL="0">
              <a:buNone/>
            </a:pPr>
            <a:r>
              <a:rPr lang="en-US" sz="950" b="1" dirty="0">
                <a:solidFill>
                  <a:srgbClr val="0468D7"/>
                </a:solidFill>
                <a:latin typeface="Arial" pitchFamily="34" charset="0"/>
                <a:ea typeface="Arial" pitchFamily="34" charset="-122"/>
                <a:cs typeface="Arial" pitchFamily="34" charset="-120"/>
              </a:rPr>
              <a:t>Loading</a:t>
            </a:r>
            <a:endParaRPr lang="en-US" sz="950" dirty="0"/>
          </a:p>
        </p:txBody>
      </p:sp>
      <p:sp>
        <p:nvSpPr>
          <p:cNvPr id="21" name="Text 16"/>
          <p:cNvSpPr txBox="1"/>
          <p:nvPr/>
        </p:nvSpPr>
        <p:spPr>
          <a:xfrm>
            <a:off x="5410200" y="4140200"/>
            <a:ext cx="1905000" cy="228600"/>
          </a:xfrm>
          <a:prstGeom prst="rect">
            <a:avLst/>
          </a:prstGeom>
          <a:noFill/>
          <a:ln/>
        </p:spPr>
        <p:txBody>
          <a:bodyPr wrap="square" lIns="0" tIns="0" rIns="0" bIns="0" rtlCol="0" anchor="ctr"/>
          <a:lstStyle/>
          <a:p>
            <a:pPr indent="0" marL="0">
              <a:buNone/>
            </a:pPr>
            <a:r>
              <a:rPr lang="en-US" sz="1000" dirty="0">
                <a:solidFill>
                  <a:srgbClr val="F4F7FB"/>
                </a:solidFill>
                <a:latin typeface="Arial" pitchFamily="34" charset="0"/>
                <a:ea typeface="Arial" pitchFamily="34" charset="-122"/>
                <a:cs typeface="Arial" pitchFamily="34" charset="-120"/>
              </a:rPr>
              <a:t>waiting for the answer</a:t>
            </a:r>
            <a:endParaRPr lang="en-US" sz="1000" dirty="0"/>
          </a:p>
        </p:txBody>
      </p:sp>
      <p:sp>
        <p:nvSpPr>
          <p:cNvPr id="22" name="Shape 17"/>
          <p:cNvSpPr/>
          <p:nvPr/>
        </p:nvSpPr>
        <p:spPr>
          <a:xfrm>
            <a:off x="4635500" y="4419600"/>
            <a:ext cx="698500" cy="228600"/>
          </a:xfrm>
          <a:prstGeom prst="roundRect">
            <a:avLst>
              <a:gd name="adj" fmla="val 80000"/>
            </a:avLst>
          </a:prstGeom>
          <a:solidFill>
            <a:srgbClr val="FFFFFF"/>
          </a:solidFill>
          <a:ln w="12700">
            <a:solidFill>
              <a:srgbClr val="FFFFFF"/>
            </a:solidFill>
            <a:prstDash val="solid"/>
          </a:ln>
        </p:spPr>
      </p:sp>
      <p:sp>
        <p:nvSpPr>
          <p:cNvPr id="23" name="Text 18"/>
          <p:cNvSpPr txBox="1"/>
          <p:nvPr/>
        </p:nvSpPr>
        <p:spPr>
          <a:xfrm>
            <a:off x="4635500" y="4419600"/>
            <a:ext cx="698500" cy="228600"/>
          </a:xfrm>
          <a:prstGeom prst="rect">
            <a:avLst/>
          </a:prstGeom>
          <a:noFill/>
          <a:ln/>
        </p:spPr>
        <p:txBody>
          <a:bodyPr wrap="square" lIns="0" tIns="0" rIns="0" bIns="0" rtlCol="0" anchor="ctr"/>
          <a:lstStyle/>
          <a:p>
            <a:pPr algn="ctr" indent="0" marL="0">
              <a:buNone/>
            </a:pPr>
            <a:r>
              <a:rPr lang="en-US" sz="950" b="1" dirty="0">
                <a:solidFill>
                  <a:srgbClr val="0468D7"/>
                </a:solidFill>
                <a:latin typeface="Arial" pitchFamily="34" charset="0"/>
                <a:ea typeface="Arial" pitchFamily="34" charset="-122"/>
                <a:cs typeface="Arial" pitchFamily="34" charset="-120"/>
              </a:rPr>
              <a:t>Error</a:t>
            </a:r>
            <a:endParaRPr lang="en-US" sz="950" dirty="0"/>
          </a:p>
        </p:txBody>
      </p:sp>
      <p:sp>
        <p:nvSpPr>
          <p:cNvPr id="24" name="Text 19"/>
          <p:cNvSpPr txBox="1"/>
          <p:nvPr/>
        </p:nvSpPr>
        <p:spPr>
          <a:xfrm>
            <a:off x="5410200" y="4419600"/>
            <a:ext cx="1905000" cy="228600"/>
          </a:xfrm>
          <a:prstGeom prst="rect">
            <a:avLst/>
          </a:prstGeom>
          <a:noFill/>
          <a:ln/>
        </p:spPr>
        <p:txBody>
          <a:bodyPr wrap="square" lIns="0" tIns="0" rIns="0" bIns="0" rtlCol="0" anchor="ctr"/>
          <a:lstStyle/>
          <a:p>
            <a:pPr indent="0" marL="0">
              <a:buNone/>
            </a:pPr>
            <a:r>
              <a:rPr lang="en-US" sz="1000" dirty="0">
                <a:solidFill>
                  <a:srgbClr val="F4F7FB"/>
                </a:solidFill>
                <a:latin typeface="Arial" pitchFamily="34" charset="0"/>
                <a:ea typeface="Arial" pitchFamily="34" charset="-122"/>
                <a:cs typeface="Arial" pitchFamily="34" charset="-120"/>
              </a:rPr>
              <a:t>no internet, or the server failed</a:t>
            </a:r>
            <a:endParaRPr lang="en-US" sz="1000" dirty="0"/>
          </a:p>
        </p:txBody>
      </p:sp>
      <p:sp>
        <p:nvSpPr>
          <p:cNvPr id="25" name="Shape 20"/>
          <p:cNvSpPr/>
          <p:nvPr/>
        </p:nvSpPr>
        <p:spPr>
          <a:xfrm>
            <a:off x="4635500" y="4699000"/>
            <a:ext cx="698500" cy="228600"/>
          </a:xfrm>
          <a:prstGeom prst="roundRect">
            <a:avLst>
              <a:gd name="adj" fmla="val 80000"/>
            </a:avLst>
          </a:prstGeom>
          <a:solidFill>
            <a:srgbClr val="FFFFFF"/>
          </a:solidFill>
          <a:ln w="12700">
            <a:solidFill>
              <a:srgbClr val="FFFFFF"/>
            </a:solidFill>
            <a:prstDash val="solid"/>
          </a:ln>
        </p:spPr>
      </p:sp>
      <p:sp>
        <p:nvSpPr>
          <p:cNvPr id="26" name="Text 21"/>
          <p:cNvSpPr txBox="1"/>
          <p:nvPr/>
        </p:nvSpPr>
        <p:spPr>
          <a:xfrm>
            <a:off x="4635500" y="4699000"/>
            <a:ext cx="698500" cy="228600"/>
          </a:xfrm>
          <a:prstGeom prst="rect">
            <a:avLst/>
          </a:prstGeom>
          <a:noFill/>
          <a:ln/>
        </p:spPr>
        <p:txBody>
          <a:bodyPr wrap="square" lIns="0" tIns="0" rIns="0" bIns="0" rtlCol="0" anchor="ctr"/>
          <a:lstStyle/>
          <a:p>
            <a:pPr algn="ctr" indent="0" marL="0">
              <a:buNone/>
            </a:pPr>
            <a:r>
              <a:rPr lang="en-US" sz="950" b="1" dirty="0">
                <a:solidFill>
                  <a:srgbClr val="0468D7"/>
                </a:solidFill>
                <a:latin typeface="Arial" pitchFamily="34" charset="0"/>
                <a:ea typeface="Arial" pitchFamily="34" charset="-122"/>
                <a:cs typeface="Arial" pitchFamily="34" charset="-120"/>
              </a:rPr>
              <a:t>Data</a:t>
            </a:r>
            <a:endParaRPr lang="en-US" sz="950" dirty="0"/>
          </a:p>
        </p:txBody>
      </p:sp>
      <p:sp>
        <p:nvSpPr>
          <p:cNvPr id="27" name="Text 22"/>
          <p:cNvSpPr txBox="1"/>
          <p:nvPr/>
        </p:nvSpPr>
        <p:spPr>
          <a:xfrm>
            <a:off x="5410200" y="4699000"/>
            <a:ext cx="1905000" cy="228600"/>
          </a:xfrm>
          <a:prstGeom prst="rect">
            <a:avLst/>
          </a:prstGeom>
          <a:noFill/>
          <a:ln/>
        </p:spPr>
        <p:txBody>
          <a:bodyPr wrap="square" lIns="0" tIns="0" rIns="0" bIns="0" rtlCol="0" anchor="ctr"/>
          <a:lstStyle/>
          <a:p>
            <a:pPr indent="0" marL="0">
              <a:buNone/>
            </a:pPr>
            <a:r>
              <a:rPr lang="en-US" sz="1000" dirty="0">
                <a:solidFill>
                  <a:srgbClr val="F4F7FB"/>
                </a:solidFill>
                <a:latin typeface="Arial" pitchFamily="34" charset="0"/>
                <a:ea typeface="Arial" pitchFamily="34" charset="-122"/>
                <a:cs typeface="Arial" pitchFamily="34" charset="-120"/>
              </a:rPr>
              <a:t>the answer arrived</a:t>
            </a:r>
            <a:endParaRPr lang="en-US" sz="1000" dirty="0"/>
          </a:p>
        </p:txBody>
      </p:sp>
      <p:sp>
        <p:nvSpPr>
          <p:cNvPr id="28" name="Shape 23"/>
          <p:cNvSpPr/>
          <p:nvPr/>
        </p:nvSpPr>
        <p:spPr>
          <a:xfrm>
            <a:off x="4203700" y="3429000"/>
            <a:ext cx="190500" cy="0"/>
          </a:xfrm>
          <a:prstGeom prst="line">
            <a:avLst/>
          </a:prstGeom>
          <a:noFill/>
          <a:ln w="31750">
            <a:solidFill>
              <a:srgbClr val="54C5F8"/>
            </a:solidFill>
            <a:prstDash val="solid"/>
            <a:tailEnd type="triangle"/>
          </a:ln>
        </p:spPr>
      </p:sp>
      <p:sp>
        <p:nvSpPr>
          <p:cNvPr id="29" name="Shape 24"/>
          <p:cNvSpPr/>
          <p:nvPr/>
        </p:nvSpPr>
        <p:spPr>
          <a:xfrm>
            <a:off x="7797800" y="3429000"/>
            <a:ext cx="190500" cy="0"/>
          </a:xfrm>
          <a:prstGeom prst="line">
            <a:avLst/>
          </a:prstGeom>
          <a:noFill/>
          <a:ln w="31750">
            <a:solidFill>
              <a:srgbClr val="54C5F8"/>
            </a:solidFill>
            <a:prstDash val="solid"/>
            <a:tailEnd type="triangle"/>
          </a:ln>
        </p:spPr>
      </p:sp>
      <p:sp>
        <p:nvSpPr>
          <p:cNvPr id="30" name="Text 25"/>
          <p:cNvSpPr txBox="1"/>
          <p:nvPr/>
        </p:nvSpPr>
        <p:spPr>
          <a:xfrm>
            <a:off x="1041400" y="5156200"/>
            <a:ext cx="2921000" cy="190500"/>
          </a:xfrm>
          <a:prstGeom prst="rect">
            <a:avLst/>
          </a:prstGeom>
          <a:noFill/>
          <a:ln/>
        </p:spPr>
        <p:txBody>
          <a:bodyPr wrap="square" lIns="0" tIns="0" rIns="0" bIns="0" rtlCol="0" anchor="t"/>
          <a:lstStyle/>
          <a:p>
            <a:pPr indent="0" marL="0">
              <a:buNone/>
            </a:pPr>
            <a:r>
              <a:rPr lang="en-US" sz="1000" b="1" spc="300" kern="0" dirty="0">
                <a:solidFill>
                  <a:srgbClr val="54C5F8"/>
                </a:solidFill>
                <a:latin typeface="Arial" pitchFamily="34" charset="0"/>
                <a:ea typeface="Arial" pitchFamily="34" charset="-122"/>
                <a:cs typeface="Arial" pitchFamily="34" charset="-120"/>
              </a:rPr>
              <a:t>FOR EXAMPLE</a:t>
            </a:r>
            <a:endParaRPr lang="en-US" sz="1000" dirty="0"/>
          </a:p>
        </p:txBody>
      </p:sp>
      <p:sp>
        <p:nvSpPr>
          <p:cNvPr id="31" name="Text 26"/>
          <p:cNvSpPr txBox="1"/>
          <p:nvPr/>
        </p:nvSpPr>
        <p:spPr>
          <a:xfrm>
            <a:off x="1041400" y="5397500"/>
            <a:ext cx="3048000" cy="88900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F4F7FB"/>
                </a:solidFill>
                <a:latin typeface="Arial" pitchFamily="34" charset="0"/>
                <a:ea typeface="Arial" pitchFamily="34" charset="-122"/>
                <a:cs typeface="Arial" pitchFamily="34" charset="-120"/>
              </a:rPr>
              <a:t>Loading the weather</a:t>
            </a:r>
            <a:endParaRPr lang="en-US" sz="1200" dirty="0"/>
          </a:p>
          <a:p>
            <a:pPr marL="228600" indent="-228600">
              <a:spcAft>
                <a:spcPts val="400"/>
              </a:spcAft>
              <a:buSzPct val="100000"/>
              <a:buChar char="•"/>
            </a:pPr>
            <a:r>
              <a:rPr lang="en-US" sz="1200" dirty="0">
                <a:solidFill>
                  <a:srgbClr val="F4F7FB"/>
                </a:solidFill>
                <a:latin typeface="Arial" pitchFamily="34" charset="0"/>
                <a:ea typeface="Arial" pitchFamily="34" charset="-122"/>
                <a:cs typeface="Arial" pitchFamily="34" charset="-120"/>
              </a:rPr>
              <a:t>Sending a MoMo payment</a:t>
            </a:r>
            <a:endParaRPr lang="en-US" sz="1200" dirty="0"/>
          </a:p>
          <a:p>
            <a:pPr marL="228600" indent="-228600">
              <a:spcAft>
                <a:spcPts val="400"/>
              </a:spcAft>
              <a:buSzPct val="100000"/>
              <a:buChar char="•"/>
            </a:pPr>
            <a:r>
              <a:rPr lang="en-US" sz="1200" dirty="0">
                <a:solidFill>
                  <a:srgbClr val="F4F7FB"/>
                </a:solidFill>
                <a:latin typeface="Arial" pitchFamily="34" charset="0"/>
                <a:ea typeface="Arial" pitchFamily="34" charset="-122"/>
                <a:cs typeface="Arial" pitchFamily="34" charset="-120"/>
              </a:rPr>
              <a:t>Uploading a profile photo</a:t>
            </a:r>
            <a:endParaRPr lang="en-US" sz="1200" dirty="0"/>
          </a:p>
        </p:txBody>
      </p:sp>
      <p:sp>
        <p:nvSpPr>
          <p:cNvPr id="32" name="Text 27"/>
          <p:cNvSpPr txBox="1"/>
          <p:nvPr/>
        </p:nvSpPr>
        <p:spPr>
          <a:xfrm>
            <a:off x="4635500" y="5156200"/>
            <a:ext cx="2921000" cy="190500"/>
          </a:xfrm>
          <a:prstGeom prst="rect">
            <a:avLst/>
          </a:prstGeom>
          <a:noFill/>
          <a:ln/>
        </p:spPr>
        <p:txBody>
          <a:bodyPr wrap="square" lIns="0" tIns="0" rIns="0" bIns="0" rtlCol="0" anchor="t"/>
          <a:lstStyle/>
          <a:p>
            <a:pPr indent="0" marL="0">
              <a:buNone/>
            </a:pPr>
            <a:r>
              <a:rPr lang="en-US" sz="1000" b="1" spc="300" kern="0" dirty="0">
                <a:solidFill>
                  <a:srgbClr val="54C5F8"/>
                </a:solidFill>
                <a:latin typeface="Arial" pitchFamily="34" charset="0"/>
                <a:ea typeface="Arial" pitchFamily="34" charset="-122"/>
                <a:cs typeface="Arial" pitchFamily="34" charset="-120"/>
              </a:rPr>
              <a:t>FOR EXAMPLE</a:t>
            </a:r>
            <a:endParaRPr lang="en-US" sz="1000" dirty="0"/>
          </a:p>
        </p:txBody>
      </p:sp>
      <p:sp>
        <p:nvSpPr>
          <p:cNvPr id="33" name="Text 28"/>
          <p:cNvSpPr txBox="1"/>
          <p:nvPr/>
        </p:nvSpPr>
        <p:spPr>
          <a:xfrm>
            <a:off x="4635500" y="5397500"/>
            <a:ext cx="3048000" cy="88900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F4F7FB"/>
                </a:solidFill>
                <a:latin typeface="Arial" pitchFamily="34" charset="0"/>
                <a:ea typeface="Arial" pitchFamily="34" charset="-122"/>
                <a:cs typeface="Arial" pitchFamily="34" charset="-120"/>
              </a:rPr>
              <a:t>Weather: Open-Meteo</a:t>
            </a:r>
            <a:endParaRPr lang="en-US" sz="1200" dirty="0"/>
          </a:p>
          <a:p>
            <a:pPr marL="228600" indent="-228600">
              <a:spcAft>
                <a:spcPts val="400"/>
              </a:spcAft>
              <a:buSzPct val="100000"/>
              <a:buChar char="•"/>
            </a:pPr>
            <a:r>
              <a:rPr lang="en-US" sz="1200" dirty="0">
                <a:solidFill>
                  <a:srgbClr val="F4F7FB"/>
                </a:solidFill>
                <a:latin typeface="Arial" pitchFamily="34" charset="0"/>
                <a:ea typeface="Arial" pitchFamily="34" charset="-122"/>
                <a:cs typeface="Arial" pitchFamily="34" charset="-120"/>
              </a:rPr>
              <a:t>Exchange rates, news, maps</a:t>
            </a:r>
            <a:endParaRPr lang="en-US" sz="1200" dirty="0"/>
          </a:p>
          <a:p>
            <a:pPr marL="228600" indent="-228600">
              <a:spcAft>
                <a:spcPts val="400"/>
              </a:spcAft>
              <a:buSzPct val="100000"/>
              <a:buChar char="•"/>
            </a:pPr>
            <a:r>
              <a:rPr lang="en-US" sz="1200" dirty="0">
                <a:solidFill>
                  <a:srgbClr val="F4F7FB"/>
                </a:solidFill>
                <a:latin typeface="Arial" pitchFamily="34" charset="0"/>
                <a:ea typeface="Arial" pitchFamily="34" charset="-122"/>
                <a:cs typeface="Arial" pitchFamily="34" charset="-120"/>
              </a:rPr>
              <a:t>Your own app's server</a:t>
            </a:r>
            <a:endParaRPr lang="en-US" sz="1200" dirty="0"/>
          </a:p>
        </p:txBody>
      </p:sp>
      <p:sp>
        <p:nvSpPr>
          <p:cNvPr id="34" name="Text 29"/>
          <p:cNvSpPr txBox="1"/>
          <p:nvPr/>
        </p:nvSpPr>
        <p:spPr>
          <a:xfrm>
            <a:off x="8229600" y="5156200"/>
            <a:ext cx="2921000" cy="190500"/>
          </a:xfrm>
          <a:prstGeom prst="rect">
            <a:avLst/>
          </a:prstGeom>
          <a:noFill/>
          <a:ln/>
        </p:spPr>
        <p:txBody>
          <a:bodyPr wrap="square" lIns="0" tIns="0" rIns="0" bIns="0" rtlCol="0" anchor="t"/>
          <a:lstStyle/>
          <a:p>
            <a:pPr indent="0" marL="0">
              <a:buNone/>
            </a:pPr>
            <a:r>
              <a:rPr lang="en-US" sz="1000" b="1" spc="300" kern="0" dirty="0">
                <a:solidFill>
                  <a:srgbClr val="54C5F8"/>
                </a:solidFill>
                <a:latin typeface="Arial" pitchFamily="34" charset="0"/>
                <a:ea typeface="Arial" pitchFamily="34" charset="-122"/>
                <a:cs typeface="Arial" pitchFamily="34" charset="-120"/>
              </a:rPr>
              <a:t>FOR EXAMPLE</a:t>
            </a:r>
            <a:endParaRPr lang="en-US" sz="1000" dirty="0"/>
          </a:p>
        </p:txBody>
      </p:sp>
      <p:sp>
        <p:nvSpPr>
          <p:cNvPr id="35" name="Text 30"/>
          <p:cNvSpPr txBox="1"/>
          <p:nvPr/>
        </p:nvSpPr>
        <p:spPr>
          <a:xfrm>
            <a:off x="8229600" y="5397500"/>
            <a:ext cx="3048000" cy="88900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F4F7FB"/>
                </a:solidFill>
                <a:latin typeface="Arial" pitchFamily="34" charset="0"/>
                <a:ea typeface="Arial" pitchFamily="34" charset="-122"/>
                <a:cs typeface="Arial" pitchFamily="34" charset="-120"/>
              </a:rPr>
              <a:t>The city you chose</a:t>
            </a:r>
            <a:endParaRPr lang="en-US" sz="1200" dirty="0"/>
          </a:p>
          <a:p>
            <a:pPr marL="228600" indent="-228600">
              <a:spcAft>
                <a:spcPts val="400"/>
              </a:spcAft>
              <a:buSzPct val="100000"/>
              <a:buChar char="•"/>
            </a:pPr>
            <a:r>
              <a:rPr lang="en-US" sz="1200" dirty="0">
                <a:solidFill>
                  <a:srgbClr val="F4F7FB"/>
                </a:solidFill>
                <a:latin typeface="Arial" pitchFamily="34" charset="0"/>
                <a:ea typeface="Arial" pitchFamily="34" charset="-122"/>
                <a:cs typeface="Arial" pitchFamily="34" charset="-120"/>
              </a:rPr>
              <a:t>Dark mode, your language</a:t>
            </a:r>
            <a:endParaRPr lang="en-US" sz="1200" dirty="0"/>
          </a:p>
          <a:p>
            <a:pPr marL="228600" indent="-228600">
              <a:spcAft>
                <a:spcPts val="400"/>
              </a:spcAft>
              <a:buSzPct val="100000"/>
              <a:buChar char="•"/>
            </a:pPr>
            <a:r>
              <a:rPr lang="en-US" sz="1200" dirty="0">
                <a:solidFill>
                  <a:srgbClr val="F4F7FB"/>
                </a:solidFill>
                <a:latin typeface="Arial" pitchFamily="34" charset="0"/>
                <a:ea typeface="Arial" pitchFamily="34" charset="-122"/>
                <a:cs typeface="Arial" pitchFamily="34" charset="-120"/>
              </a:rPr>
              <a:t>The last weather, for offline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0468D7"/>
                </a:solidFill>
                <a:latin typeface="Arial" pitchFamily="34" charset="0"/>
                <a:ea typeface="Arial" pitchFamily="34" charset="-122"/>
                <a:cs typeface="Arial" pitchFamily="34" charset="-120"/>
              </a:rPr>
              <a:t>TONIGHT'S BUILD · KIGALI-WEATHER.HTML</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200" b="1" dirty="0">
                <a:solidFill>
                  <a:srgbClr val="0E1220"/>
                </a:solidFill>
                <a:latin typeface="Arial" pitchFamily="34" charset="0"/>
                <a:ea typeface="Arial" pitchFamily="34" charset="-122"/>
                <a:cs typeface="Arial" pitchFamily="34" charset="-120"/>
              </a:rPr>
              <a:t>Kigali Weather, then your mini project</a:t>
            </a:r>
            <a:endParaRPr lang="en-US" sz="3200" dirty="0"/>
          </a:p>
        </p:txBody>
      </p:sp>
      <p:sp>
        <p:nvSpPr>
          <p:cNvPr id="4" name="Shape 2"/>
          <p:cNvSpPr/>
          <p:nvPr/>
        </p:nvSpPr>
        <p:spPr>
          <a:xfrm>
            <a:off x="812800" y="1905000"/>
            <a:ext cx="3403600" cy="609600"/>
          </a:xfrm>
          <a:prstGeom prst="roundRect">
            <a:avLst>
              <a:gd name="adj" fmla="val 27000"/>
            </a:avLst>
          </a:prstGeom>
          <a:solidFill>
            <a:srgbClr val="FFFFFF"/>
          </a:solidFill>
          <a:ln w="12700">
            <a:solidFill>
              <a:srgbClr val="E1E7F0"/>
            </a:solidFill>
            <a:prstDash val="solid"/>
          </a:ln>
        </p:spPr>
      </p:sp>
      <p:sp>
        <p:nvSpPr>
          <p:cNvPr id="5" name="Shape 3"/>
          <p:cNvSpPr/>
          <p:nvPr/>
        </p:nvSpPr>
        <p:spPr>
          <a:xfrm>
            <a:off x="939800" y="2019300"/>
            <a:ext cx="381000" cy="381000"/>
          </a:xfrm>
          <a:prstGeom prst="roundRect">
            <a:avLst>
              <a:gd name="adj" fmla="val 48000"/>
            </a:avLst>
          </a:prstGeom>
          <a:solidFill>
            <a:srgbClr val="0468D7"/>
          </a:solidFill>
          <a:ln w="12700">
            <a:solidFill>
              <a:srgbClr val="0468D7"/>
            </a:solidFill>
            <a:prstDash val="solid"/>
          </a:ln>
        </p:spPr>
      </p:sp>
      <p:sp>
        <p:nvSpPr>
          <p:cNvPr id="6" name="Text 4"/>
          <p:cNvSpPr txBox="1"/>
          <p:nvPr/>
        </p:nvSpPr>
        <p:spPr>
          <a:xfrm>
            <a:off x="939800" y="20193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A</a:t>
            </a:r>
            <a:endParaRPr lang="en-US" sz="1350" dirty="0"/>
          </a:p>
        </p:txBody>
      </p:sp>
      <p:sp>
        <p:nvSpPr>
          <p:cNvPr id="7" name="Text 5"/>
          <p:cNvSpPr txBox="1"/>
          <p:nvPr/>
        </p:nvSpPr>
        <p:spPr>
          <a:xfrm>
            <a:off x="1447800" y="1981200"/>
            <a:ext cx="26670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Create the app + packages</a:t>
            </a:r>
            <a:endParaRPr lang="en-US" sz="1350" dirty="0"/>
          </a:p>
        </p:txBody>
      </p:sp>
      <p:sp>
        <p:nvSpPr>
          <p:cNvPr id="8" name="Text 6"/>
          <p:cNvSpPr txBox="1"/>
          <p:nvPr/>
        </p:nvSpPr>
        <p:spPr>
          <a:xfrm>
            <a:off x="1447800" y="2235200"/>
            <a:ext cx="26670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http · shared_preferences</a:t>
            </a:r>
            <a:endParaRPr lang="en-US" sz="1050" dirty="0"/>
          </a:p>
        </p:txBody>
      </p:sp>
      <p:sp>
        <p:nvSpPr>
          <p:cNvPr id="9" name="Shape 7"/>
          <p:cNvSpPr/>
          <p:nvPr/>
        </p:nvSpPr>
        <p:spPr>
          <a:xfrm>
            <a:off x="812800" y="2616200"/>
            <a:ext cx="3403600" cy="609600"/>
          </a:xfrm>
          <a:prstGeom prst="roundRect">
            <a:avLst>
              <a:gd name="adj" fmla="val 27000"/>
            </a:avLst>
          </a:prstGeom>
          <a:solidFill>
            <a:srgbClr val="FFFFFF"/>
          </a:solidFill>
          <a:ln w="12700">
            <a:solidFill>
              <a:srgbClr val="E1E7F0"/>
            </a:solidFill>
            <a:prstDash val="solid"/>
          </a:ln>
        </p:spPr>
      </p:sp>
      <p:sp>
        <p:nvSpPr>
          <p:cNvPr id="10" name="Shape 8"/>
          <p:cNvSpPr/>
          <p:nvPr/>
        </p:nvSpPr>
        <p:spPr>
          <a:xfrm>
            <a:off x="939800" y="2730500"/>
            <a:ext cx="381000" cy="381000"/>
          </a:xfrm>
          <a:prstGeom prst="roundRect">
            <a:avLst>
              <a:gd name="adj" fmla="val 48000"/>
            </a:avLst>
          </a:prstGeom>
          <a:solidFill>
            <a:srgbClr val="0468D7"/>
          </a:solidFill>
          <a:ln w="12700">
            <a:solidFill>
              <a:srgbClr val="0468D7"/>
            </a:solidFill>
            <a:prstDash val="solid"/>
          </a:ln>
        </p:spPr>
      </p:sp>
      <p:sp>
        <p:nvSpPr>
          <p:cNvPr id="11" name="Text 9"/>
          <p:cNvSpPr txBox="1"/>
          <p:nvPr/>
        </p:nvSpPr>
        <p:spPr>
          <a:xfrm>
            <a:off x="939800" y="27305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B</a:t>
            </a:r>
            <a:endParaRPr lang="en-US" sz="1350" dirty="0"/>
          </a:p>
        </p:txBody>
      </p:sp>
      <p:sp>
        <p:nvSpPr>
          <p:cNvPr id="12" name="Text 10"/>
          <p:cNvSpPr txBox="1"/>
          <p:nvPr/>
        </p:nvSpPr>
        <p:spPr>
          <a:xfrm>
            <a:off x="1447800" y="2692400"/>
            <a:ext cx="26670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Warm-up</a:t>
            </a:r>
            <a:endParaRPr lang="en-US" sz="1350" dirty="0"/>
          </a:p>
        </p:txBody>
      </p:sp>
      <p:sp>
        <p:nvSpPr>
          <p:cNvPr id="13" name="Text 11"/>
          <p:cNvSpPr txBox="1"/>
          <p:nvPr/>
        </p:nvSpPr>
        <p:spPr>
          <a:xfrm>
            <a:off x="1447800" y="2946400"/>
            <a:ext cx="26670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Future · async · await</a:t>
            </a:r>
            <a:endParaRPr lang="en-US" sz="1050" dirty="0"/>
          </a:p>
        </p:txBody>
      </p:sp>
      <p:sp>
        <p:nvSpPr>
          <p:cNvPr id="14" name="Shape 12"/>
          <p:cNvSpPr/>
          <p:nvPr/>
        </p:nvSpPr>
        <p:spPr>
          <a:xfrm>
            <a:off x="812800" y="3327400"/>
            <a:ext cx="3403600" cy="609600"/>
          </a:xfrm>
          <a:prstGeom prst="roundRect">
            <a:avLst>
              <a:gd name="adj" fmla="val 27000"/>
            </a:avLst>
          </a:prstGeom>
          <a:solidFill>
            <a:srgbClr val="FFFFFF"/>
          </a:solidFill>
          <a:ln w="12700">
            <a:solidFill>
              <a:srgbClr val="E1E7F0"/>
            </a:solidFill>
            <a:prstDash val="solid"/>
          </a:ln>
        </p:spPr>
      </p:sp>
      <p:sp>
        <p:nvSpPr>
          <p:cNvPr id="15" name="Shape 13"/>
          <p:cNvSpPr/>
          <p:nvPr/>
        </p:nvSpPr>
        <p:spPr>
          <a:xfrm>
            <a:off x="939800" y="3441700"/>
            <a:ext cx="381000" cy="381000"/>
          </a:xfrm>
          <a:prstGeom prst="roundRect">
            <a:avLst>
              <a:gd name="adj" fmla="val 48000"/>
            </a:avLst>
          </a:prstGeom>
          <a:solidFill>
            <a:srgbClr val="0468D7"/>
          </a:solidFill>
          <a:ln w="12700">
            <a:solidFill>
              <a:srgbClr val="0468D7"/>
            </a:solidFill>
            <a:prstDash val="solid"/>
          </a:ln>
        </p:spPr>
      </p:sp>
      <p:sp>
        <p:nvSpPr>
          <p:cNvPr id="16" name="Text 14"/>
          <p:cNvSpPr txBox="1"/>
          <p:nvPr/>
        </p:nvSpPr>
        <p:spPr>
          <a:xfrm>
            <a:off x="939800" y="34417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1</a:t>
            </a:r>
            <a:endParaRPr lang="en-US" sz="1350" dirty="0"/>
          </a:p>
        </p:txBody>
      </p:sp>
      <p:sp>
        <p:nvSpPr>
          <p:cNvPr id="17" name="Text 15"/>
          <p:cNvSpPr txBox="1"/>
          <p:nvPr/>
        </p:nvSpPr>
        <p:spPr>
          <a:xfrm>
            <a:off x="1447800" y="3403600"/>
            <a:ext cx="26670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Look at the data</a:t>
            </a:r>
            <a:endParaRPr lang="en-US" sz="1350" dirty="0"/>
          </a:p>
        </p:txBody>
      </p:sp>
      <p:sp>
        <p:nvSpPr>
          <p:cNvPr id="18" name="Text 16"/>
          <p:cNvSpPr txBox="1"/>
          <p:nvPr/>
        </p:nvSpPr>
        <p:spPr>
          <a:xfrm>
            <a:off x="1447800" y="3657600"/>
            <a:ext cx="26670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the API in Chrome</a:t>
            </a:r>
            <a:endParaRPr lang="en-US" sz="1050" dirty="0"/>
          </a:p>
        </p:txBody>
      </p:sp>
      <p:sp>
        <p:nvSpPr>
          <p:cNvPr id="19" name="Shape 17"/>
          <p:cNvSpPr/>
          <p:nvPr/>
        </p:nvSpPr>
        <p:spPr>
          <a:xfrm>
            <a:off x="812800" y="4038600"/>
            <a:ext cx="3403600" cy="609600"/>
          </a:xfrm>
          <a:prstGeom prst="roundRect">
            <a:avLst>
              <a:gd name="adj" fmla="val 27000"/>
            </a:avLst>
          </a:prstGeom>
          <a:solidFill>
            <a:srgbClr val="FFFFFF"/>
          </a:solidFill>
          <a:ln w="12700">
            <a:solidFill>
              <a:srgbClr val="E1E7F0"/>
            </a:solidFill>
            <a:prstDash val="solid"/>
          </a:ln>
        </p:spPr>
      </p:sp>
      <p:sp>
        <p:nvSpPr>
          <p:cNvPr id="20" name="Shape 18"/>
          <p:cNvSpPr/>
          <p:nvPr/>
        </p:nvSpPr>
        <p:spPr>
          <a:xfrm>
            <a:off x="939800" y="4152900"/>
            <a:ext cx="381000" cy="381000"/>
          </a:xfrm>
          <a:prstGeom prst="roundRect">
            <a:avLst>
              <a:gd name="adj" fmla="val 48000"/>
            </a:avLst>
          </a:prstGeom>
          <a:solidFill>
            <a:srgbClr val="0468D7"/>
          </a:solidFill>
          <a:ln w="12700">
            <a:solidFill>
              <a:srgbClr val="0468D7"/>
            </a:solidFill>
            <a:prstDash val="solid"/>
          </a:ln>
        </p:spPr>
      </p:sp>
      <p:sp>
        <p:nvSpPr>
          <p:cNvPr id="21" name="Text 19"/>
          <p:cNvSpPr txBox="1"/>
          <p:nvPr/>
        </p:nvSpPr>
        <p:spPr>
          <a:xfrm>
            <a:off x="939800" y="41529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2</a:t>
            </a:r>
            <a:endParaRPr lang="en-US" sz="1350" dirty="0"/>
          </a:p>
        </p:txBody>
      </p:sp>
      <p:sp>
        <p:nvSpPr>
          <p:cNvPr id="22" name="Text 20"/>
          <p:cNvSpPr txBox="1"/>
          <p:nvPr/>
        </p:nvSpPr>
        <p:spPr>
          <a:xfrm>
            <a:off x="1447800" y="4114800"/>
            <a:ext cx="26670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Model + request</a:t>
            </a:r>
            <a:endParaRPr lang="en-US" sz="1350" dirty="0"/>
          </a:p>
        </p:txBody>
      </p:sp>
      <p:sp>
        <p:nvSpPr>
          <p:cNvPr id="23" name="Text 21"/>
          <p:cNvSpPr txBox="1"/>
          <p:nvPr/>
        </p:nvSpPr>
        <p:spPr>
          <a:xfrm>
            <a:off x="1447800" y="4368800"/>
            <a:ext cx="26670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fromJson · http.get</a:t>
            </a:r>
            <a:endParaRPr lang="en-US" sz="1050" dirty="0"/>
          </a:p>
        </p:txBody>
      </p:sp>
      <p:sp>
        <p:nvSpPr>
          <p:cNvPr id="24" name="Shape 22"/>
          <p:cNvSpPr/>
          <p:nvPr/>
        </p:nvSpPr>
        <p:spPr>
          <a:xfrm>
            <a:off x="812800" y="4749800"/>
            <a:ext cx="3403600" cy="609600"/>
          </a:xfrm>
          <a:prstGeom prst="roundRect">
            <a:avLst>
              <a:gd name="adj" fmla="val 27000"/>
            </a:avLst>
          </a:prstGeom>
          <a:solidFill>
            <a:srgbClr val="FFFFFF"/>
          </a:solidFill>
          <a:ln w="12700">
            <a:solidFill>
              <a:srgbClr val="E1E7F0"/>
            </a:solidFill>
            <a:prstDash val="solid"/>
          </a:ln>
        </p:spPr>
      </p:sp>
      <p:sp>
        <p:nvSpPr>
          <p:cNvPr id="25" name="Shape 23"/>
          <p:cNvSpPr/>
          <p:nvPr/>
        </p:nvSpPr>
        <p:spPr>
          <a:xfrm>
            <a:off x="939800" y="4864100"/>
            <a:ext cx="381000" cy="381000"/>
          </a:xfrm>
          <a:prstGeom prst="roundRect">
            <a:avLst>
              <a:gd name="adj" fmla="val 48000"/>
            </a:avLst>
          </a:prstGeom>
          <a:solidFill>
            <a:srgbClr val="0468D7"/>
          </a:solidFill>
          <a:ln w="12700">
            <a:solidFill>
              <a:srgbClr val="0468D7"/>
            </a:solidFill>
            <a:prstDash val="solid"/>
          </a:ln>
        </p:spPr>
      </p:sp>
      <p:sp>
        <p:nvSpPr>
          <p:cNvPr id="26" name="Text 24"/>
          <p:cNvSpPr txBox="1"/>
          <p:nvPr/>
        </p:nvSpPr>
        <p:spPr>
          <a:xfrm>
            <a:off x="939800" y="48641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3</a:t>
            </a:r>
            <a:endParaRPr lang="en-US" sz="1350" dirty="0"/>
          </a:p>
        </p:txBody>
      </p:sp>
      <p:sp>
        <p:nvSpPr>
          <p:cNvPr id="27" name="Text 25"/>
          <p:cNvSpPr txBox="1"/>
          <p:nvPr/>
        </p:nvSpPr>
        <p:spPr>
          <a:xfrm>
            <a:off x="1447800" y="4826000"/>
            <a:ext cx="26670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Show it</a:t>
            </a:r>
            <a:endParaRPr lang="en-US" sz="1350" dirty="0"/>
          </a:p>
        </p:txBody>
      </p:sp>
      <p:sp>
        <p:nvSpPr>
          <p:cNvPr id="28" name="Text 26"/>
          <p:cNvSpPr txBox="1"/>
          <p:nvPr/>
        </p:nvSpPr>
        <p:spPr>
          <a:xfrm>
            <a:off x="1447800" y="5080000"/>
            <a:ext cx="26670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loading → data</a:t>
            </a:r>
            <a:endParaRPr lang="en-US" sz="1050" dirty="0"/>
          </a:p>
        </p:txBody>
      </p:sp>
      <p:sp>
        <p:nvSpPr>
          <p:cNvPr id="29" name="Shape 27"/>
          <p:cNvSpPr/>
          <p:nvPr/>
        </p:nvSpPr>
        <p:spPr>
          <a:xfrm>
            <a:off x="4368800" y="1905000"/>
            <a:ext cx="3403600" cy="609600"/>
          </a:xfrm>
          <a:prstGeom prst="roundRect">
            <a:avLst>
              <a:gd name="adj" fmla="val 27000"/>
            </a:avLst>
          </a:prstGeom>
          <a:solidFill>
            <a:srgbClr val="FFFFFF"/>
          </a:solidFill>
          <a:ln w="12700">
            <a:solidFill>
              <a:srgbClr val="E1E7F0"/>
            </a:solidFill>
            <a:prstDash val="solid"/>
          </a:ln>
        </p:spPr>
      </p:sp>
      <p:sp>
        <p:nvSpPr>
          <p:cNvPr id="30" name="Shape 28"/>
          <p:cNvSpPr/>
          <p:nvPr/>
        </p:nvSpPr>
        <p:spPr>
          <a:xfrm>
            <a:off x="4495800" y="2019300"/>
            <a:ext cx="381000" cy="381000"/>
          </a:xfrm>
          <a:prstGeom prst="roundRect">
            <a:avLst>
              <a:gd name="adj" fmla="val 48000"/>
            </a:avLst>
          </a:prstGeom>
          <a:solidFill>
            <a:srgbClr val="0468D7"/>
          </a:solidFill>
          <a:ln w="12700">
            <a:solidFill>
              <a:srgbClr val="0468D7"/>
            </a:solidFill>
            <a:prstDash val="solid"/>
          </a:ln>
        </p:spPr>
      </p:sp>
      <p:sp>
        <p:nvSpPr>
          <p:cNvPr id="31" name="Text 29"/>
          <p:cNvSpPr txBox="1"/>
          <p:nvPr/>
        </p:nvSpPr>
        <p:spPr>
          <a:xfrm>
            <a:off x="4495800" y="20193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4</a:t>
            </a:r>
            <a:endParaRPr lang="en-US" sz="1350" dirty="0"/>
          </a:p>
        </p:txBody>
      </p:sp>
      <p:sp>
        <p:nvSpPr>
          <p:cNvPr id="32" name="Text 30"/>
          <p:cNvSpPr txBox="1"/>
          <p:nvPr/>
        </p:nvSpPr>
        <p:spPr>
          <a:xfrm>
            <a:off x="5003800" y="1981200"/>
            <a:ext cx="26670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No internet</a:t>
            </a:r>
            <a:endParaRPr lang="en-US" sz="1350" dirty="0"/>
          </a:p>
        </p:txBody>
      </p:sp>
      <p:sp>
        <p:nvSpPr>
          <p:cNvPr id="33" name="Text 31"/>
          <p:cNvSpPr txBox="1"/>
          <p:nvPr/>
        </p:nvSpPr>
        <p:spPr>
          <a:xfrm>
            <a:off x="5003800" y="2235200"/>
            <a:ext cx="26670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try / catch · Retry</a:t>
            </a:r>
            <a:endParaRPr lang="en-US" sz="1050" dirty="0"/>
          </a:p>
        </p:txBody>
      </p:sp>
      <p:sp>
        <p:nvSpPr>
          <p:cNvPr id="34" name="Shape 32"/>
          <p:cNvSpPr/>
          <p:nvPr/>
        </p:nvSpPr>
        <p:spPr>
          <a:xfrm>
            <a:off x="4368800" y="2616200"/>
            <a:ext cx="3403600" cy="609600"/>
          </a:xfrm>
          <a:prstGeom prst="roundRect">
            <a:avLst>
              <a:gd name="adj" fmla="val 27000"/>
            </a:avLst>
          </a:prstGeom>
          <a:solidFill>
            <a:srgbClr val="FFFFFF"/>
          </a:solidFill>
          <a:ln w="12700">
            <a:solidFill>
              <a:srgbClr val="E1E7F0"/>
            </a:solidFill>
            <a:prstDash val="solid"/>
          </a:ln>
        </p:spPr>
      </p:sp>
      <p:sp>
        <p:nvSpPr>
          <p:cNvPr id="35" name="Shape 33"/>
          <p:cNvSpPr/>
          <p:nvPr/>
        </p:nvSpPr>
        <p:spPr>
          <a:xfrm>
            <a:off x="4495800" y="2730500"/>
            <a:ext cx="381000" cy="381000"/>
          </a:xfrm>
          <a:prstGeom prst="roundRect">
            <a:avLst>
              <a:gd name="adj" fmla="val 48000"/>
            </a:avLst>
          </a:prstGeom>
          <a:solidFill>
            <a:srgbClr val="0468D7"/>
          </a:solidFill>
          <a:ln w="12700">
            <a:solidFill>
              <a:srgbClr val="0468D7"/>
            </a:solidFill>
            <a:prstDash val="solid"/>
          </a:ln>
        </p:spPr>
      </p:sp>
      <p:sp>
        <p:nvSpPr>
          <p:cNvPr id="36" name="Text 34"/>
          <p:cNvSpPr txBox="1"/>
          <p:nvPr/>
        </p:nvSpPr>
        <p:spPr>
          <a:xfrm>
            <a:off x="4495800" y="27305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5</a:t>
            </a:r>
            <a:endParaRPr lang="en-US" sz="1350" dirty="0"/>
          </a:p>
        </p:txBody>
      </p:sp>
      <p:sp>
        <p:nvSpPr>
          <p:cNvPr id="37" name="Text 35"/>
          <p:cNvSpPr txBox="1"/>
          <p:nvPr/>
        </p:nvSpPr>
        <p:spPr>
          <a:xfrm>
            <a:off x="5003800" y="2692400"/>
            <a:ext cx="26670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A real weather card</a:t>
            </a:r>
            <a:endParaRPr lang="en-US" sz="1350" dirty="0"/>
          </a:p>
        </p:txBody>
      </p:sp>
      <p:sp>
        <p:nvSpPr>
          <p:cNvPr id="38" name="Text 36"/>
          <p:cNvSpPr txBox="1"/>
          <p:nvPr/>
        </p:nvSpPr>
        <p:spPr>
          <a:xfrm>
            <a:off x="5003800" y="2946400"/>
            <a:ext cx="26670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pull to refresh</a:t>
            </a:r>
            <a:endParaRPr lang="en-US" sz="1050" dirty="0"/>
          </a:p>
        </p:txBody>
      </p:sp>
      <p:sp>
        <p:nvSpPr>
          <p:cNvPr id="39" name="Shape 37"/>
          <p:cNvSpPr/>
          <p:nvPr/>
        </p:nvSpPr>
        <p:spPr>
          <a:xfrm>
            <a:off x="4368800" y="3327400"/>
            <a:ext cx="3403600" cy="609600"/>
          </a:xfrm>
          <a:prstGeom prst="roundRect">
            <a:avLst>
              <a:gd name="adj" fmla="val 27000"/>
            </a:avLst>
          </a:prstGeom>
          <a:solidFill>
            <a:srgbClr val="FFFFFF"/>
          </a:solidFill>
          <a:ln w="12700">
            <a:solidFill>
              <a:srgbClr val="E1E7F0"/>
            </a:solidFill>
            <a:prstDash val="solid"/>
          </a:ln>
        </p:spPr>
      </p:sp>
      <p:sp>
        <p:nvSpPr>
          <p:cNvPr id="40" name="Shape 38"/>
          <p:cNvSpPr/>
          <p:nvPr/>
        </p:nvSpPr>
        <p:spPr>
          <a:xfrm>
            <a:off x="4495800" y="3441700"/>
            <a:ext cx="381000" cy="381000"/>
          </a:xfrm>
          <a:prstGeom prst="roundRect">
            <a:avLst>
              <a:gd name="adj" fmla="val 48000"/>
            </a:avLst>
          </a:prstGeom>
          <a:solidFill>
            <a:srgbClr val="5B3FD6"/>
          </a:solidFill>
          <a:ln w="12700">
            <a:solidFill>
              <a:srgbClr val="5B3FD6"/>
            </a:solidFill>
            <a:prstDash val="solid"/>
          </a:ln>
        </p:spPr>
      </p:sp>
      <p:sp>
        <p:nvSpPr>
          <p:cNvPr id="41" name="Text 39"/>
          <p:cNvSpPr txBox="1"/>
          <p:nvPr/>
        </p:nvSpPr>
        <p:spPr>
          <a:xfrm>
            <a:off x="4495800" y="34417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6</a:t>
            </a:r>
            <a:endParaRPr lang="en-US" sz="1350" dirty="0"/>
          </a:p>
        </p:txBody>
      </p:sp>
      <p:sp>
        <p:nvSpPr>
          <p:cNvPr id="42" name="Text 40"/>
          <p:cNvSpPr txBox="1"/>
          <p:nvPr/>
        </p:nvSpPr>
        <p:spPr>
          <a:xfrm>
            <a:off x="5003800" y="3403600"/>
            <a:ext cx="26670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Four cities</a:t>
            </a:r>
            <a:endParaRPr lang="en-US" sz="1350" dirty="0"/>
          </a:p>
        </p:txBody>
      </p:sp>
      <p:sp>
        <p:nvSpPr>
          <p:cNvPr id="43" name="Text 41"/>
          <p:cNvSpPr txBox="1"/>
          <p:nvPr/>
        </p:nvSpPr>
        <p:spPr>
          <a:xfrm>
            <a:off x="5003800" y="3657600"/>
            <a:ext cx="26670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Kigali · Huye · Musanze · Rubavu</a:t>
            </a:r>
            <a:endParaRPr lang="en-US" sz="1050" dirty="0"/>
          </a:p>
        </p:txBody>
      </p:sp>
      <p:sp>
        <p:nvSpPr>
          <p:cNvPr id="44" name="Shape 42"/>
          <p:cNvSpPr/>
          <p:nvPr/>
        </p:nvSpPr>
        <p:spPr>
          <a:xfrm>
            <a:off x="4368800" y="4038600"/>
            <a:ext cx="3403600" cy="609600"/>
          </a:xfrm>
          <a:prstGeom prst="roundRect">
            <a:avLst>
              <a:gd name="adj" fmla="val 27000"/>
            </a:avLst>
          </a:prstGeom>
          <a:solidFill>
            <a:srgbClr val="FFFFFF"/>
          </a:solidFill>
          <a:ln w="12700">
            <a:solidFill>
              <a:srgbClr val="E1E7F0"/>
            </a:solidFill>
            <a:prstDash val="solid"/>
          </a:ln>
        </p:spPr>
      </p:sp>
      <p:sp>
        <p:nvSpPr>
          <p:cNvPr id="45" name="Shape 43"/>
          <p:cNvSpPr/>
          <p:nvPr/>
        </p:nvSpPr>
        <p:spPr>
          <a:xfrm>
            <a:off x="4495800" y="4152900"/>
            <a:ext cx="381000" cy="381000"/>
          </a:xfrm>
          <a:prstGeom prst="roundRect">
            <a:avLst>
              <a:gd name="adj" fmla="val 48000"/>
            </a:avLst>
          </a:prstGeom>
          <a:solidFill>
            <a:srgbClr val="5B3FD6"/>
          </a:solidFill>
          <a:ln w="12700">
            <a:solidFill>
              <a:srgbClr val="5B3FD6"/>
            </a:solidFill>
            <a:prstDash val="solid"/>
          </a:ln>
        </p:spPr>
      </p:sp>
      <p:sp>
        <p:nvSpPr>
          <p:cNvPr id="46" name="Text 44"/>
          <p:cNvSpPr txBox="1"/>
          <p:nvPr/>
        </p:nvSpPr>
        <p:spPr>
          <a:xfrm>
            <a:off x="4495800" y="41529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7</a:t>
            </a:r>
            <a:endParaRPr lang="en-US" sz="1350" dirty="0"/>
          </a:p>
        </p:txBody>
      </p:sp>
      <p:sp>
        <p:nvSpPr>
          <p:cNvPr id="47" name="Text 45"/>
          <p:cNvSpPr txBox="1"/>
          <p:nvPr/>
        </p:nvSpPr>
        <p:spPr>
          <a:xfrm>
            <a:off x="5003800" y="4114800"/>
            <a:ext cx="26670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Remember the city</a:t>
            </a:r>
            <a:endParaRPr lang="en-US" sz="1350" dirty="0"/>
          </a:p>
        </p:txBody>
      </p:sp>
      <p:sp>
        <p:nvSpPr>
          <p:cNvPr id="48" name="Text 46"/>
          <p:cNvSpPr txBox="1"/>
          <p:nvPr/>
        </p:nvSpPr>
        <p:spPr>
          <a:xfrm>
            <a:off x="5003800" y="4368800"/>
            <a:ext cx="26670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shared_preferences</a:t>
            </a:r>
            <a:endParaRPr lang="en-US" sz="1050" dirty="0"/>
          </a:p>
        </p:txBody>
      </p:sp>
      <p:sp>
        <p:nvSpPr>
          <p:cNvPr id="49" name="Shape 47"/>
          <p:cNvSpPr/>
          <p:nvPr/>
        </p:nvSpPr>
        <p:spPr>
          <a:xfrm>
            <a:off x="4368800" y="4749800"/>
            <a:ext cx="3403600" cy="609600"/>
          </a:xfrm>
          <a:prstGeom prst="roundRect">
            <a:avLst>
              <a:gd name="adj" fmla="val 27000"/>
            </a:avLst>
          </a:prstGeom>
          <a:solidFill>
            <a:srgbClr val="FFFFFF"/>
          </a:solidFill>
          <a:ln w="12700">
            <a:solidFill>
              <a:srgbClr val="E1E7F0"/>
            </a:solidFill>
            <a:prstDash val="solid"/>
          </a:ln>
        </p:spPr>
      </p:sp>
      <p:sp>
        <p:nvSpPr>
          <p:cNvPr id="50" name="Shape 48"/>
          <p:cNvSpPr/>
          <p:nvPr/>
        </p:nvSpPr>
        <p:spPr>
          <a:xfrm>
            <a:off x="4495800" y="4864100"/>
            <a:ext cx="381000" cy="381000"/>
          </a:xfrm>
          <a:prstGeom prst="roundRect">
            <a:avLst>
              <a:gd name="adj" fmla="val 48000"/>
            </a:avLst>
          </a:prstGeom>
          <a:solidFill>
            <a:srgbClr val="5B3FD6"/>
          </a:solidFill>
          <a:ln w="12700">
            <a:solidFill>
              <a:srgbClr val="5B3FD6"/>
            </a:solidFill>
            <a:prstDash val="solid"/>
          </a:ln>
        </p:spPr>
      </p:sp>
      <p:sp>
        <p:nvSpPr>
          <p:cNvPr id="51" name="Text 49"/>
          <p:cNvSpPr txBox="1"/>
          <p:nvPr/>
        </p:nvSpPr>
        <p:spPr>
          <a:xfrm>
            <a:off x="4495800" y="48641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8</a:t>
            </a:r>
            <a:endParaRPr lang="en-US" sz="1350" dirty="0"/>
          </a:p>
        </p:txBody>
      </p:sp>
      <p:sp>
        <p:nvSpPr>
          <p:cNvPr id="52" name="Text 50"/>
          <p:cNvSpPr txBox="1"/>
          <p:nvPr/>
        </p:nvSpPr>
        <p:spPr>
          <a:xfrm>
            <a:off x="5003800" y="4826000"/>
            <a:ext cx="26670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Offline, not empty</a:t>
            </a:r>
            <a:endParaRPr lang="en-US" sz="1350" dirty="0"/>
          </a:p>
        </p:txBody>
      </p:sp>
      <p:sp>
        <p:nvSpPr>
          <p:cNvPr id="53" name="Text 51"/>
          <p:cNvSpPr txBox="1"/>
          <p:nvPr/>
        </p:nvSpPr>
        <p:spPr>
          <a:xfrm>
            <a:off x="5003800" y="5080000"/>
            <a:ext cx="26670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toJson · last saved weather</a:t>
            </a:r>
            <a:endParaRPr lang="en-US" sz="1050" dirty="0"/>
          </a:p>
        </p:txBody>
      </p:sp>
      <p:sp>
        <p:nvSpPr>
          <p:cNvPr id="54" name="Shape 52"/>
          <p:cNvSpPr/>
          <p:nvPr/>
        </p:nvSpPr>
        <p:spPr>
          <a:xfrm>
            <a:off x="8128000" y="1905000"/>
            <a:ext cx="3251200" cy="3454400"/>
          </a:xfrm>
          <a:prstGeom prst="roundRect">
            <a:avLst>
              <a:gd name="adj" fmla="val 5063"/>
            </a:avLst>
          </a:prstGeom>
          <a:solidFill>
            <a:srgbClr val="0E1220"/>
          </a:solidFill>
          <a:ln w="12700">
            <a:solidFill>
              <a:srgbClr val="0E1220"/>
            </a:solidFill>
            <a:prstDash val="solid"/>
          </a:ln>
          <a:effectLst>
            <a:outerShdw sx="100000" sy="100000" kx="0" ky="0" algn="bl" rotWithShape="0" blurRad="330200" dist="76200" dir="5400000">
              <a:srgbClr val="0468D7">
                <a:alpha val="40000"/>
              </a:srgbClr>
            </a:outerShdw>
          </a:effectLst>
        </p:spPr>
      </p:sp>
      <p:sp>
        <p:nvSpPr>
          <p:cNvPr id="55" name="Text 53"/>
          <p:cNvSpPr txBox="1"/>
          <p:nvPr/>
        </p:nvSpPr>
        <p:spPr>
          <a:xfrm>
            <a:off x="8382000" y="2133600"/>
            <a:ext cx="2794000" cy="215900"/>
          </a:xfrm>
          <a:prstGeom prst="rect">
            <a:avLst/>
          </a:prstGeom>
          <a:noFill/>
          <a:ln/>
        </p:spPr>
        <p:txBody>
          <a:bodyPr wrap="square" lIns="0" tIns="0" rIns="0" bIns="0" rtlCol="0" anchor="t"/>
          <a:lstStyle/>
          <a:p>
            <a:pPr indent="0" marL="0">
              <a:buNone/>
            </a:pPr>
            <a:r>
              <a:rPr lang="en-US" sz="1100" b="1" spc="300" kern="0" dirty="0">
                <a:solidFill>
                  <a:srgbClr val="54C5F8"/>
                </a:solidFill>
                <a:latin typeface="Arial" pitchFamily="34" charset="0"/>
                <a:ea typeface="Arial" pitchFamily="34" charset="-122"/>
                <a:cs typeface="Arial" pitchFamily="34" charset="-120"/>
              </a:rPr>
              <a:t>PART 2 · ASSIGNMENT</a:t>
            </a:r>
            <a:endParaRPr lang="en-US" sz="1100" dirty="0"/>
          </a:p>
        </p:txBody>
      </p:sp>
      <p:sp>
        <p:nvSpPr>
          <p:cNvPr id="56" name="Text 54"/>
          <p:cNvSpPr txBox="1"/>
          <p:nvPr/>
        </p:nvSpPr>
        <p:spPr>
          <a:xfrm>
            <a:off x="8382000" y="2413000"/>
            <a:ext cx="2794000" cy="635000"/>
          </a:xfrm>
          <a:prstGeom prst="rect">
            <a:avLst/>
          </a:prstGeom>
          <a:noFill/>
          <a:ln/>
        </p:spPr>
        <p:txBody>
          <a:bodyPr wrap="square" lIns="0" tIns="0" rIns="0" bIns="0" rtlCol="0" anchor="t"/>
          <a:lstStyle/>
          <a:p>
            <a:pPr indent="0" marL="0">
              <a:buNone/>
            </a:pPr>
            <a:r>
              <a:rPr lang="en-US" sz="1800" b="1" dirty="0">
                <a:solidFill>
                  <a:srgbClr val="F4F7FB"/>
                </a:solidFill>
                <a:latin typeface="Arial" pitchFamily="34" charset="0"/>
                <a:ea typeface="Arial" pitchFamily="34" charset="-122"/>
                <a:cs typeface="Arial" pitchFamily="34" charset="-120"/>
              </a:rPr>
              <a:t>Save your mini project</a:t>
            </a:r>
            <a:endParaRPr lang="en-US" sz="1800" dirty="0"/>
          </a:p>
        </p:txBody>
      </p:sp>
      <p:sp>
        <p:nvSpPr>
          <p:cNvPr id="57" name="Text 55"/>
          <p:cNvSpPr txBox="1"/>
          <p:nvPr/>
        </p:nvSpPr>
        <p:spPr>
          <a:xfrm>
            <a:off x="8382000" y="3111500"/>
            <a:ext cx="2794000" cy="1333500"/>
          </a:xfrm>
          <a:prstGeom prst="rect">
            <a:avLst/>
          </a:prstGeom>
          <a:noFill/>
          <a:ln/>
        </p:spPr>
        <p:txBody>
          <a:bodyPr wrap="square" lIns="0" tIns="0" rIns="0" bIns="0" rtlCol="0" anchor="t"/>
          <a:lstStyle/>
          <a:p>
            <a:pPr indent="0" marL="0">
              <a:lnSpc>
                <a:spcPct val="120000"/>
              </a:lnSpc>
              <a:buNone/>
            </a:pPr>
            <a:r>
              <a:rPr lang="en-US" sz="1250" dirty="0">
                <a:solidFill>
                  <a:srgbClr val="B8C4D9"/>
                </a:solidFill>
                <a:latin typeface="Arial" pitchFamily="34" charset="0"/>
                <a:ea typeface="Arial" pitchFamily="34" charset="-122"/>
                <a:cs typeface="Arial" pitchFamily="34" charset="-120"/>
              </a:rPr>
              <a:t>MoMo transactions, votes, courses, the battery plan, bookings: they all survive when the app closes. Same pattern as step 8, for a whole list.</a:t>
            </a:r>
            <a:endParaRPr lang="en-US" sz="1250" dirty="0"/>
          </a:p>
        </p:txBody>
      </p:sp>
      <p:sp>
        <p:nvSpPr>
          <p:cNvPr id="58" name="Text 56"/>
          <p:cNvSpPr txBox="1"/>
          <p:nvPr/>
        </p:nvSpPr>
        <p:spPr>
          <a:xfrm>
            <a:off x="8382000" y="4445000"/>
            <a:ext cx="2794000" cy="762000"/>
          </a:xfrm>
          <a:prstGeom prst="rect">
            <a:avLst/>
          </a:prstGeom>
          <a:noFill/>
          <a:ln/>
        </p:spPr>
        <p:txBody>
          <a:bodyPr wrap="square" lIns="0" tIns="0" rIns="0" bIns="0" rtlCol="0" anchor="t"/>
          <a:lstStyle/>
          <a:p>
            <a:pPr indent="0" marL="0">
              <a:lnSpc>
                <a:spcPct val="120000"/>
              </a:lnSpc>
              <a:buNone/>
            </a:pPr>
            <a:r>
              <a:rPr lang="en-US" sz="1250" b="1" dirty="0">
                <a:solidFill>
                  <a:srgbClr val="F4F7FB"/>
                </a:solidFill>
                <a:latin typeface="Arial" pitchFamily="34" charset="0"/>
                <a:ea typeface="Arial" pitchFamily="34" charset="-122"/>
                <a:cs typeface="Arial" pitchFamily="34" charset="-120"/>
              </a:rPr>
              <a:t>Steps 6–8 and Part 2 due: Group A Tuesday 5 PM, Group B Wednesday 5 PM.</a:t>
            </a:r>
            <a:endParaRPr lang="en-US" sz="1250" dirty="0"/>
          </a:p>
        </p:txBody>
      </p:sp>
      <p:sp>
        <p:nvSpPr>
          <p:cNvPr id="59" name="Shape 57"/>
          <p:cNvSpPr/>
          <p:nvPr/>
        </p:nvSpPr>
        <p:spPr>
          <a:xfrm>
            <a:off x="812800" y="5524500"/>
            <a:ext cx="1524000" cy="304800"/>
          </a:xfrm>
          <a:prstGeom prst="roundRect">
            <a:avLst>
              <a:gd name="adj" fmla="val 66000"/>
            </a:avLst>
          </a:prstGeom>
          <a:solidFill>
            <a:srgbClr val="0468D7"/>
          </a:solidFill>
          <a:ln w="12700">
            <a:solidFill>
              <a:srgbClr val="0468D7"/>
            </a:solidFill>
            <a:prstDash val="solid"/>
          </a:ln>
        </p:spPr>
      </p:sp>
      <p:sp>
        <p:nvSpPr>
          <p:cNvPr id="60" name="Text 58"/>
          <p:cNvSpPr txBox="1"/>
          <p:nvPr/>
        </p:nvSpPr>
        <p:spPr>
          <a:xfrm>
            <a:off x="812800" y="5524500"/>
            <a:ext cx="1524000" cy="304800"/>
          </a:xfrm>
          <a:prstGeom prst="rect">
            <a:avLst/>
          </a:prstGeom>
          <a:noFill/>
          <a:ln/>
        </p:spPr>
        <p:txBody>
          <a:bodyPr wrap="square" lIns="0" tIns="0" rIns="0" bIns="0" rtlCol="0" anchor="ctr"/>
          <a:lstStyle/>
          <a:p>
            <a:pPr algn="ctr" indent="0" marL="0">
              <a:buNone/>
            </a:pPr>
            <a:r>
              <a:rPr lang="en-US" sz="1100" b="1" dirty="0">
                <a:solidFill>
                  <a:srgbClr val="F4F7FB"/>
                </a:solidFill>
                <a:latin typeface="Arial" pitchFamily="34" charset="0"/>
                <a:ea typeface="Arial" pitchFamily="34" charset="-122"/>
                <a:cs typeface="Arial" pitchFamily="34" charset="-120"/>
              </a:rPr>
              <a:t>In class</a:t>
            </a:r>
            <a:endParaRPr lang="en-US" sz="1100" dirty="0"/>
          </a:p>
        </p:txBody>
      </p:sp>
      <p:sp>
        <p:nvSpPr>
          <p:cNvPr id="61" name="Shape 59"/>
          <p:cNvSpPr/>
          <p:nvPr/>
        </p:nvSpPr>
        <p:spPr>
          <a:xfrm>
            <a:off x="2463800" y="5524500"/>
            <a:ext cx="1524000" cy="304800"/>
          </a:xfrm>
          <a:prstGeom prst="roundRect">
            <a:avLst>
              <a:gd name="adj" fmla="val 66000"/>
            </a:avLst>
          </a:prstGeom>
          <a:solidFill>
            <a:srgbClr val="5B3FD6"/>
          </a:solidFill>
          <a:ln w="12700">
            <a:solidFill>
              <a:srgbClr val="5B3FD6"/>
            </a:solidFill>
            <a:prstDash val="solid"/>
          </a:ln>
        </p:spPr>
      </p:sp>
      <p:sp>
        <p:nvSpPr>
          <p:cNvPr id="62" name="Text 60"/>
          <p:cNvSpPr txBox="1"/>
          <p:nvPr/>
        </p:nvSpPr>
        <p:spPr>
          <a:xfrm>
            <a:off x="2463800" y="5524500"/>
            <a:ext cx="1524000" cy="304800"/>
          </a:xfrm>
          <a:prstGeom prst="rect">
            <a:avLst/>
          </a:prstGeom>
          <a:noFill/>
          <a:ln/>
        </p:spPr>
        <p:txBody>
          <a:bodyPr wrap="square" lIns="0" tIns="0" rIns="0" bIns="0" rtlCol="0" anchor="ctr"/>
          <a:lstStyle/>
          <a:p>
            <a:pPr algn="ctr" indent="0" marL="0">
              <a:buNone/>
            </a:pPr>
            <a:r>
              <a:rPr lang="en-US" sz="1100" b="1" dirty="0">
                <a:solidFill>
                  <a:srgbClr val="F4F7FB"/>
                </a:solidFill>
                <a:latin typeface="Arial" pitchFamily="34" charset="0"/>
                <a:ea typeface="Arial" pitchFamily="34" charset="-122"/>
                <a:cs typeface="Arial" pitchFamily="34" charset="-120"/>
              </a:rPr>
              <a:t>Assignment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54C5F8"/>
                </a:solidFill>
                <a:latin typeface="Arial" pitchFamily="34" charset="0"/>
                <a:ea typeface="Arial" pitchFamily="34" charset="-122"/>
                <a:cs typeface="Arial" pitchFamily="34" charset="-120"/>
              </a:rPr>
              <a:t>YOUR CAPSTONE</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600" b="1" dirty="0">
                <a:solidFill>
                  <a:srgbClr val="F4F7FB"/>
                </a:solidFill>
                <a:latin typeface="Arial" pitchFamily="34" charset="0"/>
                <a:ea typeface="Arial" pitchFamily="34" charset="-122"/>
                <a:cs typeface="Arial" pitchFamily="34" charset="-120"/>
              </a:rPr>
              <a:t>Build your own full app</a:t>
            </a:r>
            <a:endParaRPr lang="en-US" sz="3600" dirty="0"/>
          </a:p>
        </p:txBody>
      </p:sp>
      <p:sp>
        <p:nvSpPr>
          <p:cNvPr id="4" name="Text 2"/>
          <p:cNvSpPr txBox="1"/>
          <p:nvPr/>
        </p:nvSpPr>
        <p:spPr>
          <a:xfrm>
            <a:off x="812800" y="1841500"/>
            <a:ext cx="10566400" cy="571500"/>
          </a:xfrm>
          <a:prstGeom prst="rect">
            <a:avLst/>
          </a:prstGeom>
          <a:noFill/>
          <a:ln/>
        </p:spPr>
        <p:txBody>
          <a:bodyPr wrap="square" lIns="0" tIns="0" rIns="0" bIns="0" rtlCol="0" anchor="t"/>
          <a:lstStyle/>
          <a:p>
            <a:pPr indent="0" marL="0">
              <a:lnSpc>
                <a:spcPct val="120000"/>
              </a:lnSpc>
              <a:buNone/>
            </a:pPr>
            <a:r>
              <a:rPr lang="en-US" sz="1600" dirty="0">
                <a:solidFill>
                  <a:srgbClr val="B8C4D9"/>
                </a:solidFill>
                <a:latin typeface="Arial" pitchFamily="34" charset="0"/>
                <a:ea typeface="Arial" pitchFamily="34" charset="-122"/>
                <a:cs typeface="Arial" pitchFamily="34" charset="-120"/>
              </a:rPr>
              <a:t>Your own project, with a frontend and a backend: a complete app that real people could use. This is where your grade is.</a:t>
            </a:r>
            <a:endParaRPr lang="en-US" sz="1600" dirty="0"/>
          </a:p>
        </p:txBody>
      </p:sp>
      <p:sp>
        <p:nvSpPr>
          <p:cNvPr id="5" name="Shape 3"/>
          <p:cNvSpPr/>
          <p:nvPr/>
        </p:nvSpPr>
        <p:spPr>
          <a:xfrm>
            <a:off x="812800" y="2667000"/>
            <a:ext cx="2508250" cy="2095500"/>
          </a:xfrm>
          <a:prstGeom prst="roundRect">
            <a:avLst>
              <a:gd name="adj" fmla="val 7855"/>
            </a:avLst>
          </a:prstGeom>
          <a:solidFill>
            <a:srgbClr val="FFFFFF">
              <a:alpha val="6000"/>
            </a:srgbClr>
          </a:solidFill>
          <a:ln w="12700">
            <a:solidFill>
              <a:srgbClr val="FFFFFF">
                <a:alpha val="15000"/>
              </a:srgbClr>
            </a:solidFill>
            <a:prstDash val="solid"/>
          </a:ln>
        </p:spPr>
      </p:sp>
      <p:pic>
        <p:nvPicPr>
          <p:cNvPr id="6" name="Image 0" descr="preencoded.png">    </p:cNvPr>
          <p:cNvPicPr>
            <a:picLocks noChangeAspect="1"/>
          </p:cNvPicPr>
          <p:nvPr/>
        </p:nvPicPr>
        <p:blipFill>
          <a:blip r:embed="rId2"/>
          <a:stretch>
            <a:fillRect/>
          </a:stretch>
        </p:blipFill>
        <p:spPr>
          <a:xfrm>
            <a:off x="1016000" y="2870200"/>
            <a:ext cx="508000" cy="508000"/>
          </a:xfrm>
          <a:prstGeom prst="rect">
            <a:avLst/>
          </a:prstGeom>
        </p:spPr>
      </p:pic>
      <p:sp>
        <p:nvSpPr>
          <p:cNvPr id="7" name="Text 4"/>
          <p:cNvSpPr txBox="1"/>
          <p:nvPr/>
        </p:nvSpPr>
        <p:spPr>
          <a:xfrm>
            <a:off x="1016000" y="3505200"/>
            <a:ext cx="2095500" cy="292100"/>
          </a:xfrm>
          <a:prstGeom prst="rect">
            <a:avLst/>
          </a:prstGeom>
          <a:noFill/>
          <a:ln/>
        </p:spPr>
        <p:txBody>
          <a:bodyPr wrap="square" lIns="0" tIns="0" rIns="0" bIns="0" rtlCol="0" anchor="t"/>
          <a:lstStyle/>
          <a:p>
            <a:pPr indent="0" marL="0">
              <a:buNone/>
            </a:pPr>
            <a:r>
              <a:rPr lang="en-US" sz="1550" b="1" dirty="0">
                <a:solidFill>
                  <a:srgbClr val="F4F7FB"/>
                </a:solidFill>
                <a:latin typeface="Arial" pitchFamily="34" charset="0"/>
                <a:ea typeface="Arial" pitchFamily="34" charset="-122"/>
                <a:cs typeface="Arial" pitchFamily="34" charset="-120"/>
              </a:rPr>
              <a:t>Accounts</a:t>
            </a:r>
            <a:endParaRPr lang="en-US" sz="1550" dirty="0"/>
          </a:p>
        </p:txBody>
      </p:sp>
      <p:sp>
        <p:nvSpPr>
          <p:cNvPr id="8" name="Text 5"/>
          <p:cNvSpPr txBox="1"/>
          <p:nvPr/>
        </p:nvSpPr>
        <p:spPr>
          <a:xfrm>
            <a:off x="1016000" y="3822700"/>
            <a:ext cx="2095500" cy="825500"/>
          </a:xfrm>
          <a:prstGeom prst="rect">
            <a:avLst/>
          </a:prstGeom>
          <a:noFill/>
          <a:ln/>
        </p:spPr>
        <p:txBody>
          <a:bodyPr wrap="square" lIns="0" tIns="0" rIns="0" bIns="0" rtlCol="0" anchor="t"/>
          <a:lstStyle/>
          <a:p>
            <a:pPr indent="0" marL="0">
              <a:lnSpc>
                <a:spcPct val="115000"/>
              </a:lnSpc>
              <a:buNone/>
            </a:pPr>
            <a:r>
              <a:rPr lang="en-US" sz="1200" dirty="0">
                <a:solidFill>
                  <a:srgbClr val="B8C4D9"/>
                </a:solidFill>
                <a:latin typeface="Arial" pitchFamily="34" charset="0"/>
                <a:ea typeface="Arial" pitchFamily="34" charset="-122"/>
                <a:cs typeface="Arial" pitchFamily="34" charset="-120"/>
              </a:rPr>
              <a:t>Sign up, log in, log out</a:t>
            </a:r>
            <a:endParaRPr lang="en-US" sz="1200" dirty="0"/>
          </a:p>
        </p:txBody>
      </p:sp>
      <p:sp>
        <p:nvSpPr>
          <p:cNvPr id="9" name="Shape 6"/>
          <p:cNvSpPr/>
          <p:nvPr/>
        </p:nvSpPr>
        <p:spPr>
          <a:xfrm>
            <a:off x="3498850" y="2667000"/>
            <a:ext cx="2508250" cy="2095500"/>
          </a:xfrm>
          <a:prstGeom prst="roundRect">
            <a:avLst>
              <a:gd name="adj" fmla="val 7855"/>
            </a:avLst>
          </a:prstGeom>
          <a:solidFill>
            <a:srgbClr val="FFFFFF">
              <a:alpha val="6000"/>
            </a:srgbClr>
          </a:solidFill>
          <a:ln w="12700">
            <a:solidFill>
              <a:srgbClr val="FFFFFF">
                <a:alpha val="15000"/>
              </a:srgbClr>
            </a:solidFill>
            <a:prstDash val="solid"/>
          </a:ln>
        </p:spPr>
      </p:sp>
      <p:pic>
        <p:nvPicPr>
          <p:cNvPr id="10" name="Image 1" descr="preencoded.png">    </p:cNvPr>
          <p:cNvPicPr>
            <a:picLocks noChangeAspect="1"/>
          </p:cNvPicPr>
          <p:nvPr/>
        </p:nvPicPr>
        <p:blipFill>
          <a:blip r:embed="rId3"/>
          <a:stretch>
            <a:fillRect/>
          </a:stretch>
        </p:blipFill>
        <p:spPr>
          <a:xfrm>
            <a:off x="3702050" y="2870200"/>
            <a:ext cx="508000" cy="508000"/>
          </a:xfrm>
          <a:prstGeom prst="rect">
            <a:avLst/>
          </a:prstGeom>
        </p:spPr>
      </p:pic>
      <p:sp>
        <p:nvSpPr>
          <p:cNvPr id="11" name="Text 7"/>
          <p:cNvSpPr txBox="1"/>
          <p:nvPr/>
        </p:nvSpPr>
        <p:spPr>
          <a:xfrm>
            <a:off x="3702050" y="3505200"/>
            <a:ext cx="2095500" cy="292100"/>
          </a:xfrm>
          <a:prstGeom prst="rect">
            <a:avLst/>
          </a:prstGeom>
          <a:noFill/>
          <a:ln/>
        </p:spPr>
        <p:txBody>
          <a:bodyPr wrap="square" lIns="0" tIns="0" rIns="0" bIns="0" rtlCol="0" anchor="t"/>
          <a:lstStyle/>
          <a:p>
            <a:pPr indent="0" marL="0">
              <a:buNone/>
            </a:pPr>
            <a:r>
              <a:rPr lang="en-US" sz="1550" b="1" dirty="0">
                <a:solidFill>
                  <a:srgbClr val="F4F7FB"/>
                </a:solidFill>
                <a:latin typeface="Arial" pitchFamily="34" charset="0"/>
                <a:ea typeface="Arial" pitchFamily="34" charset="-122"/>
                <a:cs typeface="Arial" pitchFamily="34" charset="-120"/>
              </a:rPr>
              <a:t>Cloud data</a:t>
            </a:r>
            <a:endParaRPr lang="en-US" sz="1550" dirty="0"/>
          </a:p>
        </p:txBody>
      </p:sp>
      <p:sp>
        <p:nvSpPr>
          <p:cNvPr id="12" name="Text 8"/>
          <p:cNvSpPr txBox="1"/>
          <p:nvPr/>
        </p:nvSpPr>
        <p:spPr>
          <a:xfrm>
            <a:off x="3702050" y="3822700"/>
            <a:ext cx="2095500" cy="825500"/>
          </a:xfrm>
          <a:prstGeom prst="rect">
            <a:avLst/>
          </a:prstGeom>
          <a:noFill/>
          <a:ln/>
        </p:spPr>
        <p:txBody>
          <a:bodyPr wrap="square" lIns="0" tIns="0" rIns="0" bIns="0" rtlCol="0" anchor="t"/>
          <a:lstStyle/>
          <a:p>
            <a:pPr indent="0" marL="0">
              <a:lnSpc>
                <a:spcPct val="115000"/>
              </a:lnSpc>
              <a:buNone/>
            </a:pPr>
            <a:r>
              <a:rPr lang="en-US" sz="1200" dirty="0">
                <a:solidFill>
                  <a:srgbClr val="B8C4D9"/>
                </a:solidFill>
                <a:latin typeface="Arial" pitchFamily="34" charset="0"/>
                <a:ea typeface="Arial" pitchFamily="34" charset="-122"/>
                <a:cs typeface="Arial" pitchFamily="34" charset="-120"/>
              </a:rPr>
              <a:t>Create, read, update, delete, live</a:t>
            </a:r>
            <a:endParaRPr lang="en-US" sz="1200" dirty="0"/>
          </a:p>
        </p:txBody>
      </p:sp>
      <p:sp>
        <p:nvSpPr>
          <p:cNvPr id="13" name="Shape 9"/>
          <p:cNvSpPr/>
          <p:nvPr/>
        </p:nvSpPr>
        <p:spPr>
          <a:xfrm>
            <a:off x="6184900" y="2667000"/>
            <a:ext cx="2508250" cy="2095500"/>
          </a:xfrm>
          <a:prstGeom prst="roundRect">
            <a:avLst>
              <a:gd name="adj" fmla="val 7855"/>
            </a:avLst>
          </a:prstGeom>
          <a:solidFill>
            <a:srgbClr val="FFFFFF">
              <a:alpha val="6000"/>
            </a:srgbClr>
          </a:solidFill>
          <a:ln w="12700">
            <a:solidFill>
              <a:srgbClr val="FFFFFF">
                <a:alpha val="15000"/>
              </a:srgbClr>
            </a:solidFill>
            <a:prstDash val="solid"/>
          </a:ln>
        </p:spPr>
      </p:sp>
      <p:pic>
        <p:nvPicPr>
          <p:cNvPr id="14" name="Image 2" descr="preencoded.png">    </p:cNvPr>
          <p:cNvPicPr>
            <a:picLocks noChangeAspect="1"/>
          </p:cNvPicPr>
          <p:nvPr/>
        </p:nvPicPr>
        <p:blipFill>
          <a:blip r:embed="rId4"/>
          <a:stretch>
            <a:fillRect/>
          </a:stretch>
        </p:blipFill>
        <p:spPr>
          <a:xfrm>
            <a:off x="6388100" y="2870200"/>
            <a:ext cx="508000" cy="508000"/>
          </a:xfrm>
          <a:prstGeom prst="rect">
            <a:avLst/>
          </a:prstGeom>
        </p:spPr>
      </p:pic>
      <p:sp>
        <p:nvSpPr>
          <p:cNvPr id="15" name="Text 10"/>
          <p:cNvSpPr txBox="1"/>
          <p:nvPr/>
        </p:nvSpPr>
        <p:spPr>
          <a:xfrm>
            <a:off x="6388100" y="3505200"/>
            <a:ext cx="2095500" cy="292100"/>
          </a:xfrm>
          <a:prstGeom prst="rect">
            <a:avLst/>
          </a:prstGeom>
          <a:noFill/>
          <a:ln/>
        </p:spPr>
        <p:txBody>
          <a:bodyPr wrap="square" lIns="0" tIns="0" rIns="0" bIns="0" rtlCol="0" anchor="t"/>
          <a:lstStyle/>
          <a:p>
            <a:pPr indent="0" marL="0">
              <a:buNone/>
            </a:pPr>
            <a:r>
              <a:rPr lang="en-US" sz="1550" b="1" dirty="0">
                <a:solidFill>
                  <a:srgbClr val="F4F7FB"/>
                </a:solidFill>
                <a:latin typeface="Arial" pitchFamily="34" charset="0"/>
                <a:ea typeface="Arial" pitchFamily="34" charset="-122"/>
                <a:cs typeface="Arial" pitchFamily="34" charset="-120"/>
              </a:rPr>
              <a:t>Your design</a:t>
            </a:r>
            <a:endParaRPr lang="en-US" sz="1550" dirty="0"/>
          </a:p>
        </p:txBody>
      </p:sp>
      <p:sp>
        <p:nvSpPr>
          <p:cNvPr id="16" name="Text 11"/>
          <p:cNvSpPr txBox="1"/>
          <p:nvPr/>
        </p:nvSpPr>
        <p:spPr>
          <a:xfrm>
            <a:off x="6388100" y="3822700"/>
            <a:ext cx="2095500" cy="825500"/>
          </a:xfrm>
          <a:prstGeom prst="rect">
            <a:avLst/>
          </a:prstGeom>
          <a:noFill/>
          <a:ln/>
        </p:spPr>
        <p:txBody>
          <a:bodyPr wrap="square" lIns="0" tIns="0" rIns="0" bIns="0" rtlCol="0" anchor="t"/>
          <a:lstStyle/>
          <a:p>
            <a:pPr indent="0" marL="0">
              <a:lnSpc>
                <a:spcPct val="115000"/>
              </a:lnSpc>
              <a:buNone/>
            </a:pPr>
            <a:r>
              <a:rPr lang="en-US" sz="1200" dirty="0">
                <a:solidFill>
                  <a:srgbClr val="B8C4D9"/>
                </a:solidFill>
                <a:latin typeface="Arial" pitchFamily="34" charset="0"/>
                <a:ea typeface="Arial" pitchFamily="34" charset="-122"/>
                <a:cs typeface="Arial" pitchFamily="34" charset="-120"/>
              </a:rPr>
              <a:t>Every screen designed in Figma</a:t>
            </a:r>
            <a:endParaRPr lang="en-US" sz="1200" dirty="0"/>
          </a:p>
        </p:txBody>
      </p:sp>
      <p:sp>
        <p:nvSpPr>
          <p:cNvPr id="17" name="Shape 12"/>
          <p:cNvSpPr/>
          <p:nvPr/>
        </p:nvSpPr>
        <p:spPr>
          <a:xfrm>
            <a:off x="8870950" y="2667000"/>
            <a:ext cx="2508250" cy="2095500"/>
          </a:xfrm>
          <a:prstGeom prst="roundRect">
            <a:avLst>
              <a:gd name="adj" fmla="val 7855"/>
            </a:avLst>
          </a:prstGeom>
          <a:solidFill>
            <a:srgbClr val="FFFFFF">
              <a:alpha val="6000"/>
            </a:srgbClr>
          </a:solidFill>
          <a:ln w="12700">
            <a:solidFill>
              <a:srgbClr val="FFFFFF">
                <a:alpha val="15000"/>
              </a:srgbClr>
            </a:solidFill>
            <a:prstDash val="solid"/>
          </a:ln>
        </p:spPr>
      </p:sp>
      <p:pic>
        <p:nvPicPr>
          <p:cNvPr id="18" name="Image 3" descr="preencoded.png">    </p:cNvPr>
          <p:cNvPicPr>
            <a:picLocks noChangeAspect="1"/>
          </p:cNvPicPr>
          <p:nvPr/>
        </p:nvPicPr>
        <p:blipFill>
          <a:blip r:embed="rId5"/>
          <a:stretch>
            <a:fillRect/>
          </a:stretch>
        </p:blipFill>
        <p:spPr>
          <a:xfrm>
            <a:off x="9074150" y="2870200"/>
            <a:ext cx="508000" cy="508000"/>
          </a:xfrm>
          <a:prstGeom prst="rect">
            <a:avLst/>
          </a:prstGeom>
        </p:spPr>
      </p:pic>
      <p:sp>
        <p:nvSpPr>
          <p:cNvPr id="19" name="Text 13"/>
          <p:cNvSpPr txBox="1"/>
          <p:nvPr/>
        </p:nvSpPr>
        <p:spPr>
          <a:xfrm>
            <a:off x="9074150" y="3505200"/>
            <a:ext cx="2095500" cy="292100"/>
          </a:xfrm>
          <a:prstGeom prst="rect">
            <a:avLst/>
          </a:prstGeom>
          <a:noFill/>
          <a:ln/>
        </p:spPr>
        <p:txBody>
          <a:bodyPr wrap="square" lIns="0" tIns="0" rIns="0" bIns="0" rtlCol="0" anchor="t"/>
          <a:lstStyle/>
          <a:p>
            <a:pPr indent="0" marL="0">
              <a:buNone/>
            </a:pPr>
            <a:r>
              <a:rPr lang="en-US" sz="1550" b="1" dirty="0">
                <a:solidFill>
                  <a:srgbClr val="F4F7FB"/>
                </a:solidFill>
                <a:latin typeface="Arial" pitchFamily="34" charset="0"/>
                <a:ea typeface="Arial" pitchFamily="34" charset="-122"/>
                <a:cs typeface="Arial" pitchFamily="34" charset="-120"/>
              </a:rPr>
              <a:t>A real product</a:t>
            </a:r>
            <a:endParaRPr lang="en-US" sz="1550" dirty="0"/>
          </a:p>
        </p:txBody>
      </p:sp>
      <p:sp>
        <p:nvSpPr>
          <p:cNvPr id="20" name="Text 14"/>
          <p:cNvSpPr txBox="1"/>
          <p:nvPr/>
        </p:nvSpPr>
        <p:spPr>
          <a:xfrm>
            <a:off x="9074150" y="3822700"/>
            <a:ext cx="2095500" cy="825500"/>
          </a:xfrm>
          <a:prstGeom prst="rect">
            <a:avLst/>
          </a:prstGeom>
          <a:noFill/>
          <a:ln/>
        </p:spPr>
        <p:txBody>
          <a:bodyPr wrap="square" lIns="0" tIns="0" rIns="0" bIns="0" rtlCol="0" anchor="t"/>
          <a:lstStyle/>
          <a:p>
            <a:pPr indent="0" marL="0">
              <a:lnSpc>
                <a:spcPct val="115000"/>
              </a:lnSpc>
              <a:buNone/>
            </a:pPr>
            <a:r>
              <a:rPr lang="en-US" sz="1200" dirty="0">
                <a:solidFill>
                  <a:srgbClr val="B8C4D9"/>
                </a:solidFill>
                <a:latin typeface="Arial" pitchFamily="34" charset="0"/>
                <a:ea typeface="Arial" pitchFamily="34" charset="-122"/>
                <a:cs typeface="Arial" pitchFamily="34" charset="-120"/>
              </a:rPr>
              <a:t>State management, APK, README with a poster and a YouTube demo</a:t>
            </a:r>
            <a:endParaRPr lang="en-US" sz="1200" dirty="0"/>
          </a:p>
        </p:txBody>
      </p:sp>
      <p:sp>
        <p:nvSpPr>
          <p:cNvPr id="21" name="Shape 15"/>
          <p:cNvSpPr/>
          <p:nvPr/>
        </p:nvSpPr>
        <p:spPr>
          <a:xfrm>
            <a:off x="812800" y="5080000"/>
            <a:ext cx="10566400" cy="762000"/>
          </a:xfrm>
          <a:prstGeom prst="roundRect">
            <a:avLst>
              <a:gd name="adj" fmla="val 18000"/>
            </a:avLst>
          </a:prstGeom>
          <a:solidFill>
            <a:srgbClr val="0468D7"/>
          </a:solidFill>
          <a:ln w="12700">
            <a:solidFill>
              <a:srgbClr val="0468D7"/>
            </a:solidFill>
            <a:prstDash val="solid"/>
          </a:ln>
          <a:effectLst>
            <a:outerShdw sx="100000" sy="100000" kx="0" ky="0" algn="bl" rotWithShape="0" blurRad="330200" dist="76200" dir="5400000">
              <a:srgbClr val="0468D7">
                <a:alpha val="40000"/>
              </a:srgbClr>
            </a:outerShdw>
          </a:effectLst>
        </p:spPr>
      </p:sp>
      <p:sp>
        <p:nvSpPr>
          <p:cNvPr id="22" name="Text 16"/>
          <p:cNvSpPr txBox="1"/>
          <p:nvPr/>
        </p:nvSpPr>
        <p:spPr>
          <a:xfrm>
            <a:off x="1066800" y="5080000"/>
            <a:ext cx="10058400" cy="762000"/>
          </a:xfrm>
          <a:prstGeom prst="rect">
            <a:avLst/>
          </a:prstGeom>
          <a:noFill/>
          <a:ln/>
        </p:spPr>
        <p:txBody>
          <a:bodyPr wrap="square" lIns="0" tIns="0" rIns="0" bIns="0" rtlCol="0" anchor="ctr"/>
          <a:lstStyle/>
          <a:p>
            <a:pPr indent="0" marL="0">
              <a:buNone/>
            </a:pPr>
            <a:r>
              <a:rPr lang="en-US" sz="1350" b="1" dirty="0">
                <a:solidFill>
                  <a:srgbClr val="F4F7FB"/>
                </a:solidFill>
                <a:latin typeface="Arial" pitchFamily="34" charset="0"/>
                <a:ea typeface="Arial" pitchFamily="34" charset="-122"/>
                <a:cs typeface="Arial" pitchFamily="34" charset="-120"/>
              </a:rPr>
              <a:t>Your project is coming:  </a:t>
            </a:r>
            <a:pPr indent="0" marL="0">
              <a:buNone/>
            </a:pPr>
            <a:r>
              <a:rPr lang="en-US" sz="1350" dirty="0">
                <a:solidFill>
                  <a:srgbClr val="E3EEFB"/>
                </a:solidFill>
                <a:latin typeface="Arial" pitchFamily="34" charset="0"/>
                <a:ea typeface="Arial" pitchFamily="34" charset="-122"/>
                <a:cs typeface="Arial" pitchFamily="34" charset="-120"/>
              </a:rPr>
              <a:t>each of you will receive your own project, different from everyone else's, with its requirements explained. Then you design it in Figma and build it, and go beyond as far as you can.</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1905000"/>
            <a:ext cx="10566400" cy="254000"/>
          </a:xfrm>
          <a:prstGeom prst="rect">
            <a:avLst/>
          </a:prstGeom>
          <a:noFill/>
          <a:ln/>
        </p:spPr>
        <p:txBody>
          <a:bodyPr wrap="square" lIns="0" tIns="0" rIns="0" bIns="0" rtlCol="0" anchor="t"/>
          <a:lstStyle/>
          <a:p>
            <a:pPr algn="ctr" indent="0" marL="0">
              <a:buNone/>
            </a:pPr>
            <a:r>
              <a:rPr lang="en-US" sz="1200" b="1" spc="400" kern="0" dirty="0">
                <a:solidFill>
                  <a:srgbClr val="54C5F8"/>
                </a:solidFill>
                <a:latin typeface="Arial" pitchFamily="34" charset="0"/>
                <a:ea typeface="Arial" pitchFamily="34" charset="-122"/>
                <a:cs typeface="Arial" pitchFamily="34" charset="-120"/>
              </a:rPr>
              <a:t>TO YOUR LAPTOPS</a:t>
            </a:r>
            <a:endParaRPr lang="en-US" sz="1200" dirty="0"/>
          </a:p>
        </p:txBody>
      </p:sp>
      <p:sp>
        <p:nvSpPr>
          <p:cNvPr id="3" name="Text 1"/>
          <p:cNvSpPr txBox="1"/>
          <p:nvPr/>
        </p:nvSpPr>
        <p:spPr>
          <a:xfrm>
            <a:off x="1143000" y="2413000"/>
            <a:ext cx="9906000" cy="1905000"/>
          </a:xfrm>
          <a:prstGeom prst="rect">
            <a:avLst/>
          </a:prstGeom>
          <a:noFill/>
          <a:ln/>
        </p:spPr>
        <p:txBody>
          <a:bodyPr wrap="square" lIns="0" tIns="0" rIns="0" bIns="0" rtlCol="0" anchor="t"/>
          <a:lstStyle/>
          <a:p>
            <a:pPr algn="ctr" indent="0" marL="0">
              <a:buNone/>
            </a:pPr>
            <a:r>
              <a:rPr lang="en-US" sz="4200" b="1" dirty="0">
                <a:solidFill>
                  <a:srgbClr val="F4F7FB"/>
                </a:solidFill>
                <a:latin typeface="Arial" pitchFamily="34" charset="0"/>
                <a:ea typeface="Arial" pitchFamily="34" charset="-122"/>
                <a:cs typeface="Arial" pitchFamily="34" charset="-120"/>
              </a:rPr>
              <a:t>Your app is about to talk to the world. </a:t>
            </a:r>
            <a:pPr algn="ctr" indent="0" marL="0">
              <a:buNone/>
            </a:pPr>
            <a:r>
              <a:rPr lang="en-US" sz="4200" b="1" dirty="0">
                <a:solidFill>
                  <a:srgbClr val="54C5F8"/>
                </a:solidFill>
                <a:latin typeface="Arial" pitchFamily="34" charset="0"/>
                <a:ea typeface="Arial" pitchFamily="34" charset="-122"/>
                <a:cs typeface="Arial" pitchFamily="34" charset="-120"/>
              </a:rPr>
              <a:t>Make it wait well, fail well, and remember.</a:t>
            </a:r>
            <a:endParaRPr lang="en-US" sz="4200" dirty="0"/>
          </a:p>
        </p:txBody>
      </p:sp>
      <p:sp>
        <p:nvSpPr>
          <p:cNvPr id="4" name="Text 2"/>
          <p:cNvSpPr txBox="1"/>
          <p:nvPr/>
        </p:nvSpPr>
        <p:spPr>
          <a:xfrm>
            <a:off x="812800" y="4826000"/>
            <a:ext cx="10566400" cy="381000"/>
          </a:xfrm>
          <a:prstGeom prst="rect">
            <a:avLst/>
          </a:prstGeom>
          <a:noFill/>
          <a:ln/>
        </p:spPr>
        <p:txBody>
          <a:bodyPr wrap="square" lIns="0" tIns="0" rIns="0" bIns="0" rtlCol="0" anchor="t"/>
          <a:lstStyle/>
          <a:p>
            <a:pPr algn="ctr" indent="0" marL="0">
              <a:buNone/>
            </a:pPr>
            <a:r>
              <a:rPr lang="en-US" sz="1600" dirty="0">
                <a:solidFill>
                  <a:srgbClr val="B8C4D9"/>
                </a:solidFill>
                <a:latin typeface="Arial" pitchFamily="34" charset="0"/>
                <a:ea typeface="Arial" pitchFamily="34" charset="-122"/>
                <a:cs typeface="Arial" pitchFamily="34" charset="-120"/>
              </a:rPr>
              <a:t>Start now: New Flutter Project → kigali_weather, then press Run while you read step B.</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5 - Data from the internet</dc:title>
  <dc:subject>PptxGenJS Presentation</dc:subject>
  <dc:creator>PptxGenJS</dc:creator>
  <cp:lastModifiedBy>PptxGenJS</cp:lastModifiedBy>
  <cp:revision>1</cp:revision>
  <dcterms:created xsi:type="dcterms:W3CDTF">2026-10-26T15:20:20Z</dcterms:created>
  <dcterms:modified xsi:type="dcterms:W3CDTF">2026-10-26T15:20:20Z</dcterms:modified>
</cp:coreProperties>
</file>